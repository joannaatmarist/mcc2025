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79" r:id="rId2"/>
    <p:sldId id="257" r:id="rId3"/>
    <p:sldId id="258" r:id="rId4"/>
    <p:sldId id="259" r:id="rId5"/>
    <p:sldId id="288" r:id="rId6"/>
    <p:sldId id="273" r:id="rId7"/>
    <p:sldId id="274" r:id="rId8"/>
    <p:sldId id="281" r:id="rId9"/>
    <p:sldId id="262" r:id="rId10"/>
    <p:sldId id="263" r:id="rId11"/>
    <p:sldId id="264" r:id="rId12"/>
    <p:sldId id="287" r:id="rId13"/>
    <p:sldId id="286" r:id="rId14"/>
    <p:sldId id="267" r:id="rId15"/>
    <p:sldId id="268" r:id="rId16"/>
    <p:sldId id="266" r:id="rId17"/>
    <p:sldId id="289" r:id="rId18"/>
    <p:sldId id="284" r:id="rId19"/>
    <p:sldId id="283" r:id="rId20"/>
    <p:sldId id="270" r:id="rId21"/>
    <p:sldId id="272" r:id="rId22"/>
    <p:sldId id="275" r:id="rId23"/>
  </p:sldIdLst>
  <p:sldSz cx="4610100" cy="3460750"/>
  <p:notesSz cx="7023100" cy="93091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B31B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66" autoAdjust="0"/>
  </p:normalViewPr>
  <p:slideViewPr>
    <p:cSldViewPr>
      <p:cViewPr varScale="1">
        <p:scale>
          <a:sx n="149" d="100"/>
          <a:sy n="149" d="100"/>
        </p:scale>
        <p:origin x="2682" y="108"/>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2376" cy="465456"/>
          </a:xfrm>
          <a:prstGeom prst="rect">
            <a:avLst/>
          </a:prstGeom>
        </p:spPr>
        <p:txBody>
          <a:bodyPr vert="horz" lIns="185038" tIns="92519" rIns="185038" bIns="92519" rtlCol="0"/>
          <a:lstStyle>
            <a:lvl1pPr algn="l">
              <a:defRPr sz="2400"/>
            </a:lvl1pPr>
          </a:lstStyle>
          <a:p>
            <a:endParaRPr lang="en-US"/>
          </a:p>
        </p:txBody>
      </p:sp>
      <p:sp>
        <p:nvSpPr>
          <p:cNvPr id="3" name="Date Placeholder 2"/>
          <p:cNvSpPr>
            <a:spLocks noGrp="1"/>
          </p:cNvSpPr>
          <p:nvPr>
            <p:ph type="dt" idx="1"/>
          </p:nvPr>
        </p:nvSpPr>
        <p:spPr>
          <a:xfrm>
            <a:off x="3978307" y="0"/>
            <a:ext cx="3042376" cy="465456"/>
          </a:xfrm>
          <a:prstGeom prst="rect">
            <a:avLst/>
          </a:prstGeom>
        </p:spPr>
        <p:txBody>
          <a:bodyPr vert="horz" lIns="185038" tIns="92519" rIns="185038" bIns="92519" rtlCol="0"/>
          <a:lstStyle>
            <a:lvl1pPr algn="r">
              <a:defRPr sz="2400"/>
            </a:lvl1pPr>
          </a:lstStyle>
          <a:p>
            <a:fld id="{50EF93E7-AAFB-406B-8074-03D356615C08}" type="datetimeFigureOut">
              <a:rPr lang="en-US" smtClean="0"/>
              <a:t>11/6/2025</a:t>
            </a:fld>
            <a:endParaRPr lang="en-US"/>
          </a:p>
        </p:txBody>
      </p:sp>
      <p:sp>
        <p:nvSpPr>
          <p:cNvPr id="4" name="Slide Image Placeholder 3"/>
          <p:cNvSpPr>
            <a:spLocks noGrp="1" noRot="1" noChangeAspect="1"/>
          </p:cNvSpPr>
          <p:nvPr>
            <p:ph type="sldImg" idx="2"/>
          </p:nvPr>
        </p:nvSpPr>
        <p:spPr>
          <a:xfrm>
            <a:off x="1420813" y="1165225"/>
            <a:ext cx="4181475" cy="3140075"/>
          </a:xfrm>
          <a:prstGeom prst="rect">
            <a:avLst/>
          </a:prstGeom>
          <a:noFill/>
          <a:ln w="12700">
            <a:solidFill>
              <a:prstClr val="black"/>
            </a:solidFill>
          </a:ln>
        </p:spPr>
        <p:txBody>
          <a:bodyPr vert="horz" lIns="185038" tIns="92519" rIns="185038" bIns="92519" rtlCol="0" anchor="ctr"/>
          <a:lstStyle/>
          <a:p>
            <a:endParaRPr lang="en-US"/>
          </a:p>
        </p:txBody>
      </p:sp>
      <p:sp>
        <p:nvSpPr>
          <p:cNvPr id="5" name="Notes Placeholder 4"/>
          <p:cNvSpPr>
            <a:spLocks noGrp="1"/>
          </p:cNvSpPr>
          <p:nvPr>
            <p:ph type="body" sz="quarter" idx="3"/>
          </p:nvPr>
        </p:nvSpPr>
        <p:spPr>
          <a:xfrm>
            <a:off x="701343" y="4479471"/>
            <a:ext cx="5620414" cy="3668126"/>
          </a:xfrm>
          <a:prstGeom prst="rect">
            <a:avLst/>
          </a:prstGeom>
        </p:spPr>
        <p:txBody>
          <a:bodyPr vert="horz" lIns="185038" tIns="92519" rIns="185038" bIns="9251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3647"/>
            <a:ext cx="3042376" cy="465454"/>
          </a:xfrm>
          <a:prstGeom prst="rect">
            <a:avLst/>
          </a:prstGeom>
        </p:spPr>
        <p:txBody>
          <a:bodyPr vert="horz" lIns="185038" tIns="92519" rIns="185038" bIns="92519" rtlCol="0" anchor="b"/>
          <a:lstStyle>
            <a:lvl1pPr algn="l">
              <a:defRPr sz="2400"/>
            </a:lvl1pPr>
          </a:lstStyle>
          <a:p>
            <a:endParaRPr lang="en-US"/>
          </a:p>
        </p:txBody>
      </p:sp>
      <p:sp>
        <p:nvSpPr>
          <p:cNvPr id="7" name="Slide Number Placeholder 6"/>
          <p:cNvSpPr>
            <a:spLocks noGrp="1"/>
          </p:cNvSpPr>
          <p:nvPr>
            <p:ph type="sldNum" sz="quarter" idx="5"/>
          </p:nvPr>
        </p:nvSpPr>
        <p:spPr>
          <a:xfrm>
            <a:off x="3978307" y="8843647"/>
            <a:ext cx="3042376" cy="465454"/>
          </a:xfrm>
          <a:prstGeom prst="rect">
            <a:avLst/>
          </a:prstGeom>
        </p:spPr>
        <p:txBody>
          <a:bodyPr vert="horz" lIns="185038" tIns="92519" rIns="185038" bIns="92519" rtlCol="0" anchor="b"/>
          <a:lstStyle>
            <a:lvl1pPr algn="r">
              <a:defRPr sz="2400"/>
            </a:lvl1pPr>
          </a:lstStyle>
          <a:p>
            <a:fld id="{A0283419-370C-452C-9DD2-0779DAF73FC3}" type="slidenum">
              <a:rPr lang="en-US" smtClean="0"/>
              <a:t>‹#›</a:t>
            </a:fld>
            <a:endParaRPr lang="en-US"/>
          </a:p>
        </p:txBody>
      </p:sp>
    </p:spTree>
    <p:extLst>
      <p:ext uri="{BB962C8B-B14F-4D97-AF65-F5344CB8AC3E}">
        <p14:creationId xmlns:p14="http://schemas.microsoft.com/office/powerpoint/2010/main" val="1316828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Today I'm going to talk about using causal inference and machine learning to answer an important question in higher education: Do part-time instructors help or harm first-semester freshmen? This is work conducted at Marist University in collaboration with the retention committee.</a:t>
            </a:r>
          </a:p>
        </p:txBody>
      </p:sp>
      <p:sp>
        <p:nvSpPr>
          <p:cNvPr id="4" name="Slide Number Placeholder 3"/>
          <p:cNvSpPr>
            <a:spLocks noGrp="1"/>
          </p:cNvSpPr>
          <p:nvPr>
            <p:ph type="sldNum" sz="quarter" idx="5"/>
          </p:nvPr>
        </p:nvSpPr>
        <p:spPr/>
        <p:txBody>
          <a:bodyPr/>
          <a:lstStyle/>
          <a:p>
            <a:fld id="{A0283419-370C-452C-9DD2-0779DAF73FC3}" type="slidenum">
              <a:rPr lang="en-US" smtClean="0"/>
              <a:t>1</a:t>
            </a:fld>
            <a:endParaRPr lang="en-US"/>
          </a:p>
        </p:txBody>
      </p:sp>
    </p:spTree>
    <p:extLst>
      <p:ext uri="{BB962C8B-B14F-4D97-AF65-F5344CB8AC3E}">
        <p14:creationId xmlns:p14="http://schemas.microsoft.com/office/powerpoint/2010/main" val="1493747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Part-time faculty now represent about 44% of all faculty in U.S. higher education. There's an ongoing debate about whether this is good or bad for students. We're focusing specifically on first-semester freshmen because early academic experiences are crucial for student persistence. And importantly, most past studies have been correlational—they haven't established causation.</a:t>
            </a:r>
          </a:p>
        </p:txBody>
      </p:sp>
      <p:sp>
        <p:nvSpPr>
          <p:cNvPr id="4" name="Slide Number Placeholder 3"/>
          <p:cNvSpPr>
            <a:spLocks noGrp="1"/>
          </p:cNvSpPr>
          <p:nvPr>
            <p:ph type="sldNum" sz="quarter" idx="5"/>
          </p:nvPr>
        </p:nvSpPr>
        <p:spPr/>
        <p:txBody>
          <a:bodyPr/>
          <a:lstStyle/>
          <a:p>
            <a:fld id="{A0283419-370C-452C-9DD2-0779DAF73FC3}" type="slidenum">
              <a:rPr lang="en-US" smtClean="0"/>
              <a:t>2</a:t>
            </a:fld>
            <a:endParaRPr lang="en-US"/>
          </a:p>
        </p:txBody>
      </p:sp>
    </p:spTree>
    <p:extLst>
      <p:ext uri="{BB962C8B-B14F-4D97-AF65-F5344CB8AC3E}">
        <p14:creationId xmlns:p14="http://schemas.microsoft.com/office/powerpoint/2010/main" val="975196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why we need causal inference. Observational data isn't the same as a randomized experiment. We can't just compare grades between students who had part-time versus full-time instructors—there are confounding factors. Causal inference gives us tools to answer the counterfactual question: What would have happened if the </a:t>
            </a:r>
            <a:r>
              <a:rPr lang="en-US" i="1" dirty="0"/>
              <a:t>same student</a:t>
            </a:r>
            <a:r>
              <a:rPr lang="en-US" dirty="0"/>
              <a:t> had a part-time instead of a full-time instructor? </a:t>
            </a:r>
          </a:p>
        </p:txBody>
      </p:sp>
      <p:sp>
        <p:nvSpPr>
          <p:cNvPr id="4" name="Slide Number Placeholder 3"/>
          <p:cNvSpPr>
            <a:spLocks noGrp="1"/>
          </p:cNvSpPr>
          <p:nvPr>
            <p:ph type="sldNum" sz="quarter" idx="5"/>
          </p:nvPr>
        </p:nvSpPr>
        <p:spPr/>
        <p:txBody>
          <a:bodyPr/>
          <a:lstStyle/>
          <a:p>
            <a:fld id="{A0283419-370C-452C-9DD2-0779DAF73FC3}" type="slidenum">
              <a:rPr lang="en-US" smtClean="0"/>
              <a:t>3</a:t>
            </a:fld>
            <a:endParaRPr lang="en-US"/>
          </a:p>
        </p:txBody>
      </p:sp>
    </p:spTree>
    <p:extLst>
      <p:ext uri="{BB962C8B-B14F-4D97-AF65-F5344CB8AC3E}">
        <p14:creationId xmlns:p14="http://schemas.microsoft.com/office/powerpoint/2010/main" val="3996520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clarify what we mean by counterfactuals. The factual outcome is the student's actual grade with their actual instructor. The counterfactual is what that student's grade would have been with the alternative instructor type. The fundamental problem is we never observe both outcomes for the same student. The solution? We approximate counterfactuals by carefully adjusting for confounding variables.</a:t>
            </a:r>
          </a:p>
        </p:txBody>
      </p:sp>
      <p:sp>
        <p:nvSpPr>
          <p:cNvPr id="4" name="Slide Number Placeholder 3"/>
          <p:cNvSpPr>
            <a:spLocks noGrp="1"/>
          </p:cNvSpPr>
          <p:nvPr>
            <p:ph type="sldNum" sz="quarter" idx="5"/>
          </p:nvPr>
        </p:nvSpPr>
        <p:spPr/>
        <p:txBody>
          <a:bodyPr/>
          <a:lstStyle/>
          <a:p>
            <a:fld id="{A0283419-370C-452C-9DD2-0779DAF73FC3}" type="slidenum">
              <a:rPr lang="en-US" smtClean="0"/>
              <a:t>4</a:t>
            </a:fld>
            <a:endParaRPr lang="en-US"/>
          </a:p>
        </p:txBody>
      </p:sp>
    </p:spTree>
    <p:extLst>
      <p:ext uri="{BB962C8B-B14F-4D97-AF65-F5344CB8AC3E}">
        <p14:creationId xmlns:p14="http://schemas.microsoft.com/office/powerpoint/2010/main" val="3144411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this better, let's use Judea Pearl's causal framework with a simple example. Imagine we observe that ice cream sales are associated with drowning incidents. Should we ban ice cream?</a:t>
            </a:r>
          </a:p>
        </p:txBody>
      </p:sp>
      <p:sp>
        <p:nvSpPr>
          <p:cNvPr id="4" name="Slide Number Placeholder 3"/>
          <p:cNvSpPr>
            <a:spLocks noGrp="1"/>
          </p:cNvSpPr>
          <p:nvPr>
            <p:ph type="sldNum" sz="quarter" idx="5"/>
          </p:nvPr>
        </p:nvSpPr>
        <p:spPr/>
        <p:txBody>
          <a:bodyPr/>
          <a:lstStyle/>
          <a:p>
            <a:fld id="{A0283419-370C-452C-9DD2-0779DAF73FC3}" type="slidenum">
              <a:rPr lang="en-US" smtClean="0"/>
              <a:t>5</a:t>
            </a:fld>
            <a:endParaRPr lang="en-US"/>
          </a:p>
        </p:txBody>
      </p:sp>
    </p:spTree>
    <p:extLst>
      <p:ext uri="{BB962C8B-B14F-4D97-AF65-F5344CB8AC3E}">
        <p14:creationId xmlns:p14="http://schemas.microsoft.com/office/powerpoint/2010/main" val="3372073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not! Summer is a confounder—it affects both ice cream sales AND drowning risk by increasing swimming. This creates a spurious association, what we call a 'backdoor path.' Summer opens this backdoor path between ice cream and drowning.</a:t>
            </a:r>
          </a:p>
        </p:txBody>
      </p:sp>
      <p:sp>
        <p:nvSpPr>
          <p:cNvPr id="4" name="Slide Number Placeholder 3"/>
          <p:cNvSpPr>
            <a:spLocks noGrp="1"/>
          </p:cNvSpPr>
          <p:nvPr>
            <p:ph type="sldNum" sz="quarter" idx="5"/>
          </p:nvPr>
        </p:nvSpPr>
        <p:spPr/>
        <p:txBody>
          <a:bodyPr/>
          <a:lstStyle/>
          <a:p>
            <a:fld id="{A0283419-370C-452C-9DD2-0779DAF73FC3}" type="slidenum">
              <a:rPr lang="en-US" smtClean="0"/>
              <a:t>6</a:t>
            </a:fld>
            <a:endParaRPr lang="en-US"/>
          </a:p>
        </p:txBody>
      </p:sp>
    </p:spTree>
    <p:extLst>
      <p:ext uri="{BB962C8B-B14F-4D97-AF65-F5344CB8AC3E}">
        <p14:creationId xmlns:p14="http://schemas.microsoft.com/office/powerpoint/2010/main" val="2735852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Pearl's solution is elegant: condition on the confounders to block these backdoor paths. This is the backdoor criterion. When we intervene—represented by 'do' notation—we're setting ice cream consumption, not just observing it. The formula shows we need to adjust for summer by summing over its possible values, weighted by their probabilities.</a:t>
            </a:r>
          </a:p>
        </p:txBody>
      </p:sp>
      <p:sp>
        <p:nvSpPr>
          <p:cNvPr id="4" name="Slide Number Placeholder 3"/>
          <p:cNvSpPr>
            <a:spLocks noGrp="1"/>
          </p:cNvSpPr>
          <p:nvPr>
            <p:ph type="sldNum" sz="quarter" idx="5"/>
          </p:nvPr>
        </p:nvSpPr>
        <p:spPr/>
        <p:txBody>
          <a:bodyPr/>
          <a:lstStyle/>
          <a:p>
            <a:fld id="{A0283419-370C-452C-9DD2-0779DAF73FC3}" type="slidenum">
              <a:rPr lang="en-US" smtClean="0"/>
              <a:t>7</a:t>
            </a:fld>
            <a:endParaRPr lang="en-US"/>
          </a:p>
        </p:txBody>
      </p:sp>
    </p:spTree>
    <p:extLst>
      <p:ext uri="{BB962C8B-B14F-4D97-AF65-F5344CB8AC3E}">
        <p14:creationId xmlns:p14="http://schemas.microsoft.com/office/powerpoint/2010/main" val="2403729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get to our actual study. We analyzed thirteen years of data from Fall 2012 through Spring 2024, focusing on first-semester freshmen. Our unit of analysis is a student enrolled in a course section. The treatment is having a part-time instructor, and the outcome is final grade. After removing courses with severe treatment imbalance, we had 48,138 student-course records. As you can see in the table on the right, we have variables for instructor type, course information, student demographics, and various contextual factors.</a:t>
            </a:r>
          </a:p>
        </p:txBody>
      </p:sp>
      <p:sp>
        <p:nvSpPr>
          <p:cNvPr id="4" name="Slide Number Placeholder 3"/>
          <p:cNvSpPr>
            <a:spLocks noGrp="1"/>
          </p:cNvSpPr>
          <p:nvPr>
            <p:ph type="sldNum" sz="quarter" idx="5"/>
          </p:nvPr>
        </p:nvSpPr>
        <p:spPr/>
        <p:txBody>
          <a:bodyPr/>
          <a:lstStyle/>
          <a:p>
            <a:fld id="{A0283419-370C-452C-9DD2-0779DAF73FC3}" type="slidenum">
              <a:rPr lang="en-US" smtClean="0"/>
              <a:t>8</a:t>
            </a:fld>
            <a:endParaRPr lang="en-US"/>
          </a:p>
        </p:txBody>
      </p:sp>
    </p:spTree>
    <p:extLst>
      <p:ext uri="{BB962C8B-B14F-4D97-AF65-F5344CB8AC3E}">
        <p14:creationId xmlns:p14="http://schemas.microsoft.com/office/powerpoint/2010/main" val="1556850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our causal DAG—shown at the bottom—we identified our adjustment set. Z contains our confounders: Course, Enrollment, Pre-COVID period, and percentage of PT sections. These we </a:t>
            </a:r>
            <a:r>
              <a:rPr lang="en-US" i="1" dirty="0"/>
              <a:t>must</a:t>
            </a:r>
            <a:r>
              <a:rPr lang="en-US" dirty="0"/>
              <a:t> adjust for to block backdoor paths. V contains precision covariates like high school GPA, gender, Pell status, and minority status. These improve efficiency but aren't strictly necessary for identification. Together, this ensures valid estimation of the Average Treatment Effect.</a:t>
            </a:r>
          </a:p>
        </p:txBody>
      </p:sp>
      <p:sp>
        <p:nvSpPr>
          <p:cNvPr id="4" name="Slide Number Placeholder 3"/>
          <p:cNvSpPr>
            <a:spLocks noGrp="1"/>
          </p:cNvSpPr>
          <p:nvPr>
            <p:ph type="sldNum" sz="quarter" idx="5"/>
          </p:nvPr>
        </p:nvSpPr>
        <p:spPr/>
        <p:txBody>
          <a:bodyPr/>
          <a:lstStyle/>
          <a:p>
            <a:fld id="{A0283419-370C-452C-9DD2-0779DAF73FC3}" type="slidenum">
              <a:rPr lang="en-US" smtClean="0"/>
              <a:t>9</a:t>
            </a:fld>
            <a:endParaRPr lang="en-US"/>
          </a:p>
        </p:txBody>
      </p:sp>
    </p:spTree>
    <p:extLst>
      <p:ext uri="{BB962C8B-B14F-4D97-AF65-F5344CB8AC3E}">
        <p14:creationId xmlns:p14="http://schemas.microsoft.com/office/powerpoint/2010/main" val="1915922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the Average Treatment Effect is the difference in expected outcomes under intervention. The 'do' operator represents setting the instructor type to part-time versus full-time. Using the backdoor adjustment formula, we can express this as a sum over all combinations of our confounders and precision variables, weighted by their joint probability.</a:t>
            </a:r>
          </a:p>
        </p:txBody>
      </p:sp>
      <p:sp>
        <p:nvSpPr>
          <p:cNvPr id="4" name="Slide Number Placeholder 3"/>
          <p:cNvSpPr>
            <a:spLocks noGrp="1"/>
          </p:cNvSpPr>
          <p:nvPr>
            <p:ph type="sldNum" sz="quarter" idx="5"/>
          </p:nvPr>
        </p:nvSpPr>
        <p:spPr/>
        <p:txBody>
          <a:bodyPr/>
          <a:lstStyle/>
          <a:p>
            <a:fld id="{A0283419-370C-452C-9DD2-0779DAF73FC3}" type="slidenum">
              <a:rPr lang="en-US" smtClean="0"/>
              <a:t>10</a:t>
            </a:fld>
            <a:endParaRPr lang="en-US"/>
          </a:p>
        </p:txBody>
      </p:sp>
    </p:spTree>
    <p:extLst>
      <p:ext uri="{BB962C8B-B14F-4D97-AF65-F5344CB8AC3E}">
        <p14:creationId xmlns:p14="http://schemas.microsoft.com/office/powerpoint/2010/main" val="164006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complementary approaches. First, Double Machine Learning, which is flexible and leverages modern ML methods. Second, Bayesian hierarchical models, which account for course-level variation. I'll focus primarily on DML today due to time constraints.</a:t>
            </a:r>
          </a:p>
        </p:txBody>
      </p:sp>
      <p:sp>
        <p:nvSpPr>
          <p:cNvPr id="4" name="Slide Number Placeholder 3"/>
          <p:cNvSpPr>
            <a:spLocks noGrp="1"/>
          </p:cNvSpPr>
          <p:nvPr>
            <p:ph type="sldNum" sz="quarter" idx="5"/>
          </p:nvPr>
        </p:nvSpPr>
        <p:spPr/>
        <p:txBody>
          <a:bodyPr/>
          <a:lstStyle/>
          <a:p>
            <a:fld id="{A0283419-370C-452C-9DD2-0779DAF73FC3}" type="slidenum">
              <a:rPr lang="en-US" smtClean="0"/>
              <a:t>11</a:t>
            </a:fld>
            <a:endParaRPr lang="en-US"/>
          </a:p>
        </p:txBody>
      </p:sp>
    </p:spTree>
    <p:extLst>
      <p:ext uri="{BB962C8B-B14F-4D97-AF65-F5344CB8AC3E}">
        <p14:creationId xmlns:p14="http://schemas.microsoft.com/office/powerpoint/2010/main" val="1512652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Machine Learning extends a classical idea from econometrics. The Frisch-Waugh-Lovell theorem tells us we can isolate a treatment effect by removing the influence of confounders first—getting residuals—then regressing outcome residuals on treatment residuals. DML extends this by replacing linear regression with flexible machine learning models. The 'double' comes from modeling both the outcome AND the treatment. This orthogonalization plus machine learning gives us robust causal estimates even with complex, high-dimensional data.</a:t>
            </a:r>
          </a:p>
        </p:txBody>
      </p:sp>
      <p:sp>
        <p:nvSpPr>
          <p:cNvPr id="4" name="Slide Number Placeholder 3"/>
          <p:cNvSpPr>
            <a:spLocks noGrp="1"/>
          </p:cNvSpPr>
          <p:nvPr>
            <p:ph type="sldNum" sz="quarter" idx="5"/>
          </p:nvPr>
        </p:nvSpPr>
        <p:spPr/>
        <p:txBody>
          <a:bodyPr/>
          <a:lstStyle/>
          <a:p>
            <a:fld id="{A0283419-370C-452C-9DD2-0779DAF73FC3}" type="slidenum">
              <a:rPr lang="en-US" smtClean="0"/>
              <a:t>12</a:t>
            </a:fld>
            <a:endParaRPr lang="en-US"/>
          </a:p>
        </p:txBody>
      </p:sp>
    </p:spTree>
    <p:extLst>
      <p:ext uri="{BB962C8B-B14F-4D97-AF65-F5344CB8AC3E}">
        <p14:creationId xmlns:p14="http://schemas.microsoft.com/office/powerpoint/2010/main" val="1232935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in three steps. First, we fit two models: a binary classifier to predict treatment assignment, and a regressor to predict the outcome—both using our confounders and precision variables. Second, we compute residuals for both treatment and outcome. Finally, we regress the outcome residuals on treatment residuals to estimate the causal effect. We tried different ML algorithms—logistic with Lasso for the outcome, and logistic with Random Forest</a:t>
            </a:r>
          </a:p>
        </p:txBody>
      </p:sp>
      <p:sp>
        <p:nvSpPr>
          <p:cNvPr id="4" name="Slide Number Placeholder 3"/>
          <p:cNvSpPr>
            <a:spLocks noGrp="1"/>
          </p:cNvSpPr>
          <p:nvPr>
            <p:ph type="sldNum" sz="quarter" idx="5"/>
          </p:nvPr>
        </p:nvSpPr>
        <p:spPr/>
        <p:txBody>
          <a:bodyPr/>
          <a:lstStyle/>
          <a:p>
            <a:fld id="{A0283419-370C-452C-9DD2-0779DAF73FC3}" type="slidenum">
              <a:rPr lang="en-US" smtClean="0"/>
              <a:t>13</a:t>
            </a:fld>
            <a:endParaRPr lang="en-US"/>
          </a:p>
        </p:txBody>
      </p:sp>
    </p:spTree>
    <p:extLst>
      <p:ext uri="{BB962C8B-B14F-4D97-AF65-F5344CB8AC3E}">
        <p14:creationId xmlns:p14="http://schemas.microsoft.com/office/powerpoint/2010/main" val="1466551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850380">
              <a:defRPr/>
            </a:pPr>
            <a:r>
              <a:rPr lang="en-US" dirty="0"/>
              <a:t>And here are our main results. The Average Treatment Effect is approximately +0.20 grade points—meaning students with part-time instructors did </a:t>
            </a:r>
            <a:r>
              <a:rPr lang="en-US" i="1" dirty="0"/>
              <a:t>better</a:t>
            </a:r>
            <a:r>
              <a:rPr lang="en-US" dirty="0"/>
              <a:t> on average. This effect is robust across different DML algorithms. We also used multiple refutation tests available in the </a:t>
            </a:r>
            <a:r>
              <a:rPr lang="en-US" dirty="0" err="1"/>
              <a:t>DoWhy</a:t>
            </a:r>
            <a:r>
              <a:rPr lang="en-US" dirty="0"/>
              <a:t> library to validate our findings—including random common cause tests, data subset refuters, and bootstrap refuters. All showed our estimate held up well with high p-values, giving us confidence these results aren't spurious.</a:t>
            </a:r>
            <a:endParaRPr lang="en-US" spc="-20" dirty="0"/>
          </a:p>
          <a:p>
            <a:pPr defTabSz="1850380">
              <a:defRPr/>
            </a:pPr>
            <a:endParaRPr lang="en-US" spc="-20" dirty="0"/>
          </a:p>
          <a:p>
            <a:pPr defTabSz="1850380">
              <a:defRPr/>
            </a:pPr>
            <a:r>
              <a:rPr lang="en-US" spc="-20" dirty="0"/>
              <a:t>Random Common Cause Test: An independent random variable is added to the dataset </a:t>
            </a:r>
            <a:r>
              <a:rPr lang="en-US" spc="-20" dirty="0" err="1"/>
              <a:t>asa</a:t>
            </a:r>
            <a:r>
              <a:rPr lang="en-US" spc="-20" dirty="0"/>
              <a:t> confounder, and the estimate is recalculated. Does the estimation method change the </a:t>
            </a:r>
            <a:r>
              <a:rPr lang="en-US" spc="-20" dirty="0" err="1"/>
              <a:t>valueof</a:t>
            </a:r>
            <a:r>
              <a:rPr lang="en-US" spc="-20" dirty="0"/>
              <a:t> its estimate after adding the confounder to the dataset? This added random common </a:t>
            </a:r>
            <a:r>
              <a:rPr lang="en-US" spc="-20" dirty="0" err="1"/>
              <a:t>causeshould</a:t>
            </a:r>
            <a:r>
              <a:rPr lang="en-US" spc="-20" dirty="0"/>
              <a:t> not affect the estimate. </a:t>
            </a:r>
          </a:p>
          <a:p>
            <a:pPr defTabSz="1850380">
              <a:defRPr/>
            </a:pPr>
            <a:r>
              <a:rPr lang="en-US" spc="-20" dirty="0"/>
              <a:t>Data Subset Refuter: The given dataset is replaced with a randomly selected subset, and the estimate is recalculated. This tests robustness to specific sample composition. Is </a:t>
            </a:r>
            <a:r>
              <a:rPr lang="en-US" spc="-20" dirty="0" err="1"/>
              <a:t>theestimated</a:t>
            </a:r>
            <a:r>
              <a:rPr lang="en-US" spc="-20" dirty="0"/>
              <a:t> effect sensitive to this change? </a:t>
            </a:r>
          </a:p>
          <a:p>
            <a:pPr defTabSz="1850380">
              <a:defRPr/>
            </a:pPr>
            <a:r>
              <a:rPr lang="en-US" spc="-20" dirty="0"/>
              <a:t>Bootstrap Refuter: The given dataset is replaced with bootstrapped samples from the </a:t>
            </a:r>
            <a:r>
              <a:rPr lang="en-US" spc="-20" dirty="0" err="1"/>
              <a:t>samedataset</a:t>
            </a:r>
            <a:r>
              <a:rPr lang="en-US" spc="-20" dirty="0"/>
              <a:t>, and the estimate is recalculated. Does the estimated effect change significantly?</a:t>
            </a:r>
            <a:endParaRPr lang="en-US" dirty="0"/>
          </a:p>
        </p:txBody>
      </p:sp>
      <p:sp>
        <p:nvSpPr>
          <p:cNvPr id="4" name="Slide Number Placeholder 3"/>
          <p:cNvSpPr>
            <a:spLocks noGrp="1"/>
          </p:cNvSpPr>
          <p:nvPr>
            <p:ph type="sldNum" sz="quarter" idx="5"/>
          </p:nvPr>
        </p:nvSpPr>
        <p:spPr/>
        <p:txBody>
          <a:bodyPr/>
          <a:lstStyle/>
          <a:p>
            <a:fld id="{A0283419-370C-452C-9DD2-0779DAF73FC3}" type="slidenum">
              <a:rPr lang="en-US" smtClean="0"/>
              <a:t>14</a:t>
            </a:fld>
            <a:endParaRPr lang="en-US"/>
          </a:p>
        </p:txBody>
      </p:sp>
    </p:spTree>
    <p:extLst>
      <p:ext uri="{BB962C8B-B14F-4D97-AF65-F5344CB8AC3E}">
        <p14:creationId xmlns:p14="http://schemas.microsoft.com/office/powerpoint/2010/main" val="3137983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also look at Conditional Average Treatment Effects to see how the impact varies across student groups. This chart shows that lower-performing students—those in the bottom quintile of high school GPA—benefit most from part-time instructors, with an effect of 0.31 grade points. The effect decreases for higher-performing students. We also see variation by gender and Pell status, with males and non-Pell students showing slightly higher benefits.</a:t>
            </a:r>
          </a:p>
        </p:txBody>
      </p:sp>
      <p:sp>
        <p:nvSpPr>
          <p:cNvPr id="4" name="Slide Number Placeholder 3"/>
          <p:cNvSpPr>
            <a:spLocks noGrp="1"/>
          </p:cNvSpPr>
          <p:nvPr>
            <p:ph type="sldNum" sz="quarter" idx="5"/>
          </p:nvPr>
        </p:nvSpPr>
        <p:spPr/>
        <p:txBody>
          <a:bodyPr/>
          <a:lstStyle/>
          <a:p>
            <a:fld id="{A0283419-370C-452C-9DD2-0779DAF73FC3}" type="slidenum">
              <a:rPr lang="en-US" smtClean="0"/>
              <a:t>15</a:t>
            </a:fld>
            <a:endParaRPr lang="en-US"/>
          </a:p>
        </p:txBody>
      </p:sp>
    </p:spTree>
    <p:extLst>
      <p:ext uri="{BB962C8B-B14F-4D97-AF65-F5344CB8AC3E}">
        <p14:creationId xmlns:p14="http://schemas.microsoft.com/office/powerpoint/2010/main" val="535011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Bayesian approach offers complementary insights. </a:t>
            </a:r>
          </a:p>
        </p:txBody>
      </p:sp>
      <p:sp>
        <p:nvSpPr>
          <p:cNvPr id="4" name="Slide Number Placeholder 3"/>
          <p:cNvSpPr>
            <a:spLocks noGrp="1"/>
          </p:cNvSpPr>
          <p:nvPr>
            <p:ph type="sldNum" sz="quarter" idx="5"/>
          </p:nvPr>
        </p:nvSpPr>
        <p:spPr/>
        <p:txBody>
          <a:bodyPr/>
          <a:lstStyle/>
          <a:p>
            <a:fld id="{A0283419-370C-452C-9DD2-0779DAF73FC3}" type="slidenum">
              <a:rPr lang="en-US" smtClean="0"/>
              <a:t>16</a:t>
            </a:fld>
            <a:endParaRPr lang="en-US"/>
          </a:p>
        </p:txBody>
      </p:sp>
    </p:spTree>
    <p:extLst>
      <p:ext uri="{BB962C8B-B14F-4D97-AF65-F5344CB8AC3E}">
        <p14:creationId xmlns:p14="http://schemas.microsoft.com/office/powerpoint/2010/main" val="3820428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students as nested within courses, with random intercepts and random slopes for the PT effect. This produces full posterior distributions rather than just point estimates and reveals substantial variation across courses. </a:t>
            </a:r>
          </a:p>
        </p:txBody>
      </p:sp>
      <p:sp>
        <p:nvSpPr>
          <p:cNvPr id="4" name="Slide Number Placeholder 3"/>
          <p:cNvSpPr>
            <a:spLocks noGrp="1"/>
          </p:cNvSpPr>
          <p:nvPr>
            <p:ph type="sldNum" sz="quarter" idx="5"/>
          </p:nvPr>
        </p:nvSpPr>
        <p:spPr/>
        <p:txBody>
          <a:bodyPr/>
          <a:lstStyle/>
          <a:p>
            <a:fld id="{A0283419-370C-452C-9DD2-0779DAF73FC3}" type="slidenum">
              <a:rPr lang="en-US" smtClean="0"/>
              <a:t>17</a:t>
            </a:fld>
            <a:endParaRPr lang="en-US"/>
          </a:p>
        </p:txBody>
      </p:sp>
    </p:spTree>
    <p:extLst>
      <p:ext uri="{BB962C8B-B14F-4D97-AF65-F5344CB8AC3E}">
        <p14:creationId xmlns:p14="http://schemas.microsoft.com/office/powerpoint/2010/main" val="1756024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shows a global ATE of about 0.183 with good convergence diagnostics. </a:t>
            </a:r>
          </a:p>
        </p:txBody>
      </p:sp>
      <p:sp>
        <p:nvSpPr>
          <p:cNvPr id="4" name="Slide Number Placeholder 3"/>
          <p:cNvSpPr>
            <a:spLocks noGrp="1"/>
          </p:cNvSpPr>
          <p:nvPr>
            <p:ph type="sldNum" sz="quarter" idx="5"/>
          </p:nvPr>
        </p:nvSpPr>
        <p:spPr/>
        <p:txBody>
          <a:bodyPr/>
          <a:lstStyle/>
          <a:p>
            <a:fld id="{A0283419-370C-452C-9DD2-0779DAF73FC3}" type="slidenum">
              <a:rPr lang="en-US" smtClean="0"/>
              <a:t>18</a:t>
            </a:fld>
            <a:endParaRPr lang="en-US"/>
          </a:p>
        </p:txBody>
      </p:sp>
    </p:spTree>
    <p:extLst>
      <p:ext uri="{BB962C8B-B14F-4D97-AF65-F5344CB8AC3E}">
        <p14:creationId xmlns:p14="http://schemas.microsoft.com/office/powerpoint/2010/main" val="2933590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from the distribution of course-specific effects that some courses show much stronger positive effects while others show small negative effects.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BIOL232 shows the strongest positive effect at 0.75, while ENG271L shows a small negative effect</a:t>
            </a:r>
          </a:p>
          <a:p>
            <a:endParaRPr lang="en-US" dirty="0"/>
          </a:p>
        </p:txBody>
      </p:sp>
      <p:sp>
        <p:nvSpPr>
          <p:cNvPr id="4" name="Slide Number Placeholder 3"/>
          <p:cNvSpPr>
            <a:spLocks noGrp="1"/>
          </p:cNvSpPr>
          <p:nvPr>
            <p:ph type="sldNum" sz="quarter" idx="5"/>
          </p:nvPr>
        </p:nvSpPr>
        <p:spPr/>
        <p:txBody>
          <a:bodyPr/>
          <a:lstStyle/>
          <a:p>
            <a:fld id="{A0283419-370C-452C-9DD2-0779DAF73FC3}" type="slidenum">
              <a:rPr lang="en-US" smtClean="0"/>
              <a:t>19</a:t>
            </a:fld>
            <a:endParaRPr lang="en-US"/>
          </a:p>
        </p:txBody>
      </p:sp>
    </p:spTree>
    <p:extLst>
      <p:ext uri="{BB962C8B-B14F-4D97-AF65-F5344CB8AC3E}">
        <p14:creationId xmlns:p14="http://schemas.microsoft.com/office/powerpoint/2010/main" val="2228391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our key takeaways? First, this study challenges the common assumption that part-time faculty harm students—we find a modest positive effect. Second, it demonstrates the value of combining causal inference with machine learning in education research. Pearl's framework provides rigorous causal identification. Double Machine Learning offers flexible, robust estimation. And Bayesian models capture important heterogeneity and uncertainty across courses</a:t>
            </a:r>
          </a:p>
        </p:txBody>
      </p:sp>
      <p:sp>
        <p:nvSpPr>
          <p:cNvPr id="4" name="Slide Number Placeholder 3"/>
          <p:cNvSpPr>
            <a:spLocks noGrp="1"/>
          </p:cNvSpPr>
          <p:nvPr>
            <p:ph type="sldNum" sz="quarter" idx="5"/>
          </p:nvPr>
        </p:nvSpPr>
        <p:spPr/>
        <p:txBody>
          <a:bodyPr/>
          <a:lstStyle/>
          <a:p>
            <a:fld id="{A0283419-370C-452C-9DD2-0779DAF73FC3}" type="slidenum">
              <a:rPr lang="en-US" smtClean="0"/>
              <a:t>20</a:t>
            </a:fld>
            <a:endParaRPr lang="en-US"/>
          </a:p>
        </p:txBody>
      </p:sp>
    </p:spTree>
    <p:extLst>
      <p:ext uri="{BB962C8B-B14F-4D97-AF65-F5344CB8AC3E}">
        <p14:creationId xmlns:p14="http://schemas.microsoft.com/office/powerpoint/2010/main" val="1784161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my talk. I'm happy to take your questions. Thank you!</a:t>
            </a:r>
          </a:p>
        </p:txBody>
      </p:sp>
      <p:sp>
        <p:nvSpPr>
          <p:cNvPr id="4" name="Slide Number Placeholder 3"/>
          <p:cNvSpPr>
            <a:spLocks noGrp="1"/>
          </p:cNvSpPr>
          <p:nvPr>
            <p:ph type="sldNum" sz="quarter" idx="5"/>
          </p:nvPr>
        </p:nvSpPr>
        <p:spPr/>
        <p:txBody>
          <a:bodyPr/>
          <a:lstStyle/>
          <a:p>
            <a:fld id="{A0283419-370C-452C-9DD2-0779DAF73FC3}" type="slidenum">
              <a:rPr lang="en-US" smtClean="0"/>
              <a:t>21</a:t>
            </a:fld>
            <a:endParaRPr lang="en-US"/>
          </a:p>
        </p:txBody>
      </p:sp>
    </p:spTree>
    <p:extLst>
      <p:ext uri="{BB962C8B-B14F-4D97-AF65-F5344CB8AC3E}">
        <p14:creationId xmlns:p14="http://schemas.microsoft.com/office/powerpoint/2010/main" val="685961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0283419-370C-452C-9DD2-0779DAF73FC3}" type="slidenum">
              <a:rPr lang="en-US" smtClean="0"/>
              <a:t>22</a:t>
            </a:fld>
            <a:endParaRPr lang="en-US"/>
          </a:p>
        </p:txBody>
      </p:sp>
    </p:spTree>
    <p:extLst>
      <p:ext uri="{BB962C8B-B14F-4D97-AF65-F5344CB8AC3E}">
        <p14:creationId xmlns:p14="http://schemas.microsoft.com/office/powerpoint/2010/main" val="2481630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0" y="269913"/>
            <a:ext cx="4610100" cy="350520"/>
          </a:xfrm>
          <a:prstGeom prst="rect">
            <a:avLst/>
          </a:prstGeom>
        </p:spPr>
        <p:txBody>
          <a:bodyPr wrap="square" lIns="0" tIns="0" rIns="0" bIns="0">
            <a:spAutoFit/>
          </a:bodyPr>
          <a:lstStyle>
            <a:lvl1pPr>
              <a:defRPr sz="1400" b="0" i="0">
                <a:solidFill>
                  <a:srgbClr val="CC0000"/>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slide" Target="../slides/slide2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4608195" cy="147955"/>
          </a:xfrm>
          <a:custGeom>
            <a:avLst/>
            <a:gdLst/>
            <a:ahLst/>
            <a:cxnLst/>
            <a:rect l="l" t="t" r="r" b="b"/>
            <a:pathLst>
              <a:path w="4608195" h="147955">
                <a:moveTo>
                  <a:pt x="4608004" y="0"/>
                </a:moveTo>
                <a:lnTo>
                  <a:pt x="0" y="0"/>
                </a:lnTo>
                <a:lnTo>
                  <a:pt x="0" y="147612"/>
                </a:lnTo>
                <a:lnTo>
                  <a:pt x="4608004" y="147612"/>
                </a:lnTo>
                <a:lnTo>
                  <a:pt x="4608004" y="0"/>
                </a:lnTo>
                <a:close/>
              </a:path>
            </a:pathLst>
          </a:custGeom>
          <a:solidFill>
            <a:srgbClr val="C8102E"/>
          </a:solidFill>
        </p:spPr>
        <p:txBody>
          <a:bodyPr wrap="square" lIns="0" tIns="0" rIns="0" bIns="0" rtlCol="0"/>
          <a:lstStyle/>
          <a:p>
            <a:endParaRPr/>
          </a:p>
        </p:txBody>
      </p:sp>
      <p:sp>
        <p:nvSpPr>
          <p:cNvPr id="17" name="bg object 17"/>
          <p:cNvSpPr/>
          <p:nvPr/>
        </p:nvSpPr>
        <p:spPr>
          <a:xfrm>
            <a:off x="0" y="147599"/>
            <a:ext cx="4608195" cy="122555"/>
          </a:xfrm>
          <a:custGeom>
            <a:avLst/>
            <a:gdLst/>
            <a:ahLst/>
            <a:cxnLst/>
            <a:rect l="l" t="t" r="r" b="b"/>
            <a:pathLst>
              <a:path w="4608195" h="122554">
                <a:moveTo>
                  <a:pt x="4608004" y="0"/>
                </a:moveTo>
                <a:lnTo>
                  <a:pt x="0" y="0"/>
                </a:lnTo>
                <a:lnTo>
                  <a:pt x="0" y="122313"/>
                </a:lnTo>
                <a:lnTo>
                  <a:pt x="4608004" y="122313"/>
                </a:lnTo>
                <a:lnTo>
                  <a:pt x="4608004" y="0"/>
                </a:lnTo>
                <a:close/>
              </a:path>
            </a:pathLst>
          </a:custGeom>
          <a:solidFill>
            <a:srgbClr val="EBEBEB"/>
          </a:solidFill>
        </p:spPr>
        <p:txBody>
          <a:bodyPr wrap="square" lIns="0" tIns="0" rIns="0" bIns="0" rtlCol="0"/>
          <a:lstStyle/>
          <a:p>
            <a:endParaRPr/>
          </a:p>
        </p:txBody>
      </p:sp>
      <p:sp>
        <p:nvSpPr>
          <p:cNvPr id="2" name="Holder 2"/>
          <p:cNvSpPr>
            <a:spLocks noGrp="1"/>
          </p:cNvSpPr>
          <p:nvPr>
            <p:ph type="title"/>
          </p:nvPr>
        </p:nvSpPr>
        <p:spPr>
          <a:xfrm>
            <a:off x="0" y="269913"/>
            <a:ext cx="4610100" cy="215444"/>
          </a:xfrm>
          <a:prstGeom prst="rect">
            <a:avLst/>
          </a:prstGeom>
        </p:spPr>
        <p:txBody>
          <a:bodyPr wrap="square" lIns="0" tIns="0" rIns="0" bIns="0">
            <a:spAutoFit/>
          </a:bodyPr>
          <a:lstStyle>
            <a:lvl1pPr>
              <a:defRPr sz="1400" b="0" i="0">
                <a:solidFill>
                  <a:srgbClr val="CC0000"/>
                </a:solidFill>
                <a:latin typeface="Tahoma"/>
                <a:cs typeface="Tahoma"/>
              </a:defRPr>
            </a:lvl1pPr>
          </a:lstStyle>
          <a:p>
            <a:endParaRPr dirty="0"/>
          </a:p>
        </p:txBody>
      </p:sp>
      <p:sp>
        <p:nvSpPr>
          <p:cNvPr id="3" name="Holder 3"/>
          <p:cNvSpPr>
            <a:spLocks noGrp="1"/>
          </p:cNvSpPr>
          <p:nvPr>
            <p:ph type="body" idx="1"/>
          </p:nvPr>
        </p:nvSpPr>
        <p:spPr>
          <a:xfrm>
            <a:off x="624395" y="1226093"/>
            <a:ext cx="3428365" cy="1075689"/>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grpSp>
        <p:nvGrpSpPr>
          <p:cNvPr id="7" name="object 4">
            <a:extLst>
              <a:ext uri="{FF2B5EF4-FFF2-40B4-BE49-F238E27FC236}">
                <a16:creationId xmlns:a16="http://schemas.microsoft.com/office/drawing/2014/main" id="{FE496AE2-F2A5-4F0E-F475-F45890326672}"/>
              </a:ext>
            </a:extLst>
          </p:cNvPr>
          <p:cNvGrpSpPr/>
          <p:nvPr userDrawn="1"/>
        </p:nvGrpSpPr>
        <p:grpSpPr>
          <a:xfrm>
            <a:off x="0" y="3211372"/>
            <a:ext cx="4608195" cy="245110"/>
            <a:chOff x="0" y="3211372"/>
            <a:chExt cx="4608195" cy="245110"/>
          </a:xfrm>
        </p:grpSpPr>
        <p:sp>
          <p:nvSpPr>
            <p:cNvPr id="8" name="object 5">
              <a:extLst>
                <a:ext uri="{FF2B5EF4-FFF2-40B4-BE49-F238E27FC236}">
                  <a16:creationId xmlns:a16="http://schemas.microsoft.com/office/drawing/2014/main" id="{586C8EAB-9A40-C355-BCD4-5F758DC816C8}"/>
                </a:ext>
              </a:extLst>
            </p:cNvPr>
            <p:cNvSpPr/>
            <p:nvPr/>
          </p:nvSpPr>
          <p:spPr>
            <a:xfrm>
              <a:off x="0" y="3211372"/>
              <a:ext cx="4608195" cy="122555"/>
            </a:xfrm>
            <a:custGeom>
              <a:avLst/>
              <a:gdLst/>
              <a:ahLst/>
              <a:cxnLst/>
              <a:rect l="l" t="t" r="r" b="b"/>
              <a:pathLst>
                <a:path w="4608195" h="122554">
                  <a:moveTo>
                    <a:pt x="4608004" y="0"/>
                  </a:moveTo>
                  <a:lnTo>
                    <a:pt x="0" y="0"/>
                  </a:lnTo>
                  <a:lnTo>
                    <a:pt x="0" y="122313"/>
                  </a:lnTo>
                  <a:lnTo>
                    <a:pt x="4608004" y="122313"/>
                  </a:lnTo>
                  <a:lnTo>
                    <a:pt x="4608004" y="0"/>
                  </a:lnTo>
                  <a:close/>
                </a:path>
              </a:pathLst>
            </a:custGeom>
            <a:solidFill>
              <a:srgbClr val="EBEBEB"/>
            </a:solidFill>
          </p:spPr>
          <p:txBody>
            <a:bodyPr wrap="square" lIns="0" tIns="0" rIns="0" bIns="0" rtlCol="0"/>
            <a:lstStyle/>
            <a:p>
              <a:endParaRPr/>
            </a:p>
          </p:txBody>
        </p:sp>
        <p:sp>
          <p:nvSpPr>
            <p:cNvPr id="9" name="object 6">
              <a:extLst>
                <a:ext uri="{FF2B5EF4-FFF2-40B4-BE49-F238E27FC236}">
                  <a16:creationId xmlns:a16="http://schemas.microsoft.com/office/drawing/2014/main" id="{E5EB5867-FBE8-1E0B-A8DC-71C2CDD14F06}"/>
                </a:ext>
              </a:extLst>
            </p:cNvPr>
            <p:cNvSpPr/>
            <p:nvPr/>
          </p:nvSpPr>
          <p:spPr>
            <a:xfrm>
              <a:off x="0" y="3333686"/>
              <a:ext cx="4608195" cy="122555"/>
            </a:xfrm>
            <a:custGeom>
              <a:avLst/>
              <a:gdLst/>
              <a:ahLst/>
              <a:cxnLst/>
              <a:rect l="l" t="t" r="r" b="b"/>
              <a:pathLst>
                <a:path w="4608195" h="122554">
                  <a:moveTo>
                    <a:pt x="4608004" y="0"/>
                  </a:moveTo>
                  <a:lnTo>
                    <a:pt x="0" y="0"/>
                  </a:lnTo>
                  <a:lnTo>
                    <a:pt x="0" y="122313"/>
                  </a:lnTo>
                  <a:lnTo>
                    <a:pt x="4608004" y="122313"/>
                  </a:lnTo>
                  <a:lnTo>
                    <a:pt x="4608004" y="0"/>
                  </a:lnTo>
                  <a:close/>
                </a:path>
              </a:pathLst>
            </a:custGeom>
            <a:solidFill>
              <a:srgbClr val="C8102E"/>
            </a:solidFill>
          </p:spPr>
          <p:txBody>
            <a:bodyPr wrap="square" lIns="0" tIns="0" rIns="0" bIns="0" rtlCol="0"/>
            <a:lstStyle/>
            <a:p>
              <a:endParaRPr/>
            </a:p>
          </p:txBody>
        </p:sp>
      </p:grpSp>
      <p:sp>
        <p:nvSpPr>
          <p:cNvPr id="10" name="object 7">
            <a:extLst>
              <a:ext uri="{FF2B5EF4-FFF2-40B4-BE49-F238E27FC236}">
                <a16:creationId xmlns:a16="http://schemas.microsoft.com/office/drawing/2014/main" id="{7AC76EA3-E7DD-EF9D-235A-30BBFF6F50DB}"/>
              </a:ext>
            </a:extLst>
          </p:cNvPr>
          <p:cNvSpPr txBox="1"/>
          <p:nvPr userDrawn="1"/>
        </p:nvSpPr>
        <p:spPr>
          <a:xfrm>
            <a:off x="95300" y="3225267"/>
            <a:ext cx="1798955" cy="92333"/>
          </a:xfrm>
          <a:prstGeom prst="rect">
            <a:avLst/>
          </a:prstGeom>
        </p:spPr>
        <p:txBody>
          <a:bodyPr vert="horz" wrap="square" lIns="0" tIns="0" rIns="0" bIns="0" rtlCol="0">
            <a:spAutoFit/>
          </a:bodyPr>
          <a:lstStyle/>
          <a:p>
            <a:pPr marL="12700">
              <a:lnSpc>
                <a:spcPct val="100000"/>
              </a:lnSpc>
              <a:spcBef>
                <a:spcPts val="240"/>
              </a:spcBef>
            </a:pPr>
            <a:r>
              <a:rPr sz="600" dirty="0">
                <a:solidFill>
                  <a:srgbClr val="F2F2F2"/>
                </a:solidFill>
                <a:latin typeface="Tahoma"/>
                <a:cs typeface="Tahoma"/>
                <a:hlinkClick r:id="rId7" action="ppaction://hlinksldjump"/>
              </a:rPr>
              <a:t>Causal</a:t>
            </a:r>
            <a:r>
              <a:rPr sz="600" spc="15" dirty="0">
                <a:solidFill>
                  <a:srgbClr val="F2F2F2"/>
                </a:solidFill>
                <a:latin typeface="Tahoma"/>
                <a:cs typeface="Tahoma"/>
                <a:hlinkClick r:id="rId7" action="ppaction://hlinksldjump"/>
              </a:rPr>
              <a:t> </a:t>
            </a:r>
            <a:r>
              <a:rPr sz="600" spc="-20" dirty="0">
                <a:solidFill>
                  <a:srgbClr val="F2F2F2"/>
                </a:solidFill>
                <a:latin typeface="Tahoma"/>
                <a:cs typeface="Tahoma"/>
                <a:hlinkClick r:id="rId7" action="ppaction://hlinksldjump"/>
              </a:rPr>
              <a:t>Inference</a:t>
            </a:r>
            <a:r>
              <a:rPr sz="600" spc="20" dirty="0">
                <a:solidFill>
                  <a:srgbClr val="F2F2F2"/>
                </a:solidFill>
                <a:latin typeface="Tahoma"/>
                <a:cs typeface="Tahoma"/>
                <a:hlinkClick r:id="rId7" action="ppaction://hlinksldjump"/>
              </a:rPr>
              <a:t> </a:t>
            </a:r>
            <a:r>
              <a:rPr sz="600" dirty="0">
                <a:solidFill>
                  <a:srgbClr val="F2F2F2"/>
                </a:solidFill>
                <a:latin typeface="Tahoma"/>
                <a:cs typeface="Tahoma"/>
                <a:hlinkClick r:id="rId7" action="ppaction://hlinksldjump"/>
              </a:rPr>
              <a:t>and</a:t>
            </a:r>
            <a:r>
              <a:rPr sz="600" spc="20" dirty="0">
                <a:solidFill>
                  <a:srgbClr val="F2F2F2"/>
                </a:solidFill>
                <a:latin typeface="Tahoma"/>
                <a:cs typeface="Tahoma"/>
                <a:hlinkClick r:id="rId7" action="ppaction://hlinksldjump"/>
              </a:rPr>
              <a:t> </a:t>
            </a:r>
            <a:r>
              <a:rPr sz="600" dirty="0">
                <a:solidFill>
                  <a:srgbClr val="F2F2F2"/>
                </a:solidFill>
                <a:latin typeface="Tahoma"/>
                <a:cs typeface="Tahoma"/>
                <a:hlinkClick r:id="rId7" action="ppaction://hlinksldjump"/>
              </a:rPr>
              <a:t>Machine</a:t>
            </a:r>
            <a:r>
              <a:rPr sz="600" spc="20" dirty="0">
                <a:solidFill>
                  <a:srgbClr val="F2F2F2"/>
                </a:solidFill>
                <a:latin typeface="Tahoma"/>
                <a:cs typeface="Tahoma"/>
                <a:hlinkClick r:id="rId7" action="ppaction://hlinksldjump"/>
              </a:rPr>
              <a:t> </a:t>
            </a:r>
            <a:r>
              <a:rPr sz="600" dirty="0">
                <a:solidFill>
                  <a:srgbClr val="F2F2F2"/>
                </a:solidFill>
                <a:latin typeface="Tahoma"/>
                <a:cs typeface="Tahoma"/>
                <a:hlinkClick r:id="rId7" action="ppaction://hlinksldjump"/>
              </a:rPr>
              <a:t>Learning</a:t>
            </a:r>
            <a:r>
              <a:rPr sz="600" spc="20" dirty="0">
                <a:solidFill>
                  <a:srgbClr val="F2F2F2"/>
                </a:solidFill>
                <a:latin typeface="Tahoma"/>
                <a:cs typeface="Tahoma"/>
                <a:hlinkClick r:id="rId7" action="ppaction://hlinksldjump"/>
              </a:rPr>
              <a:t> </a:t>
            </a:r>
            <a:r>
              <a:rPr sz="600" dirty="0">
                <a:solidFill>
                  <a:srgbClr val="F2F2F2"/>
                </a:solidFill>
                <a:latin typeface="Tahoma"/>
                <a:cs typeface="Tahoma"/>
                <a:hlinkClick r:id="rId7" action="ppaction://hlinksldjump"/>
              </a:rPr>
              <a:t>in</a:t>
            </a:r>
            <a:r>
              <a:rPr sz="600" spc="20" dirty="0">
                <a:solidFill>
                  <a:srgbClr val="F2F2F2"/>
                </a:solidFill>
                <a:latin typeface="Tahoma"/>
                <a:cs typeface="Tahoma"/>
                <a:hlinkClick r:id="rId7" action="ppaction://hlinksldjump"/>
              </a:rPr>
              <a:t> </a:t>
            </a:r>
            <a:r>
              <a:rPr sz="600" spc="-10" dirty="0">
                <a:solidFill>
                  <a:srgbClr val="F2F2F2"/>
                </a:solidFill>
                <a:latin typeface="Tahoma"/>
                <a:cs typeface="Tahoma"/>
                <a:hlinkClick r:id="rId7" action="ppaction://hlinksldjump"/>
              </a:rPr>
              <a:t>Education</a:t>
            </a:r>
            <a:endParaRPr sz="600" dirty="0">
              <a:latin typeface="Tahoma"/>
              <a:cs typeface="Tahom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solidFill>
            <a:srgbClr val="C8102E"/>
          </a:solidFill>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xkcd.com/552/"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85B6-56F2-88FF-CF1B-A63A951FCB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86C6246-D2C8-8E1E-BB4A-27473D290442}"/>
              </a:ext>
            </a:extLst>
          </p:cNvPr>
          <p:cNvSpPr txBox="1"/>
          <p:nvPr/>
        </p:nvSpPr>
        <p:spPr>
          <a:xfrm>
            <a:off x="354784" y="1273175"/>
            <a:ext cx="3888104" cy="743152"/>
          </a:xfrm>
          <a:prstGeom prst="rect">
            <a:avLst/>
          </a:prstGeom>
          <a:solidFill>
            <a:srgbClr val="D8D8D8"/>
          </a:solidFill>
        </p:spPr>
        <p:txBody>
          <a:bodyPr vert="horz" wrap="square" lIns="0" tIns="35560" rIns="0" bIns="0" rtlCol="0">
            <a:spAutoFit/>
          </a:bodyPr>
          <a:lstStyle/>
          <a:p>
            <a:pPr marL="391160" marR="384175" algn="ctr">
              <a:lnSpc>
                <a:spcPct val="106700"/>
              </a:lnSpc>
              <a:spcBef>
                <a:spcPts val="280"/>
              </a:spcBef>
            </a:pPr>
            <a:r>
              <a:rPr sz="1400" spc="-25" dirty="0">
                <a:solidFill>
                  <a:srgbClr val="CC0000"/>
                </a:solidFill>
                <a:latin typeface="Tahoma"/>
                <a:cs typeface="Tahoma"/>
              </a:rPr>
              <a:t>Causal</a:t>
            </a:r>
            <a:r>
              <a:rPr sz="1400" spc="-35" dirty="0">
                <a:solidFill>
                  <a:srgbClr val="CC0000"/>
                </a:solidFill>
                <a:latin typeface="Tahoma"/>
                <a:cs typeface="Tahoma"/>
              </a:rPr>
              <a:t> </a:t>
            </a:r>
            <a:r>
              <a:rPr sz="1400" spc="-80" dirty="0">
                <a:solidFill>
                  <a:srgbClr val="CC0000"/>
                </a:solidFill>
                <a:latin typeface="Tahoma"/>
                <a:cs typeface="Tahoma"/>
              </a:rPr>
              <a:t>Inference</a:t>
            </a:r>
            <a:r>
              <a:rPr sz="1400" spc="-30" dirty="0">
                <a:solidFill>
                  <a:srgbClr val="CC0000"/>
                </a:solidFill>
                <a:latin typeface="Tahoma"/>
                <a:cs typeface="Tahoma"/>
              </a:rPr>
              <a:t> and </a:t>
            </a:r>
            <a:r>
              <a:rPr sz="1400" spc="-20" dirty="0">
                <a:solidFill>
                  <a:srgbClr val="CC0000"/>
                </a:solidFill>
                <a:latin typeface="Tahoma"/>
                <a:cs typeface="Tahoma"/>
              </a:rPr>
              <a:t>Machine</a:t>
            </a:r>
            <a:r>
              <a:rPr sz="1400" spc="-30" dirty="0">
                <a:solidFill>
                  <a:srgbClr val="CC0000"/>
                </a:solidFill>
                <a:latin typeface="Tahoma"/>
                <a:cs typeface="Tahoma"/>
              </a:rPr>
              <a:t> </a:t>
            </a:r>
            <a:r>
              <a:rPr sz="1400" spc="-40" dirty="0">
                <a:solidFill>
                  <a:srgbClr val="CC0000"/>
                </a:solidFill>
                <a:latin typeface="Tahoma"/>
                <a:cs typeface="Tahoma"/>
              </a:rPr>
              <a:t>Learning</a:t>
            </a:r>
            <a:endParaRPr lang="en-US" sz="1400" spc="-40" dirty="0">
              <a:solidFill>
                <a:srgbClr val="CC0000"/>
              </a:solidFill>
              <a:latin typeface="Tahoma"/>
              <a:cs typeface="Tahoma"/>
            </a:endParaRPr>
          </a:p>
          <a:p>
            <a:pPr marL="391160" marR="384175" algn="ctr">
              <a:lnSpc>
                <a:spcPct val="106700"/>
              </a:lnSpc>
              <a:spcBef>
                <a:spcPts val="280"/>
              </a:spcBef>
            </a:pPr>
            <a:r>
              <a:rPr sz="1400" spc="-25" dirty="0">
                <a:solidFill>
                  <a:srgbClr val="CC0000"/>
                </a:solidFill>
                <a:latin typeface="Tahoma"/>
                <a:cs typeface="Tahoma"/>
              </a:rPr>
              <a:t>in </a:t>
            </a:r>
            <a:r>
              <a:rPr sz="1400" spc="-10" dirty="0">
                <a:solidFill>
                  <a:srgbClr val="CC0000"/>
                </a:solidFill>
                <a:latin typeface="Tahoma"/>
                <a:cs typeface="Tahoma"/>
              </a:rPr>
              <a:t>Education</a:t>
            </a:r>
            <a:endParaRPr sz="1400" dirty="0">
              <a:latin typeface="Tahoma"/>
              <a:cs typeface="Tahoma"/>
            </a:endParaRPr>
          </a:p>
          <a:p>
            <a:pPr algn="ctr">
              <a:lnSpc>
                <a:spcPct val="100000"/>
              </a:lnSpc>
              <a:spcBef>
                <a:spcPts val="325"/>
              </a:spcBef>
            </a:pPr>
            <a:r>
              <a:rPr sz="1100" spc="-45" dirty="0">
                <a:solidFill>
                  <a:srgbClr val="CC0000"/>
                </a:solidFill>
                <a:latin typeface="Arial"/>
                <a:cs typeface="Arial"/>
              </a:rPr>
              <a:t>Part-</a:t>
            </a:r>
            <a:r>
              <a:rPr sz="1100" dirty="0">
                <a:solidFill>
                  <a:srgbClr val="CC0000"/>
                </a:solidFill>
                <a:latin typeface="Arial"/>
                <a:cs typeface="Arial"/>
              </a:rPr>
              <a:t>Time</a:t>
            </a:r>
            <a:r>
              <a:rPr sz="1100" spc="30" dirty="0">
                <a:solidFill>
                  <a:srgbClr val="CC0000"/>
                </a:solidFill>
                <a:latin typeface="Arial"/>
                <a:cs typeface="Arial"/>
              </a:rPr>
              <a:t> </a:t>
            </a:r>
            <a:r>
              <a:rPr sz="1100" spc="-20" dirty="0">
                <a:solidFill>
                  <a:srgbClr val="CC0000"/>
                </a:solidFill>
                <a:latin typeface="Arial"/>
                <a:cs typeface="Arial"/>
              </a:rPr>
              <a:t>Instruction</a:t>
            </a:r>
            <a:r>
              <a:rPr sz="1100" spc="35" dirty="0">
                <a:solidFill>
                  <a:srgbClr val="CC0000"/>
                </a:solidFill>
                <a:latin typeface="Arial"/>
                <a:cs typeface="Arial"/>
              </a:rPr>
              <a:t> </a:t>
            </a:r>
            <a:r>
              <a:rPr sz="1100" spc="-45" dirty="0">
                <a:solidFill>
                  <a:srgbClr val="CC0000"/>
                </a:solidFill>
                <a:latin typeface="Arial"/>
                <a:cs typeface="Arial"/>
              </a:rPr>
              <a:t>and</a:t>
            </a:r>
            <a:r>
              <a:rPr sz="1100" spc="30" dirty="0">
                <a:solidFill>
                  <a:srgbClr val="CC0000"/>
                </a:solidFill>
                <a:latin typeface="Arial"/>
                <a:cs typeface="Arial"/>
              </a:rPr>
              <a:t> </a:t>
            </a:r>
            <a:r>
              <a:rPr sz="1100" spc="-50" dirty="0">
                <a:solidFill>
                  <a:srgbClr val="CC0000"/>
                </a:solidFill>
                <a:latin typeface="Arial"/>
                <a:cs typeface="Arial"/>
              </a:rPr>
              <a:t>First-</a:t>
            </a:r>
            <a:r>
              <a:rPr sz="1100" spc="-45" dirty="0">
                <a:solidFill>
                  <a:srgbClr val="CC0000"/>
                </a:solidFill>
                <a:latin typeface="Arial"/>
                <a:cs typeface="Arial"/>
              </a:rPr>
              <a:t>Semester</a:t>
            </a:r>
            <a:r>
              <a:rPr sz="1100" spc="35" dirty="0">
                <a:solidFill>
                  <a:srgbClr val="CC0000"/>
                </a:solidFill>
                <a:latin typeface="Arial"/>
                <a:cs typeface="Arial"/>
              </a:rPr>
              <a:t> </a:t>
            </a:r>
            <a:r>
              <a:rPr sz="1100" spc="-10" dirty="0">
                <a:solidFill>
                  <a:srgbClr val="CC0000"/>
                </a:solidFill>
                <a:latin typeface="Arial"/>
                <a:cs typeface="Arial"/>
              </a:rPr>
              <a:t>Freshmen</a:t>
            </a:r>
            <a:endParaRPr sz="1100" dirty="0">
              <a:latin typeface="Arial"/>
              <a:cs typeface="Arial"/>
            </a:endParaRPr>
          </a:p>
        </p:txBody>
      </p:sp>
      <p:sp>
        <p:nvSpPr>
          <p:cNvPr id="3" name="object 3">
            <a:extLst>
              <a:ext uri="{FF2B5EF4-FFF2-40B4-BE49-F238E27FC236}">
                <a16:creationId xmlns:a16="http://schemas.microsoft.com/office/drawing/2014/main" id="{CBF3AEC4-16DE-D251-FCCF-15A128738C98}"/>
              </a:ext>
            </a:extLst>
          </p:cNvPr>
          <p:cNvSpPr txBox="1"/>
          <p:nvPr/>
        </p:nvSpPr>
        <p:spPr>
          <a:xfrm>
            <a:off x="-6214" y="2476746"/>
            <a:ext cx="4610100" cy="462371"/>
          </a:xfrm>
          <a:prstGeom prst="rect">
            <a:avLst/>
          </a:prstGeom>
        </p:spPr>
        <p:txBody>
          <a:bodyPr vert="horz" wrap="square" lIns="0" tIns="6985" rIns="0" bIns="0" rtlCol="0">
            <a:spAutoFit/>
          </a:bodyPr>
          <a:lstStyle/>
          <a:p>
            <a:pPr marL="12065" marR="5080" algn="ctr">
              <a:lnSpc>
                <a:spcPct val="102600"/>
              </a:lnSpc>
              <a:spcBef>
                <a:spcPts val="55"/>
              </a:spcBef>
            </a:pPr>
            <a:r>
              <a:rPr sz="1400" dirty="0">
                <a:latin typeface="Arial"/>
                <a:cs typeface="Arial"/>
              </a:rPr>
              <a:t>Eitel</a:t>
            </a:r>
            <a:r>
              <a:rPr sz="1400" spc="-55" dirty="0">
                <a:latin typeface="Arial"/>
                <a:cs typeface="Arial"/>
              </a:rPr>
              <a:t> </a:t>
            </a:r>
            <a:r>
              <a:rPr lang="en-US" sz="1400" spc="-55" dirty="0">
                <a:latin typeface="Arial"/>
                <a:cs typeface="Arial"/>
              </a:rPr>
              <a:t>J.M. </a:t>
            </a:r>
            <a:r>
              <a:rPr sz="1400" spc="-10" dirty="0" err="1">
                <a:latin typeface="Arial"/>
                <a:cs typeface="Arial"/>
              </a:rPr>
              <a:t>Laur</a:t>
            </a:r>
            <a:r>
              <a:rPr lang="en-US" sz="1400" spc="-10" dirty="0" err="1">
                <a:latin typeface="Arial"/>
                <a:cs typeface="Arial"/>
              </a:rPr>
              <a:t>í</a:t>
            </a:r>
            <a:r>
              <a:rPr sz="1400" spc="-10" dirty="0" err="1">
                <a:latin typeface="Arial"/>
                <a:cs typeface="Arial"/>
              </a:rPr>
              <a:t>a</a:t>
            </a:r>
            <a:endParaRPr sz="1100" dirty="0">
              <a:latin typeface="Arial"/>
              <a:cs typeface="Arial"/>
            </a:endParaRPr>
          </a:p>
          <a:p>
            <a:pPr>
              <a:lnSpc>
                <a:spcPct val="100000"/>
              </a:lnSpc>
              <a:spcBef>
                <a:spcPts val="505"/>
              </a:spcBef>
            </a:pPr>
            <a:endParaRPr sz="1100" dirty="0">
              <a:latin typeface="Arial"/>
              <a:cs typeface="Arial"/>
            </a:endParaRPr>
          </a:p>
        </p:txBody>
      </p:sp>
      <p:pic>
        <p:nvPicPr>
          <p:cNvPr id="1026" name="Picture 2" descr="Brand Management, Communications and ...">
            <a:extLst>
              <a:ext uri="{FF2B5EF4-FFF2-40B4-BE49-F238E27FC236}">
                <a16:creationId xmlns:a16="http://schemas.microsoft.com/office/drawing/2014/main" id="{AB7E113A-3C6E-2A7A-5CBC-D673431062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7850" y="2712777"/>
            <a:ext cx="839515" cy="4526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4BB06FE-D004-7731-98FB-F29A02DDC655}"/>
              </a:ext>
            </a:extLst>
          </p:cNvPr>
          <p:cNvSpPr/>
          <p:nvPr/>
        </p:nvSpPr>
        <p:spPr>
          <a:xfrm>
            <a:off x="0" y="0"/>
            <a:ext cx="4603886" cy="663575"/>
          </a:xfrm>
          <a:prstGeom prst="rect">
            <a:avLst/>
          </a:prstGeom>
          <a:solidFill>
            <a:srgbClr val="C810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8102E"/>
              </a:solidFill>
            </a:endParaRPr>
          </a:p>
        </p:txBody>
      </p:sp>
      <p:sp>
        <p:nvSpPr>
          <p:cNvPr id="4" name="TextBox 3">
            <a:extLst>
              <a:ext uri="{FF2B5EF4-FFF2-40B4-BE49-F238E27FC236}">
                <a16:creationId xmlns:a16="http://schemas.microsoft.com/office/drawing/2014/main" id="{4D16945D-6FF2-28E1-D517-9036AB8377A0}"/>
              </a:ext>
            </a:extLst>
          </p:cNvPr>
          <p:cNvSpPr txBox="1"/>
          <p:nvPr/>
        </p:nvSpPr>
        <p:spPr>
          <a:xfrm>
            <a:off x="1826467" y="3299508"/>
            <a:ext cx="1066801" cy="200055"/>
          </a:xfrm>
          <a:prstGeom prst="rect">
            <a:avLst/>
          </a:prstGeom>
          <a:noFill/>
        </p:spPr>
        <p:txBody>
          <a:bodyPr wrap="square">
            <a:spAutoFit/>
          </a:bodyPr>
          <a:lstStyle/>
          <a:p>
            <a:pPr algn="ctr">
              <a:defRPr sz="1600" b="1">
                <a:solidFill>
                  <a:srgbClr val="BA0C2F"/>
                </a:solidFill>
              </a:defRPr>
            </a:pPr>
            <a:r>
              <a:rPr lang="en-US" sz="700" dirty="0">
                <a:solidFill>
                  <a:schemeClr val="bg1"/>
                </a:solidFill>
                <a:latin typeface="Tahoma" panose="020B0604030504040204" pitchFamily="34" charset="0"/>
                <a:ea typeface="Tahoma" panose="020B0604030504040204" pitchFamily="34" charset="0"/>
                <a:cs typeface="Tahoma" panose="020B0604030504040204" pitchFamily="34" charset="0"/>
              </a:rPr>
              <a:t>November 7, 2025            </a:t>
            </a:r>
          </a:p>
        </p:txBody>
      </p:sp>
      <p:sp>
        <p:nvSpPr>
          <p:cNvPr id="7" name="Rectangle 6">
            <a:extLst>
              <a:ext uri="{FF2B5EF4-FFF2-40B4-BE49-F238E27FC236}">
                <a16:creationId xmlns:a16="http://schemas.microsoft.com/office/drawing/2014/main" id="{0D7DAD7A-B911-D380-BDDB-389CC338F7BF}"/>
              </a:ext>
            </a:extLst>
          </p:cNvPr>
          <p:cNvSpPr/>
          <p:nvPr/>
        </p:nvSpPr>
        <p:spPr>
          <a:xfrm>
            <a:off x="0" y="0"/>
            <a:ext cx="4603886" cy="663575"/>
          </a:xfrm>
          <a:prstGeom prst="rect">
            <a:avLst/>
          </a:prstGeom>
          <a:solidFill>
            <a:srgbClr val="C810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8102E"/>
              </a:solidFill>
            </a:endParaRPr>
          </a:p>
        </p:txBody>
      </p:sp>
      <p:pic>
        <p:nvPicPr>
          <p:cNvPr id="8" name="Picture 7">
            <a:extLst>
              <a:ext uri="{FF2B5EF4-FFF2-40B4-BE49-F238E27FC236}">
                <a16:creationId xmlns:a16="http://schemas.microsoft.com/office/drawing/2014/main" id="{44566D6C-4A6C-F245-757E-B2C51CC205BC}"/>
              </a:ext>
            </a:extLst>
          </p:cNvPr>
          <p:cNvPicPr>
            <a:picLocks noChangeAspect="1"/>
          </p:cNvPicPr>
          <p:nvPr/>
        </p:nvPicPr>
        <p:blipFill>
          <a:blip r:embed="rId4"/>
          <a:stretch>
            <a:fillRect/>
          </a:stretch>
        </p:blipFill>
        <p:spPr>
          <a:xfrm>
            <a:off x="19050" y="4725"/>
            <a:ext cx="841153" cy="658850"/>
          </a:xfrm>
          <a:prstGeom prst="rect">
            <a:avLst/>
          </a:prstGeom>
        </p:spPr>
      </p:pic>
      <p:sp>
        <p:nvSpPr>
          <p:cNvPr id="10" name="TextBox 9">
            <a:extLst>
              <a:ext uri="{FF2B5EF4-FFF2-40B4-BE49-F238E27FC236}">
                <a16:creationId xmlns:a16="http://schemas.microsoft.com/office/drawing/2014/main" id="{2C8F2096-15D4-AF7B-7D22-D392999E4037}"/>
              </a:ext>
            </a:extLst>
          </p:cNvPr>
          <p:cNvSpPr txBox="1"/>
          <p:nvPr/>
        </p:nvSpPr>
        <p:spPr>
          <a:xfrm>
            <a:off x="-6214" y="216371"/>
            <a:ext cx="4616314" cy="307777"/>
          </a:xfrm>
          <a:prstGeom prst="rect">
            <a:avLst/>
          </a:prstGeom>
          <a:noFill/>
        </p:spPr>
        <p:txBody>
          <a:bodyPr wrap="square">
            <a:spAutoFit/>
          </a:bodyPr>
          <a:lstStyle/>
          <a:p>
            <a:pPr algn="ctr">
              <a:defRPr sz="1600" b="1">
                <a:solidFill>
                  <a:srgbClr val="BA0C2F"/>
                </a:solidFill>
              </a:defRPr>
            </a:pPr>
            <a:r>
              <a:rPr lang="en-US" sz="1400" b="1" dirty="0">
                <a:solidFill>
                  <a:schemeClr val="bg1"/>
                </a:solidFill>
              </a:rPr>
              <a:t>    Marist Computing Conference</a:t>
            </a:r>
          </a:p>
        </p:txBody>
      </p:sp>
      <p:pic>
        <p:nvPicPr>
          <p:cNvPr id="11" name="Picture 10">
            <a:extLst>
              <a:ext uri="{FF2B5EF4-FFF2-40B4-BE49-F238E27FC236}">
                <a16:creationId xmlns:a16="http://schemas.microsoft.com/office/drawing/2014/main" id="{3DABCBD5-52F6-B9CC-0AE3-4FFAA24EFB39}"/>
              </a:ext>
            </a:extLst>
          </p:cNvPr>
          <p:cNvPicPr>
            <a:picLocks noChangeAspect="1"/>
          </p:cNvPicPr>
          <p:nvPr/>
        </p:nvPicPr>
        <p:blipFill>
          <a:blip r:embed="rId5"/>
          <a:stretch>
            <a:fillRect/>
          </a:stretch>
        </p:blipFill>
        <p:spPr>
          <a:xfrm>
            <a:off x="3952353" y="0"/>
            <a:ext cx="663576" cy="663576"/>
          </a:xfrm>
          <a:prstGeom prst="rect">
            <a:avLst/>
          </a:prstGeom>
        </p:spPr>
      </p:pic>
    </p:spTree>
    <p:extLst>
      <p:ext uri="{BB962C8B-B14F-4D97-AF65-F5344CB8AC3E}">
        <p14:creationId xmlns:p14="http://schemas.microsoft.com/office/powerpoint/2010/main" val="2983440517"/>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Motivation</a:t>
            </a:r>
          </a:p>
        </p:txBody>
      </p:sp>
      <p:sp>
        <p:nvSpPr>
          <p:cNvPr id="13" name="TextBox 12">
            <a:extLst>
              <a:ext uri="{FF2B5EF4-FFF2-40B4-BE49-F238E27FC236}">
                <a16:creationId xmlns:a16="http://schemas.microsoft.com/office/drawing/2014/main" id="{10F9663C-7E3B-C758-0D3F-A0C2233532E5}"/>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5" name="TextBox 14">
            <a:extLst>
              <a:ext uri="{FF2B5EF4-FFF2-40B4-BE49-F238E27FC236}">
                <a16:creationId xmlns:a16="http://schemas.microsoft.com/office/drawing/2014/main" id="{A41FE0AE-129D-D030-C4FF-186C4F4E3618}"/>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9" name="TextBox 8">
            <a:extLst>
              <a:ext uri="{FF2B5EF4-FFF2-40B4-BE49-F238E27FC236}">
                <a16:creationId xmlns:a16="http://schemas.microsoft.com/office/drawing/2014/main" id="{CB0146B5-17FA-9B13-CB6E-C4E978D68FA6}"/>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11" name="TextBox 10">
            <a:extLst>
              <a:ext uri="{FF2B5EF4-FFF2-40B4-BE49-F238E27FC236}">
                <a16:creationId xmlns:a16="http://schemas.microsoft.com/office/drawing/2014/main" id="{19B0A1A7-E1F9-A378-C88D-E7B64226C8BF}"/>
              </a:ext>
            </a:extLst>
          </p:cNvPr>
          <p:cNvSpPr txBox="1"/>
          <p:nvPr/>
        </p:nvSpPr>
        <p:spPr>
          <a:xfrm>
            <a:off x="142448" y="852879"/>
            <a:ext cx="4465747" cy="1607941"/>
          </a:xfrm>
          <a:prstGeom prst="rect">
            <a:avLst/>
          </a:prstGeom>
          <a:noFill/>
        </p:spPr>
        <p:txBody>
          <a:bodyPr wrap="square">
            <a:spAutoFit/>
          </a:bodyPr>
          <a:lstStyle/>
          <a:p>
            <a:pPr marL="184150" marR="5080" indent="-171450">
              <a:lnSpc>
                <a:spcPct val="102600"/>
              </a:lnSpc>
              <a:spcBef>
                <a:spcPts val="1200"/>
              </a:spcBef>
              <a:buFont typeface="Arial" panose="020B0604020202020204" pitchFamily="34" charset="0"/>
              <a:buChar char="•"/>
            </a:pPr>
            <a:r>
              <a:rPr lang="en-US" sz="1100" spc="-45" dirty="0">
                <a:latin typeface="Arial"/>
                <a:cs typeface="Arial"/>
              </a:rPr>
              <a:t>Part-</a:t>
            </a:r>
            <a:r>
              <a:rPr lang="en-US" sz="1100" dirty="0">
                <a:latin typeface="Arial"/>
                <a:cs typeface="Arial"/>
              </a:rPr>
              <a:t>time</a:t>
            </a:r>
            <a:r>
              <a:rPr lang="en-US" sz="1100" spc="10" dirty="0">
                <a:latin typeface="Arial"/>
                <a:cs typeface="Arial"/>
              </a:rPr>
              <a:t> </a:t>
            </a:r>
            <a:r>
              <a:rPr lang="en-US" sz="1100" dirty="0">
                <a:latin typeface="Arial"/>
                <a:cs typeface="Arial"/>
              </a:rPr>
              <a:t>(PT)</a:t>
            </a:r>
            <a:r>
              <a:rPr lang="en-US" sz="1100" spc="15" dirty="0">
                <a:latin typeface="Arial"/>
                <a:cs typeface="Arial"/>
              </a:rPr>
              <a:t> </a:t>
            </a:r>
            <a:r>
              <a:rPr lang="en-US" sz="1100" spc="-10" dirty="0">
                <a:latin typeface="Arial"/>
                <a:cs typeface="Arial"/>
              </a:rPr>
              <a:t>faculty</a:t>
            </a:r>
            <a:r>
              <a:rPr lang="en-US" sz="1100" spc="10" dirty="0">
                <a:latin typeface="Arial"/>
                <a:cs typeface="Arial"/>
              </a:rPr>
              <a:t> </a:t>
            </a:r>
            <a:r>
              <a:rPr lang="en-US" sz="1100" spc="-55" dirty="0">
                <a:latin typeface="Arial"/>
                <a:cs typeface="Arial"/>
              </a:rPr>
              <a:t>represent</a:t>
            </a:r>
            <a:r>
              <a:rPr lang="en-US" sz="1100" spc="15" dirty="0">
                <a:latin typeface="Arial"/>
                <a:cs typeface="Arial"/>
              </a:rPr>
              <a:t> </a:t>
            </a:r>
            <a:r>
              <a:rPr lang="en-US" sz="1100" spc="-20" dirty="0">
                <a:latin typeface="Cambria"/>
                <a:cs typeface="Cambria"/>
              </a:rPr>
              <a:t>∼</a:t>
            </a:r>
            <a:r>
              <a:rPr lang="en-US" sz="1100" spc="-20" dirty="0">
                <a:latin typeface="Arial"/>
                <a:cs typeface="Arial"/>
              </a:rPr>
              <a:t>44%</a:t>
            </a:r>
            <a:r>
              <a:rPr lang="en-US" sz="1100" spc="10" dirty="0">
                <a:latin typeface="Arial"/>
                <a:cs typeface="Arial"/>
              </a:rPr>
              <a:t> </a:t>
            </a:r>
            <a:r>
              <a:rPr lang="en-US" sz="1100" dirty="0">
                <a:latin typeface="Arial"/>
                <a:cs typeface="Arial"/>
              </a:rPr>
              <a:t>of</a:t>
            </a:r>
            <a:r>
              <a:rPr lang="en-US" sz="1100" spc="15" dirty="0">
                <a:latin typeface="Arial"/>
                <a:cs typeface="Arial"/>
              </a:rPr>
              <a:t> </a:t>
            </a:r>
            <a:r>
              <a:rPr lang="en-US" sz="1100" spc="-25" dirty="0">
                <a:latin typeface="Arial"/>
                <a:cs typeface="Arial"/>
              </a:rPr>
              <a:t>U.S.</a:t>
            </a:r>
            <a:r>
              <a:rPr lang="en-US" sz="1100" spc="10" dirty="0">
                <a:latin typeface="Arial"/>
                <a:cs typeface="Arial"/>
              </a:rPr>
              <a:t> </a:t>
            </a:r>
            <a:r>
              <a:rPr lang="en-US" sz="1100" spc="-10" dirty="0">
                <a:latin typeface="Arial"/>
                <a:cs typeface="Arial"/>
              </a:rPr>
              <a:t>faculty</a:t>
            </a:r>
            <a:r>
              <a:rPr lang="en-US" sz="1100" spc="15" dirty="0">
                <a:latin typeface="Arial"/>
                <a:cs typeface="Arial"/>
              </a:rPr>
              <a:t> </a:t>
            </a:r>
            <a:r>
              <a:rPr lang="en-US" sz="1100" spc="-30" dirty="0">
                <a:latin typeface="Arial"/>
                <a:cs typeface="Arial"/>
              </a:rPr>
              <a:t>(NCES </a:t>
            </a:r>
            <a:r>
              <a:rPr lang="en-US" sz="1100" spc="-10" dirty="0">
                <a:latin typeface="Arial"/>
                <a:cs typeface="Arial"/>
              </a:rPr>
              <a:t>2024).</a:t>
            </a:r>
            <a:endParaRPr lang="en-US" sz="1100" dirty="0">
              <a:latin typeface="Arial"/>
              <a:cs typeface="Arial"/>
            </a:endParaRPr>
          </a:p>
          <a:p>
            <a:pPr marL="184150" marR="205740" indent="-171450">
              <a:lnSpc>
                <a:spcPct val="113199"/>
              </a:lnSpc>
              <a:spcBef>
                <a:spcPts val="1200"/>
              </a:spcBef>
              <a:buFont typeface="Arial" panose="020B0604020202020204" pitchFamily="34" charset="0"/>
              <a:buChar char="•"/>
            </a:pPr>
            <a:r>
              <a:rPr lang="en-US" sz="1100" spc="-45" dirty="0">
                <a:latin typeface="Arial"/>
                <a:cs typeface="Arial"/>
              </a:rPr>
              <a:t>Ongoing</a:t>
            </a:r>
            <a:r>
              <a:rPr lang="en-US" sz="1100" spc="-20" dirty="0">
                <a:latin typeface="Arial"/>
                <a:cs typeface="Arial"/>
              </a:rPr>
              <a:t> </a:t>
            </a:r>
            <a:r>
              <a:rPr lang="en-US" sz="1100" spc="-35" dirty="0">
                <a:latin typeface="Arial"/>
                <a:cs typeface="Arial"/>
              </a:rPr>
              <a:t>debate:</a:t>
            </a:r>
            <a:r>
              <a:rPr lang="en-US" sz="1100" spc="75" dirty="0">
                <a:latin typeface="Arial"/>
                <a:cs typeface="Arial"/>
              </a:rPr>
              <a:t> </a:t>
            </a:r>
            <a:r>
              <a:rPr lang="en-US" sz="1100" dirty="0">
                <a:latin typeface="Arial"/>
                <a:cs typeface="Arial"/>
              </a:rPr>
              <a:t>do</a:t>
            </a:r>
            <a:r>
              <a:rPr lang="en-US" sz="1100" spc="-20" dirty="0">
                <a:latin typeface="Arial"/>
                <a:cs typeface="Arial"/>
              </a:rPr>
              <a:t> </a:t>
            </a:r>
            <a:r>
              <a:rPr lang="en-US" sz="1100" dirty="0">
                <a:latin typeface="Arial"/>
                <a:cs typeface="Arial"/>
              </a:rPr>
              <a:t>PT</a:t>
            </a:r>
            <a:r>
              <a:rPr lang="en-US" sz="1100" spc="-20" dirty="0">
                <a:latin typeface="Arial"/>
                <a:cs typeface="Arial"/>
              </a:rPr>
              <a:t> </a:t>
            </a:r>
            <a:r>
              <a:rPr lang="en-US" sz="1100" spc="-25" dirty="0">
                <a:latin typeface="Arial"/>
                <a:cs typeface="Arial"/>
              </a:rPr>
              <a:t>instructors</a:t>
            </a:r>
            <a:r>
              <a:rPr lang="en-US" sz="1100" spc="-20" dirty="0">
                <a:latin typeface="Arial"/>
                <a:cs typeface="Arial"/>
              </a:rPr>
              <a:t> </a:t>
            </a:r>
            <a:r>
              <a:rPr lang="en-US" sz="1100" spc="-35" dirty="0">
                <a:latin typeface="Arial"/>
                <a:cs typeface="Arial"/>
              </a:rPr>
              <a:t>help</a:t>
            </a:r>
            <a:r>
              <a:rPr lang="en-US" sz="1100" spc="-20" dirty="0">
                <a:latin typeface="Arial"/>
                <a:cs typeface="Arial"/>
              </a:rPr>
              <a:t> </a:t>
            </a:r>
            <a:r>
              <a:rPr lang="en-US" sz="1100" dirty="0">
                <a:latin typeface="Arial"/>
                <a:cs typeface="Arial"/>
              </a:rPr>
              <a:t>or</a:t>
            </a:r>
            <a:r>
              <a:rPr lang="en-US" sz="1100" spc="-20" dirty="0">
                <a:latin typeface="Arial"/>
                <a:cs typeface="Arial"/>
              </a:rPr>
              <a:t> </a:t>
            </a:r>
            <a:r>
              <a:rPr lang="en-US" sz="1100" spc="-30" dirty="0">
                <a:latin typeface="Arial"/>
                <a:cs typeface="Arial"/>
              </a:rPr>
              <a:t>harm</a:t>
            </a:r>
            <a:r>
              <a:rPr lang="en-US" sz="1100" spc="-20" dirty="0">
                <a:latin typeface="Arial"/>
                <a:cs typeface="Arial"/>
              </a:rPr>
              <a:t> </a:t>
            </a:r>
            <a:r>
              <a:rPr lang="en-US" sz="1100" spc="-40" dirty="0">
                <a:latin typeface="Arial"/>
                <a:cs typeface="Arial"/>
              </a:rPr>
              <a:t>students?</a:t>
            </a:r>
          </a:p>
          <a:p>
            <a:pPr marL="184150" marR="205740" indent="-171450">
              <a:lnSpc>
                <a:spcPct val="113199"/>
              </a:lnSpc>
              <a:spcBef>
                <a:spcPts val="1200"/>
              </a:spcBef>
              <a:buFont typeface="Arial" panose="020B0604020202020204" pitchFamily="34" charset="0"/>
              <a:buChar char="•"/>
            </a:pPr>
            <a:r>
              <a:rPr lang="en-US" sz="1100" dirty="0">
                <a:latin typeface="Arial"/>
                <a:cs typeface="Arial"/>
              </a:rPr>
              <a:t>Why</a:t>
            </a:r>
            <a:r>
              <a:rPr lang="en-US" sz="1100" spc="-25" dirty="0">
                <a:latin typeface="Arial"/>
                <a:cs typeface="Arial"/>
              </a:rPr>
              <a:t> </a:t>
            </a:r>
            <a:r>
              <a:rPr lang="en-US" sz="1100" spc="-35" dirty="0">
                <a:latin typeface="Arial"/>
                <a:cs typeface="Arial"/>
              </a:rPr>
              <a:t>focus</a:t>
            </a:r>
            <a:r>
              <a:rPr lang="en-US" sz="1100" spc="-25" dirty="0">
                <a:latin typeface="Arial"/>
                <a:cs typeface="Arial"/>
              </a:rPr>
              <a:t> </a:t>
            </a:r>
            <a:r>
              <a:rPr lang="en-US" sz="1100" dirty="0">
                <a:latin typeface="Arial"/>
                <a:cs typeface="Arial"/>
              </a:rPr>
              <a:t>on</a:t>
            </a:r>
            <a:r>
              <a:rPr lang="en-US" sz="1100" spc="-25" dirty="0">
                <a:latin typeface="Arial"/>
                <a:cs typeface="Arial"/>
              </a:rPr>
              <a:t> </a:t>
            </a:r>
            <a:r>
              <a:rPr lang="en-US" sz="1100" spc="-40" dirty="0">
                <a:latin typeface="Arial"/>
                <a:cs typeface="Arial"/>
              </a:rPr>
              <a:t>first-</a:t>
            </a:r>
            <a:r>
              <a:rPr lang="en-US" sz="1100" spc="-45" dirty="0">
                <a:latin typeface="Arial"/>
                <a:cs typeface="Arial"/>
              </a:rPr>
              <a:t>semester</a:t>
            </a:r>
            <a:r>
              <a:rPr lang="en-US" sz="1100" spc="-25" dirty="0">
                <a:latin typeface="Arial"/>
                <a:cs typeface="Arial"/>
              </a:rPr>
              <a:t> </a:t>
            </a:r>
            <a:r>
              <a:rPr lang="en-US" sz="1100" spc="-10" dirty="0">
                <a:latin typeface="Arial"/>
                <a:cs typeface="Arial"/>
              </a:rPr>
              <a:t>freshmen?</a:t>
            </a:r>
          </a:p>
          <a:p>
            <a:pPr marL="342900" marR="205740" lvl="1" indent="-171450">
              <a:lnSpc>
                <a:spcPct val="113199"/>
              </a:lnSpc>
              <a:spcBef>
                <a:spcPts val="1200"/>
              </a:spcBef>
              <a:buFont typeface="Courier New" panose="02070309020205020404" pitchFamily="49" charset="0"/>
              <a:buChar char="o"/>
            </a:pPr>
            <a:r>
              <a:rPr lang="en-US" sz="1000" spc="-25" dirty="0">
                <a:latin typeface="Arial"/>
                <a:cs typeface="Arial"/>
              </a:rPr>
              <a:t>Early</a:t>
            </a:r>
            <a:r>
              <a:rPr lang="en-US" sz="1000" dirty="0">
                <a:latin typeface="Arial"/>
                <a:cs typeface="Arial"/>
              </a:rPr>
              <a:t> </a:t>
            </a:r>
            <a:r>
              <a:rPr lang="en-US" sz="1000" spc="-50" dirty="0">
                <a:latin typeface="Arial"/>
                <a:cs typeface="Arial"/>
              </a:rPr>
              <a:t>academic</a:t>
            </a:r>
            <a:r>
              <a:rPr lang="en-US" sz="1000" dirty="0">
                <a:latin typeface="Arial"/>
                <a:cs typeface="Arial"/>
              </a:rPr>
              <a:t> </a:t>
            </a:r>
            <a:r>
              <a:rPr lang="en-US" sz="1000" spc="-60" dirty="0">
                <a:latin typeface="Arial"/>
                <a:cs typeface="Arial"/>
              </a:rPr>
              <a:t>experiences</a:t>
            </a:r>
            <a:r>
              <a:rPr lang="en-US" sz="1000" dirty="0">
                <a:latin typeface="Arial"/>
                <a:cs typeface="Arial"/>
              </a:rPr>
              <a:t> </a:t>
            </a:r>
            <a:r>
              <a:rPr lang="en-US" sz="1000" spc="-20" dirty="0">
                <a:latin typeface="Arial"/>
                <a:cs typeface="Arial"/>
              </a:rPr>
              <a:t>strongly</a:t>
            </a:r>
            <a:r>
              <a:rPr lang="en-US" sz="1000" spc="5" dirty="0">
                <a:latin typeface="Arial"/>
                <a:cs typeface="Arial"/>
              </a:rPr>
              <a:t> </a:t>
            </a:r>
            <a:r>
              <a:rPr lang="en-US" sz="1000" spc="-70" dirty="0">
                <a:latin typeface="Arial"/>
                <a:cs typeface="Arial"/>
              </a:rPr>
              <a:t>shape</a:t>
            </a:r>
            <a:r>
              <a:rPr lang="en-US" sz="1000" spc="5" dirty="0">
                <a:latin typeface="Arial"/>
                <a:cs typeface="Arial"/>
              </a:rPr>
              <a:t> </a:t>
            </a:r>
            <a:r>
              <a:rPr lang="en-US" sz="1000" spc="-10" dirty="0">
                <a:latin typeface="Arial"/>
                <a:cs typeface="Arial"/>
              </a:rPr>
              <a:t>persistence.</a:t>
            </a:r>
            <a:endParaRPr lang="en-US" sz="1000" dirty="0">
              <a:latin typeface="Arial"/>
              <a:cs typeface="Arial"/>
            </a:endParaRPr>
          </a:p>
          <a:p>
            <a:pPr marL="184150" indent="-171450">
              <a:lnSpc>
                <a:spcPct val="100000"/>
              </a:lnSpc>
              <a:spcBef>
                <a:spcPts val="1200"/>
              </a:spcBef>
              <a:buFont typeface="Arial" panose="020B0604020202020204" pitchFamily="34" charset="0"/>
              <a:buChar char="•"/>
            </a:pPr>
            <a:r>
              <a:rPr lang="en-US" sz="1100" spc="-30" dirty="0">
                <a:latin typeface="Arial"/>
                <a:cs typeface="Arial"/>
              </a:rPr>
              <a:t>Past</a:t>
            </a:r>
            <a:r>
              <a:rPr lang="en-US" sz="1100" spc="-15" dirty="0">
                <a:latin typeface="Arial"/>
                <a:cs typeface="Arial"/>
              </a:rPr>
              <a:t> </a:t>
            </a:r>
            <a:r>
              <a:rPr lang="en-US" sz="1100" spc="-50" dirty="0">
                <a:latin typeface="Arial"/>
                <a:cs typeface="Arial"/>
              </a:rPr>
              <a:t>studies</a:t>
            </a:r>
            <a:r>
              <a:rPr lang="en-US" sz="1100" spc="-15" dirty="0">
                <a:latin typeface="Arial"/>
                <a:cs typeface="Arial"/>
              </a:rPr>
              <a:t> </a:t>
            </a:r>
            <a:r>
              <a:rPr lang="en-US" sz="1100" dirty="0">
                <a:latin typeface="Arial"/>
                <a:cs typeface="Arial"/>
              </a:rPr>
              <a:t>often</a:t>
            </a:r>
            <a:r>
              <a:rPr lang="en-US" sz="1100" spc="-10" dirty="0">
                <a:latin typeface="Arial"/>
                <a:cs typeface="Arial"/>
              </a:rPr>
              <a:t> </a:t>
            </a:r>
            <a:r>
              <a:rPr lang="en-US" sz="1100" spc="-45" dirty="0">
                <a:latin typeface="Arial"/>
                <a:cs typeface="Arial"/>
              </a:rPr>
              <a:t>associational,</a:t>
            </a:r>
            <a:r>
              <a:rPr lang="en-US" sz="1100" spc="-15" dirty="0">
                <a:latin typeface="Arial"/>
                <a:cs typeface="Arial"/>
              </a:rPr>
              <a:t> </a:t>
            </a:r>
            <a:r>
              <a:rPr lang="en-US" sz="1100" dirty="0">
                <a:latin typeface="Arial"/>
                <a:cs typeface="Arial"/>
              </a:rPr>
              <a:t>not</a:t>
            </a:r>
            <a:r>
              <a:rPr lang="en-US" sz="1100" spc="-10" dirty="0">
                <a:latin typeface="Arial"/>
                <a:cs typeface="Arial"/>
              </a:rPr>
              <a:t> causal.</a:t>
            </a:r>
            <a:endParaRPr lang="en-US" sz="1100" dirty="0">
              <a:latin typeface="Arial"/>
              <a:cs typeface="Arial"/>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dirty="0"/>
              <a:t>Why</a:t>
            </a:r>
            <a:r>
              <a:rPr spc="-60" dirty="0"/>
              <a:t> </a:t>
            </a:r>
            <a:r>
              <a:rPr spc="-25" dirty="0"/>
              <a:t>Causal</a:t>
            </a:r>
            <a:r>
              <a:rPr spc="-55" dirty="0"/>
              <a:t> </a:t>
            </a:r>
            <a:r>
              <a:rPr spc="-10" dirty="0"/>
              <a:t>Inference?</a:t>
            </a:r>
          </a:p>
        </p:txBody>
      </p:sp>
      <mc:AlternateContent xmlns:mc="http://schemas.openxmlformats.org/markup-compatibility/2006" xmlns:a14="http://schemas.microsoft.com/office/drawing/2010/main">
        <mc:Choice Requires="a14">
          <p:sp>
            <p:nvSpPr>
              <p:cNvPr id="8" name="object 8"/>
              <p:cNvSpPr txBox="1"/>
              <p:nvPr/>
            </p:nvSpPr>
            <p:spPr>
              <a:xfrm>
                <a:off x="162022" y="787682"/>
                <a:ext cx="4167188" cy="1424044"/>
              </a:xfrm>
              <a:prstGeom prst="rect">
                <a:avLst/>
              </a:prstGeom>
            </p:spPr>
            <p:txBody>
              <a:bodyPr vert="horz" wrap="square" lIns="0" tIns="12700" rIns="0" bIns="0" rtlCol="0">
                <a:spAutoFit/>
              </a:bodyPr>
              <a:lstStyle/>
              <a:p>
                <a:pPr marL="184150" marR="48260" indent="-171450">
                  <a:lnSpc>
                    <a:spcPct val="113199"/>
                  </a:lnSpc>
                  <a:spcBef>
                    <a:spcPts val="100"/>
                  </a:spcBef>
                  <a:buFont typeface="Arial" panose="020B0604020202020204" pitchFamily="34" charset="0"/>
                  <a:buChar char="•"/>
                </a:pPr>
                <a:r>
                  <a:rPr lang="en-US" sz="1400" spc="-45" dirty="0">
                    <a:latin typeface="Arial"/>
                    <a:cs typeface="Arial"/>
                  </a:rPr>
                  <a:t>Observational</a:t>
                </a:r>
                <a:r>
                  <a:rPr lang="en-US" sz="1400" spc="15" dirty="0">
                    <a:latin typeface="Arial"/>
                    <a:cs typeface="Arial"/>
                  </a:rPr>
                  <a:t> </a:t>
                </a:r>
                <a:r>
                  <a:rPr lang="en-US" sz="1400" spc="-10" dirty="0">
                    <a:latin typeface="Arial"/>
                    <a:cs typeface="Arial"/>
                  </a:rPr>
                  <a:t>data</a:t>
                </a:r>
                <a14:m>
                  <m:oMath xmlns:m="http://schemas.openxmlformats.org/officeDocument/2006/math">
                    <m:r>
                      <a:rPr lang="en-US" sz="1400" b="0" i="0" spc="15" dirty="0" smtClean="0">
                        <a:latin typeface="Cambria Math" panose="02040503050406030204" pitchFamily="18" charset="0"/>
                        <a:ea typeface="Cambria Math" panose="02040503050406030204" pitchFamily="18" charset="0"/>
                        <a:cs typeface="Arial"/>
                      </a:rPr>
                      <m:t> </m:t>
                    </m:r>
                    <m:r>
                      <a:rPr lang="en-US" sz="1400" i="1" spc="15" dirty="0" smtClean="0">
                        <a:latin typeface="Cambria Math" panose="02040503050406030204" pitchFamily="18" charset="0"/>
                        <a:ea typeface="Cambria Math" panose="02040503050406030204" pitchFamily="18" charset="0"/>
                        <a:cs typeface="Arial"/>
                      </a:rPr>
                      <m:t>≠</m:t>
                    </m:r>
                    <m:r>
                      <a:rPr lang="en-US" sz="1400" b="0" i="1" spc="15" dirty="0" smtClean="0">
                        <a:latin typeface="Cambria Math" panose="02040503050406030204" pitchFamily="18" charset="0"/>
                        <a:ea typeface="Cambria Math" panose="02040503050406030204" pitchFamily="18" charset="0"/>
                        <a:cs typeface="Arial"/>
                      </a:rPr>
                      <m:t> </m:t>
                    </m:r>
                  </m:oMath>
                </a14:m>
                <a:r>
                  <a:rPr lang="en-US" sz="1400" spc="-55" dirty="0">
                    <a:latin typeface="Arial"/>
                    <a:cs typeface="Arial"/>
                  </a:rPr>
                  <a:t>randomized </a:t>
                </a:r>
                <a:r>
                  <a:rPr lang="en-US" sz="1400" spc="-45" dirty="0">
                    <a:latin typeface="Arial"/>
                    <a:cs typeface="Arial"/>
                  </a:rPr>
                  <a:t>experiments. </a:t>
                </a:r>
              </a:p>
              <a:p>
                <a:pPr marL="184150" indent="-171450">
                  <a:lnSpc>
                    <a:spcPct val="100000"/>
                  </a:lnSpc>
                  <a:spcBef>
                    <a:spcPts val="355"/>
                  </a:spcBef>
                  <a:buFont typeface="Arial" panose="020B0604020202020204" pitchFamily="34" charset="0"/>
                  <a:buChar char="•"/>
                </a:pPr>
                <a:endParaRPr lang="en-US" sz="1400" spc="-75" dirty="0">
                  <a:latin typeface="Arial"/>
                  <a:cs typeface="Arial"/>
                </a:endParaRPr>
              </a:p>
              <a:p>
                <a:pPr marL="184150" indent="-171450">
                  <a:lnSpc>
                    <a:spcPct val="100000"/>
                  </a:lnSpc>
                  <a:spcBef>
                    <a:spcPts val="355"/>
                  </a:spcBef>
                  <a:buFont typeface="Arial" panose="020B0604020202020204" pitchFamily="34" charset="0"/>
                  <a:buChar char="•"/>
                </a:pPr>
                <a:r>
                  <a:rPr lang="en-US" sz="1400" spc="-75" dirty="0">
                    <a:latin typeface="Arial"/>
                    <a:cs typeface="Arial"/>
                  </a:rPr>
                  <a:t>Causal</a:t>
                </a:r>
                <a:r>
                  <a:rPr lang="en-US" sz="1400" spc="20" dirty="0">
                    <a:latin typeface="Arial"/>
                    <a:cs typeface="Arial"/>
                  </a:rPr>
                  <a:t> </a:t>
                </a:r>
                <a:r>
                  <a:rPr lang="en-US" sz="1400" spc="-50" dirty="0">
                    <a:latin typeface="Arial"/>
                    <a:cs typeface="Arial"/>
                  </a:rPr>
                  <a:t>inference</a:t>
                </a:r>
                <a:r>
                  <a:rPr lang="en-US" sz="1400" spc="25" dirty="0">
                    <a:latin typeface="Arial"/>
                    <a:cs typeface="Arial"/>
                  </a:rPr>
                  <a:t> </a:t>
                </a:r>
                <a:r>
                  <a:rPr lang="en-US" sz="1400" spc="200" dirty="0">
                    <a:latin typeface="Arial"/>
                    <a:cs typeface="Arial"/>
                  </a:rPr>
                  <a:t>=</a:t>
                </a:r>
                <a:r>
                  <a:rPr lang="en-US" sz="1400" spc="25" dirty="0">
                    <a:latin typeface="Arial"/>
                    <a:cs typeface="Arial"/>
                  </a:rPr>
                  <a:t> </a:t>
                </a:r>
                <a:r>
                  <a:rPr lang="en-US" sz="1400" spc="-10" dirty="0">
                    <a:latin typeface="Arial"/>
                    <a:cs typeface="Arial"/>
                  </a:rPr>
                  <a:t>tools</a:t>
                </a:r>
                <a:r>
                  <a:rPr lang="en-US" sz="1400" spc="25" dirty="0">
                    <a:latin typeface="Arial"/>
                    <a:cs typeface="Arial"/>
                  </a:rPr>
                  <a:t> </a:t>
                </a:r>
                <a:r>
                  <a:rPr lang="en-US" sz="1400" dirty="0">
                    <a:latin typeface="Arial"/>
                    <a:cs typeface="Arial"/>
                  </a:rPr>
                  <a:t>to</a:t>
                </a:r>
                <a:r>
                  <a:rPr lang="en-US" sz="1400" spc="20" dirty="0">
                    <a:latin typeface="Arial"/>
                    <a:cs typeface="Arial"/>
                  </a:rPr>
                  <a:t> </a:t>
                </a:r>
                <a:r>
                  <a:rPr lang="en-US" sz="1400" spc="-10" dirty="0">
                    <a:latin typeface="Arial"/>
                    <a:cs typeface="Arial"/>
                  </a:rPr>
                  <a:t>answer:</a:t>
                </a:r>
                <a:endParaRPr lang="en-US" sz="1400" dirty="0">
                  <a:latin typeface="Arial"/>
                  <a:cs typeface="Arial"/>
                </a:endParaRPr>
              </a:p>
              <a:p>
                <a:pPr marL="401638" marR="5080" lvl="1" indent="-171450">
                  <a:lnSpc>
                    <a:spcPct val="102600"/>
                  </a:lnSpc>
                  <a:buFont typeface="Courier New" panose="02070309020205020404" pitchFamily="49" charset="0"/>
                  <a:buChar char="o"/>
                </a:pPr>
                <a:r>
                  <a:rPr lang="en-US" sz="1200" i="1" dirty="0">
                    <a:latin typeface="Arial"/>
                    <a:cs typeface="Arial"/>
                  </a:rPr>
                  <a:t>What</a:t>
                </a:r>
                <a:r>
                  <a:rPr lang="en-US" sz="1200" i="1" spc="-10" dirty="0">
                    <a:latin typeface="Arial"/>
                    <a:cs typeface="Arial"/>
                  </a:rPr>
                  <a:t> </a:t>
                </a:r>
                <a:r>
                  <a:rPr lang="en-US" sz="1200" i="1" spc="-35" dirty="0">
                    <a:latin typeface="Arial"/>
                    <a:cs typeface="Arial"/>
                  </a:rPr>
                  <a:t>would</a:t>
                </a:r>
                <a:r>
                  <a:rPr lang="en-US" sz="1200" i="1" spc="5" dirty="0">
                    <a:latin typeface="Arial"/>
                    <a:cs typeface="Arial"/>
                  </a:rPr>
                  <a:t> </a:t>
                </a:r>
                <a:r>
                  <a:rPr lang="en-US" sz="1200" i="1" spc="-70" dirty="0">
                    <a:latin typeface="Arial"/>
                    <a:cs typeface="Arial"/>
                  </a:rPr>
                  <a:t>have</a:t>
                </a:r>
                <a:r>
                  <a:rPr lang="en-US" sz="1200" i="1" spc="10" dirty="0">
                    <a:latin typeface="Arial"/>
                    <a:cs typeface="Arial"/>
                  </a:rPr>
                  <a:t> </a:t>
                </a:r>
                <a:r>
                  <a:rPr lang="en-US" sz="1200" i="1" spc="-65" dirty="0">
                    <a:latin typeface="Arial"/>
                    <a:cs typeface="Arial"/>
                  </a:rPr>
                  <a:t>happened</a:t>
                </a:r>
                <a:r>
                  <a:rPr lang="en-US" sz="1200" i="1" spc="10" dirty="0">
                    <a:latin typeface="Arial"/>
                    <a:cs typeface="Arial"/>
                  </a:rPr>
                  <a:t> </a:t>
                </a:r>
                <a:r>
                  <a:rPr lang="en-US" sz="1200" i="1" dirty="0">
                    <a:latin typeface="Arial"/>
                    <a:cs typeface="Arial"/>
                  </a:rPr>
                  <a:t>if</a:t>
                </a:r>
                <a:r>
                  <a:rPr lang="en-US" sz="1200" i="1" spc="5" dirty="0">
                    <a:latin typeface="Arial"/>
                    <a:cs typeface="Arial"/>
                  </a:rPr>
                  <a:t> </a:t>
                </a:r>
                <a:r>
                  <a:rPr lang="en-US" sz="1200" i="1" dirty="0">
                    <a:latin typeface="Arial"/>
                    <a:cs typeface="Arial"/>
                  </a:rPr>
                  <a:t>the</a:t>
                </a:r>
                <a:r>
                  <a:rPr lang="en-US" sz="1200" i="1" spc="10" dirty="0">
                    <a:latin typeface="Arial"/>
                    <a:cs typeface="Arial"/>
                  </a:rPr>
                  <a:t> </a:t>
                </a:r>
                <a:r>
                  <a:rPr lang="en-US" sz="1200" i="1" spc="-100" dirty="0">
                    <a:latin typeface="Arial"/>
                    <a:cs typeface="Arial"/>
                  </a:rPr>
                  <a:t>same</a:t>
                </a:r>
                <a:r>
                  <a:rPr lang="en-US" sz="1200" i="1" spc="25" dirty="0">
                    <a:latin typeface="Arial"/>
                    <a:cs typeface="Arial"/>
                  </a:rPr>
                  <a:t> </a:t>
                </a:r>
                <a:r>
                  <a:rPr lang="en-US" sz="1200" i="1" spc="-20" dirty="0">
                    <a:latin typeface="Arial"/>
                    <a:cs typeface="Arial"/>
                  </a:rPr>
                  <a:t>student </a:t>
                </a:r>
                <a:r>
                  <a:rPr lang="en-US" sz="1200" i="1" spc="-45" dirty="0">
                    <a:latin typeface="Arial"/>
                    <a:cs typeface="Arial"/>
                  </a:rPr>
                  <a:t>had</a:t>
                </a:r>
                <a:r>
                  <a:rPr lang="en-US" sz="1200" i="1" spc="10" dirty="0">
                    <a:latin typeface="Arial"/>
                    <a:cs typeface="Arial"/>
                  </a:rPr>
                  <a:t> </a:t>
                </a:r>
                <a:r>
                  <a:rPr lang="en-US" sz="1200" i="1" dirty="0">
                    <a:latin typeface="Arial"/>
                    <a:cs typeface="Arial"/>
                  </a:rPr>
                  <a:t>a</a:t>
                </a:r>
                <a:r>
                  <a:rPr lang="en-US" sz="1200" i="1" spc="10" dirty="0">
                    <a:latin typeface="Arial"/>
                    <a:cs typeface="Arial"/>
                  </a:rPr>
                  <a:t> </a:t>
                </a:r>
                <a:r>
                  <a:rPr lang="en-US" sz="1200" i="1" dirty="0">
                    <a:latin typeface="Arial"/>
                    <a:cs typeface="Arial"/>
                  </a:rPr>
                  <a:t>PT</a:t>
                </a:r>
                <a:r>
                  <a:rPr lang="en-US" sz="1200" i="1" spc="15" dirty="0">
                    <a:latin typeface="Arial"/>
                    <a:cs typeface="Arial"/>
                  </a:rPr>
                  <a:t> </a:t>
                </a:r>
                <a:r>
                  <a:rPr lang="en-US" sz="1200" i="1" spc="-40" dirty="0">
                    <a:latin typeface="Arial"/>
                    <a:cs typeface="Arial"/>
                  </a:rPr>
                  <a:t>instead</a:t>
                </a:r>
                <a:r>
                  <a:rPr lang="en-US" sz="1200" i="1" spc="10" dirty="0">
                    <a:latin typeface="Arial"/>
                    <a:cs typeface="Arial"/>
                  </a:rPr>
                  <a:t> </a:t>
                </a:r>
                <a:r>
                  <a:rPr lang="en-US" sz="1200" i="1" dirty="0">
                    <a:latin typeface="Arial"/>
                    <a:cs typeface="Arial"/>
                  </a:rPr>
                  <a:t>of</a:t>
                </a:r>
                <a:r>
                  <a:rPr lang="en-US" sz="1200" i="1" spc="15" dirty="0">
                    <a:latin typeface="Arial"/>
                    <a:cs typeface="Arial"/>
                  </a:rPr>
                  <a:t> </a:t>
                </a:r>
                <a:r>
                  <a:rPr lang="en-US" sz="1200" i="1" dirty="0">
                    <a:latin typeface="Arial"/>
                    <a:cs typeface="Arial"/>
                  </a:rPr>
                  <a:t>FT</a:t>
                </a:r>
                <a:r>
                  <a:rPr lang="en-US" sz="1200" i="1" spc="10" dirty="0">
                    <a:latin typeface="Arial"/>
                    <a:cs typeface="Arial"/>
                  </a:rPr>
                  <a:t> </a:t>
                </a:r>
                <a:r>
                  <a:rPr lang="en-US" sz="1200" i="1" spc="-10" dirty="0">
                    <a:latin typeface="Arial"/>
                    <a:cs typeface="Arial"/>
                  </a:rPr>
                  <a:t>instructor?</a:t>
                </a:r>
                <a:endParaRPr lang="en-US" sz="1200" dirty="0">
                  <a:latin typeface="Arial"/>
                  <a:cs typeface="Arial"/>
                </a:endParaRPr>
              </a:p>
              <a:p>
                <a:pPr marL="401638" lvl="3" indent="-171450">
                  <a:spcBef>
                    <a:spcPts val="334"/>
                  </a:spcBef>
                  <a:buFont typeface="Courier New" panose="02070309020205020404" pitchFamily="49" charset="0"/>
                  <a:buChar char="o"/>
                </a:pPr>
                <a:r>
                  <a:rPr lang="en-US" sz="1400" spc="-10" dirty="0">
                    <a:latin typeface="Arial"/>
                    <a:cs typeface="Arial"/>
                  </a:rPr>
                  <a:t>This</a:t>
                </a:r>
                <a:r>
                  <a:rPr lang="en-US" sz="1400" spc="-15" dirty="0">
                    <a:latin typeface="Arial"/>
                    <a:cs typeface="Arial"/>
                  </a:rPr>
                  <a:t> </a:t>
                </a:r>
                <a:r>
                  <a:rPr lang="en-US" sz="1400" spc="-10" dirty="0">
                    <a:latin typeface="Arial"/>
                    <a:cs typeface="Arial"/>
                  </a:rPr>
                  <a:t>is</a:t>
                </a:r>
                <a:r>
                  <a:rPr lang="en-US" sz="1400" spc="-15" dirty="0">
                    <a:latin typeface="Arial"/>
                    <a:cs typeface="Arial"/>
                  </a:rPr>
                  <a:t> </a:t>
                </a:r>
                <a:r>
                  <a:rPr lang="en-US" sz="1400" dirty="0">
                    <a:latin typeface="Arial"/>
                    <a:cs typeface="Arial"/>
                  </a:rPr>
                  <a:t>the</a:t>
                </a:r>
                <a:r>
                  <a:rPr lang="en-US" sz="1400" spc="-15" dirty="0">
                    <a:latin typeface="Arial"/>
                    <a:cs typeface="Arial"/>
                  </a:rPr>
                  <a:t> </a:t>
                </a:r>
                <a:r>
                  <a:rPr lang="en-US" sz="1400" spc="-30" dirty="0">
                    <a:solidFill>
                      <a:srgbClr val="C00000"/>
                    </a:solidFill>
                    <a:latin typeface="Arial"/>
                    <a:cs typeface="Arial"/>
                  </a:rPr>
                  <a:t>counterfactual</a:t>
                </a:r>
                <a:r>
                  <a:rPr lang="en-US" sz="1400" spc="-15" dirty="0">
                    <a:solidFill>
                      <a:srgbClr val="C00000"/>
                    </a:solidFill>
                    <a:latin typeface="Arial"/>
                    <a:cs typeface="Arial"/>
                  </a:rPr>
                  <a:t> </a:t>
                </a:r>
                <a:r>
                  <a:rPr lang="en-US" sz="1400" spc="-10" dirty="0">
                    <a:latin typeface="Arial"/>
                    <a:cs typeface="Arial"/>
                  </a:rPr>
                  <a:t>perspective.</a:t>
                </a:r>
                <a:endParaRPr sz="1400" dirty="0">
                  <a:latin typeface="Arial"/>
                  <a:cs typeface="Arial"/>
                </a:endParaRPr>
              </a:p>
            </p:txBody>
          </p:sp>
        </mc:Choice>
        <mc:Fallback xmlns="">
          <p:sp>
            <p:nvSpPr>
              <p:cNvPr id="8" name="object 8"/>
              <p:cNvSpPr txBox="1">
                <a:spLocks noRot="1" noChangeAspect="1" noMove="1" noResize="1" noEditPoints="1" noAdjustHandles="1" noChangeArrowheads="1" noChangeShapeType="1" noTextEdit="1"/>
              </p:cNvSpPr>
              <p:nvPr/>
            </p:nvSpPr>
            <p:spPr>
              <a:xfrm>
                <a:off x="162022" y="787682"/>
                <a:ext cx="4167188" cy="1424044"/>
              </a:xfrm>
              <a:prstGeom prst="rect">
                <a:avLst/>
              </a:prstGeom>
              <a:blipFill>
                <a:blip r:embed="rId3"/>
                <a:stretch>
                  <a:fillRect l="-2196" t="-2137" b="-7265"/>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C299FE8-7323-6F5B-363B-A0D5984ED4C7}"/>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6" name="TextBox 15">
            <a:extLst>
              <a:ext uri="{FF2B5EF4-FFF2-40B4-BE49-F238E27FC236}">
                <a16:creationId xmlns:a16="http://schemas.microsoft.com/office/drawing/2014/main" id="{61FBDDE9-8C09-4A0E-BFD5-D0629CFFA83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pic>
        <p:nvPicPr>
          <p:cNvPr id="2050" name="Picture 2">
            <a:extLst>
              <a:ext uri="{FF2B5EF4-FFF2-40B4-BE49-F238E27FC236}">
                <a16:creationId xmlns:a16="http://schemas.microsoft.com/office/drawing/2014/main" id="{53A106BA-BA08-9CB4-0177-DE4CB7CAD9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0011" y="2364005"/>
            <a:ext cx="1665046" cy="67109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4CC27F5-025D-7AEB-507A-B2959F9D518F}"/>
              </a:ext>
            </a:extLst>
          </p:cNvPr>
          <p:cNvSpPr txBox="1"/>
          <p:nvPr/>
        </p:nvSpPr>
        <p:spPr>
          <a:xfrm>
            <a:off x="3883610" y="3021560"/>
            <a:ext cx="601447" cy="169277"/>
          </a:xfrm>
          <a:prstGeom prst="rect">
            <a:avLst/>
          </a:prstGeom>
          <a:noFill/>
        </p:spPr>
        <p:txBody>
          <a:bodyPr wrap="none" rtlCol="0">
            <a:spAutoFit/>
          </a:bodyPr>
          <a:lstStyle/>
          <a:p>
            <a:r>
              <a:rPr lang="en-US" sz="500" dirty="0">
                <a:solidFill>
                  <a:srgbClr val="C8102E"/>
                </a:solidFill>
              </a:rPr>
              <a:t>Source: </a:t>
            </a:r>
            <a:r>
              <a:rPr lang="en-US" sz="500" u="sng" dirty="0">
                <a:solidFill>
                  <a:srgbClr val="C8102E"/>
                </a:solidFill>
                <a:hlinkClick r:id="rId5">
                  <a:extLst>
                    <a:ext uri="{A12FA001-AC4F-418D-AE19-62706E023703}">
                      <ahyp:hlinkClr xmlns:ahyp="http://schemas.microsoft.com/office/drawing/2018/hyperlinkcolor" val="tx"/>
                    </a:ext>
                  </a:extLst>
                </a:hlinkClick>
              </a:rPr>
              <a:t>XKCD</a:t>
            </a:r>
            <a:endParaRPr lang="en-US" sz="500" dirty="0">
              <a:solidFill>
                <a:srgbClr val="C8102E"/>
              </a:solidFill>
            </a:endParaRPr>
          </a:p>
        </p:txBody>
      </p:sp>
      <p:sp>
        <p:nvSpPr>
          <p:cNvPr id="3" name="TextBox 2">
            <a:extLst>
              <a:ext uri="{FF2B5EF4-FFF2-40B4-BE49-F238E27FC236}">
                <a16:creationId xmlns:a16="http://schemas.microsoft.com/office/drawing/2014/main" id="{32363F19-8A1A-58BF-CE8A-388083A9BA5F}"/>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Counterfactuals</a:t>
            </a:r>
          </a:p>
        </p:txBody>
      </p:sp>
      <p:sp>
        <p:nvSpPr>
          <p:cNvPr id="4" name="object 4"/>
          <p:cNvSpPr txBox="1"/>
          <p:nvPr/>
        </p:nvSpPr>
        <p:spPr>
          <a:xfrm>
            <a:off x="247650" y="701727"/>
            <a:ext cx="4267200" cy="2265234"/>
          </a:xfrm>
          <a:prstGeom prst="rect">
            <a:avLst/>
          </a:prstGeom>
        </p:spPr>
        <p:txBody>
          <a:bodyPr vert="horz" wrap="square" lIns="0" tIns="55244" rIns="0" bIns="0" rtlCol="0">
            <a:spAutoFit/>
          </a:bodyPr>
          <a:lstStyle/>
          <a:p>
            <a:pPr marL="184150" indent="-171450">
              <a:lnSpc>
                <a:spcPct val="100000"/>
              </a:lnSpc>
              <a:spcBef>
                <a:spcPts val="1200"/>
              </a:spcBef>
              <a:buFont typeface="Arial" panose="020B0604020202020204" pitchFamily="34" charset="0"/>
              <a:buChar char="•"/>
            </a:pPr>
            <a:r>
              <a:rPr sz="1400" spc="-35" dirty="0">
                <a:latin typeface="Arial"/>
                <a:cs typeface="Arial"/>
              </a:rPr>
              <a:t>Factual</a:t>
            </a:r>
            <a:r>
              <a:rPr sz="1400" dirty="0">
                <a:latin typeface="Arial"/>
                <a:cs typeface="Arial"/>
              </a:rPr>
              <a:t> </a:t>
            </a:r>
            <a:r>
              <a:rPr sz="1400" spc="-30" dirty="0">
                <a:latin typeface="Arial"/>
                <a:cs typeface="Arial"/>
              </a:rPr>
              <a:t>outcome:</a:t>
            </a:r>
            <a:r>
              <a:rPr sz="1400" spc="95" dirty="0">
                <a:latin typeface="Arial"/>
                <a:cs typeface="Arial"/>
              </a:rPr>
              <a:t> </a:t>
            </a:r>
            <a:r>
              <a:rPr sz="1400" spc="-30" dirty="0">
                <a:latin typeface="Arial"/>
                <a:cs typeface="Arial"/>
              </a:rPr>
              <a:t>student’s</a:t>
            </a:r>
            <a:r>
              <a:rPr sz="1400" dirty="0">
                <a:latin typeface="Arial"/>
                <a:cs typeface="Arial"/>
              </a:rPr>
              <a:t> </a:t>
            </a:r>
            <a:r>
              <a:rPr sz="1400" spc="-60" dirty="0">
                <a:latin typeface="Arial"/>
                <a:cs typeface="Arial"/>
              </a:rPr>
              <a:t>grade</a:t>
            </a:r>
            <a:r>
              <a:rPr sz="1400" spc="5" dirty="0">
                <a:latin typeface="Arial"/>
                <a:cs typeface="Arial"/>
              </a:rPr>
              <a:t> </a:t>
            </a:r>
            <a:r>
              <a:rPr sz="1400" dirty="0">
                <a:latin typeface="Arial"/>
                <a:cs typeface="Arial"/>
              </a:rPr>
              <a:t>with </a:t>
            </a:r>
            <a:r>
              <a:rPr sz="1400" spc="-20" dirty="0">
                <a:latin typeface="Arial"/>
                <a:cs typeface="Arial"/>
              </a:rPr>
              <a:t>actual</a:t>
            </a:r>
            <a:r>
              <a:rPr sz="1400" dirty="0">
                <a:latin typeface="Arial"/>
                <a:cs typeface="Arial"/>
              </a:rPr>
              <a:t> </a:t>
            </a:r>
            <a:r>
              <a:rPr sz="1400" spc="-10" dirty="0">
                <a:latin typeface="Arial"/>
                <a:cs typeface="Arial"/>
              </a:rPr>
              <a:t>instructor.</a:t>
            </a:r>
            <a:endParaRPr sz="1400" dirty="0">
              <a:latin typeface="Arial"/>
              <a:cs typeface="Arial"/>
            </a:endParaRPr>
          </a:p>
          <a:p>
            <a:pPr marL="184150" marR="5080" indent="-171450">
              <a:lnSpc>
                <a:spcPct val="102600"/>
              </a:lnSpc>
              <a:spcBef>
                <a:spcPts val="1200"/>
              </a:spcBef>
              <a:buFont typeface="Arial" panose="020B0604020202020204" pitchFamily="34" charset="0"/>
              <a:buChar char="•"/>
            </a:pPr>
            <a:r>
              <a:rPr sz="1400" spc="-30" dirty="0">
                <a:latin typeface="Arial"/>
                <a:cs typeface="Arial"/>
              </a:rPr>
              <a:t>Counterfactual:</a:t>
            </a:r>
            <a:r>
              <a:rPr sz="1400" spc="120" dirty="0">
                <a:latin typeface="Arial"/>
                <a:cs typeface="Arial"/>
              </a:rPr>
              <a:t> </a:t>
            </a:r>
            <a:r>
              <a:rPr sz="1400" spc="-30" dirty="0">
                <a:latin typeface="Arial"/>
                <a:cs typeface="Arial"/>
              </a:rPr>
              <a:t>student’s</a:t>
            </a:r>
            <a:r>
              <a:rPr sz="1400" spc="20" dirty="0">
                <a:latin typeface="Arial"/>
                <a:cs typeface="Arial"/>
              </a:rPr>
              <a:t> </a:t>
            </a:r>
            <a:r>
              <a:rPr sz="1400" spc="-60" dirty="0">
                <a:latin typeface="Arial"/>
                <a:cs typeface="Arial"/>
              </a:rPr>
              <a:t>grade</a:t>
            </a:r>
            <a:r>
              <a:rPr sz="1400" spc="20" dirty="0">
                <a:latin typeface="Arial"/>
                <a:cs typeface="Arial"/>
              </a:rPr>
              <a:t> </a:t>
            </a:r>
            <a:r>
              <a:rPr sz="1400" dirty="0">
                <a:latin typeface="Arial"/>
                <a:cs typeface="Arial"/>
              </a:rPr>
              <a:t>with</a:t>
            </a:r>
            <a:r>
              <a:rPr sz="1400" spc="20" dirty="0">
                <a:latin typeface="Arial"/>
                <a:cs typeface="Arial"/>
              </a:rPr>
              <a:t> </a:t>
            </a:r>
            <a:r>
              <a:rPr sz="1400" spc="-30" dirty="0">
                <a:latin typeface="Arial"/>
                <a:cs typeface="Arial"/>
              </a:rPr>
              <a:t>alternative</a:t>
            </a:r>
            <a:r>
              <a:rPr sz="1400" spc="20" dirty="0">
                <a:latin typeface="Arial"/>
                <a:cs typeface="Arial"/>
              </a:rPr>
              <a:t> </a:t>
            </a:r>
            <a:r>
              <a:rPr sz="1400" spc="-10" dirty="0">
                <a:latin typeface="Arial"/>
                <a:cs typeface="Arial"/>
              </a:rPr>
              <a:t>instructor type.</a:t>
            </a:r>
            <a:endParaRPr sz="1400" dirty="0">
              <a:latin typeface="Arial"/>
              <a:cs typeface="Arial"/>
            </a:endParaRPr>
          </a:p>
          <a:p>
            <a:pPr marL="184150" marR="149860" indent="-171450">
              <a:lnSpc>
                <a:spcPct val="102699"/>
              </a:lnSpc>
              <a:spcBef>
                <a:spcPts val="1200"/>
              </a:spcBef>
              <a:buFont typeface="Arial" panose="020B0604020202020204" pitchFamily="34" charset="0"/>
              <a:buChar char="•"/>
            </a:pPr>
            <a:r>
              <a:rPr sz="1400" spc="-30" dirty="0">
                <a:latin typeface="Arial"/>
                <a:cs typeface="Arial"/>
              </a:rPr>
              <a:t>Problem:</a:t>
            </a:r>
            <a:r>
              <a:rPr sz="1400" spc="60" dirty="0">
                <a:latin typeface="Arial"/>
                <a:cs typeface="Arial"/>
              </a:rPr>
              <a:t> </a:t>
            </a:r>
            <a:r>
              <a:rPr sz="1400" spc="-90" dirty="0">
                <a:latin typeface="Arial"/>
                <a:cs typeface="Arial"/>
              </a:rPr>
              <a:t>we</a:t>
            </a:r>
            <a:r>
              <a:rPr sz="1400" spc="15" dirty="0">
                <a:latin typeface="Arial"/>
                <a:cs typeface="Arial"/>
              </a:rPr>
              <a:t> </a:t>
            </a:r>
            <a:r>
              <a:rPr sz="1400" spc="-65" dirty="0">
                <a:latin typeface="Arial"/>
                <a:cs typeface="Arial"/>
              </a:rPr>
              <a:t>never</a:t>
            </a:r>
            <a:r>
              <a:rPr sz="1400" spc="-5" dirty="0">
                <a:latin typeface="Arial"/>
                <a:cs typeface="Arial"/>
              </a:rPr>
              <a:t> </a:t>
            </a:r>
            <a:r>
              <a:rPr sz="1400" spc="-70" dirty="0">
                <a:latin typeface="Arial"/>
                <a:cs typeface="Arial"/>
              </a:rPr>
              <a:t>observe</a:t>
            </a:r>
            <a:r>
              <a:rPr sz="1400" spc="-5" dirty="0">
                <a:latin typeface="Arial"/>
                <a:cs typeface="Arial"/>
              </a:rPr>
              <a:t> </a:t>
            </a:r>
            <a:r>
              <a:rPr sz="1400" dirty="0">
                <a:latin typeface="Arial"/>
                <a:cs typeface="Arial"/>
              </a:rPr>
              <a:t>both</a:t>
            </a:r>
            <a:r>
              <a:rPr sz="1400" spc="-10" dirty="0">
                <a:latin typeface="Arial"/>
                <a:cs typeface="Arial"/>
              </a:rPr>
              <a:t> </a:t>
            </a:r>
            <a:r>
              <a:rPr sz="1400" spc="-50" dirty="0">
                <a:latin typeface="Arial"/>
                <a:cs typeface="Arial"/>
              </a:rPr>
              <a:t>outcomes</a:t>
            </a:r>
            <a:r>
              <a:rPr sz="1400" spc="-5" dirty="0">
                <a:latin typeface="Arial"/>
                <a:cs typeface="Arial"/>
              </a:rPr>
              <a:t> </a:t>
            </a:r>
            <a:r>
              <a:rPr sz="1400" dirty="0">
                <a:latin typeface="Arial"/>
                <a:cs typeface="Arial"/>
              </a:rPr>
              <a:t>for</a:t>
            </a:r>
            <a:r>
              <a:rPr sz="1400" spc="-10" dirty="0">
                <a:latin typeface="Arial"/>
                <a:cs typeface="Arial"/>
              </a:rPr>
              <a:t> </a:t>
            </a:r>
            <a:r>
              <a:rPr sz="1400" dirty="0">
                <a:latin typeface="Arial"/>
                <a:cs typeface="Arial"/>
              </a:rPr>
              <a:t>the</a:t>
            </a:r>
            <a:r>
              <a:rPr sz="1400" spc="-5" dirty="0">
                <a:latin typeface="Arial"/>
                <a:cs typeface="Arial"/>
              </a:rPr>
              <a:t> </a:t>
            </a:r>
            <a:r>
              <a:rPr sz="1400" spc="-65" dirty="0">
                <a:latin typeface="Arial"/>
                <a:cs typeface="Arial"/>
              </a:rPr>
              <a:t>same </a:t>
            </a:r>
            <a:r>
              <a:rPr sz="1400" spc="-10" dirty="0">
                <a:latin typeface="Arial"/>
                <a:cs typeface="Arial"/>
              </a:rPr>
              <a:t>student.</a:t>
            </a:r>
            <a:endParaRPr sz="1400" dirty="0">
              <a:latin typeface="Arial"/>
              <a:cs typeface="Arial"/>
            </a:endParaRPr>
          </a:p>
          <a:p>
            <a:pPr marL="184150" marR="233679" indent="-171450">
              <a:lnSpc>
                <a:spcPct val="102699"/>
              </a:lnSpc>
              <a:spcBef>
                <a:spcPts val="1200"/>
              </a:spcBef>
              <a:buFont typeface="Arial" panose="020B0604020202020204" pitchFamily="34" charset="0"/>
              <a:buChar char="•"/>
            </a:pPr>
            <a:r>
              <a:rPr sz="1400" spc="-20" dirty="0">
                <a:latin typeface="Arial"/>
                <a:cs typeface="Arial"/>
              </a:rPr>
              <a:t>Solution:</a:t>
            </a:r>
            <a:r>
              <a:rPr sz="1400" spc="100" dirty="0">
                <a:latin typeface="Arial"/>
                <a:cs typeface="Arial"/>
              </a:rPr>
              <a:t> </a:t>
            </a:r>
            <a:r>
              <a:rPr sz="1400" spc="-45" dirty="0">
                <a:latin typeface="Arial"/>
                <a:cs typeface="Arial"/>
              </a:rPr>
              <a:t>approximate</a:t>
            </a:r>
            <a:r>
              <a:rPr sz="1400" dirty="0">
                <a:latin typeface="Arial"/>
                <a:cs typeface="Arial"/>
              </a:rPr>
              <a:t> </a:t>
            </a:r>
            <a:r>
              <a:rPr sz="1400" spc="-40" dirty="0">
                <a:latin typeface="Arial"/>
                <a:cs typeface="Arial"/>
              </a:rPr>
              <a:t>counterfactuals</a:t>
            </a:r>
            <a:r>
              <a:rPr sz="1400" spc="5" dirty="0">
                <a:latin typeface="Arial"/>
                <a:cs typeface="Arial"/>
              </a:rPr>
              <a:t> </a:t>
            </a:r>
            <a:r>
              <a:rPr sz="1400" spc="-10" dirty="0">
                <a:latin typeface="Arial"/>
                <a:cs typeface="Arial"/>
              </a:rPr>
              <a:t>by</a:t>
            </a:r>
            <a:r>
              <a:rPr sz="1400" dirty="0">
                <a:latin typeface="Arial"/>
                <a:cs typeface="Arial"/>
              </a:rPr>
              <a:t> </a:t>
            </a:r>
            <a:r>
              <a:rPr sz="1400" spc="-30" dirty="0">
                <a:latin typeface="Arial"/>
                <a:cs typeface="Arial"/>
              </a:rPr>
              <a:t>adjusting</a:t>
            </a:r>
            <a:r>
              <a:rPr sz="1400" spc="5" dirty="0">
                <a:latin typeface="Arial"/>
                <a:cs typeface="Arial"/>
              </a:rPr>
              <a:t> </a:t>
            </a:r>
            <a:r>
              <a:rPr sz="1400" spc="-25" dirty="0">
                <a:latin typeface="Arial"/>
                <a:cs typeface="Arial"/>
              </a:rPr>
              <a:t>for </a:t>
            </a:r>
            <a:r>
              <a:rPr sz="1400" spc="-10" dirty="0">
                <a:latin typeface="Arial"/>
                <a:cs typeface="Arial"/>
              </a:rPr>
              <a:t>confounders</a:t>
            </a:r>
            <a:r>
              <a:rPr lang="en-US" sz="1400" spc="-10" dirty="0">
                <a:latin typeface="Arial"/>
                <a:cs typeface="Arial"/>
              </a:rPr>
              <a:t> (what are confounders?)</a:t>
            </a:r>
            <a:endParaRPr sz="1400" dirty="0">
              <a:latin typeface="Arial"/>
              <a:cs typeface="Arial"/>
            </a:endParaRPr>
          </a:p>
        </p:txBody>
      </p:sp>
      <p:sp>
        <p:nvSpPr>
          <p:cNvPr id="12" name="TextBox 11">
            <a:extLst>
              <a:ext uri="{FF2B5EF4-FFF2-40B4-BE49-F238E27FC236}">
                <a16:creationId xmlns:a16="http://schemas.microsoft.com/office/drawing/2014/main" id="{5B52169C-B8B0-051F-BB36-FEC2147F09BA}"/>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CA1BE51B-0F65-4BE5-B612-C1DBF97384D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A3579461-8939-0A64-6466-FF9C3D43D85B}"/>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F2E2E-FC04-2FC8-08B8-74F7D0BBCC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529BDC-1F07-75B5-AE2E-A97612CC4035}"/>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Pearl’s</a:t>
            </a:r>
            <a:r>
              <a:rPr spc="-75" dirty="0"/>
              <a:t> </a:t>
            </a:r>
            <a:r>
              <a:rPr spc="-10" dirty="0"/>
              <a:t>Framework</a:t>
            </a:r>
            <a:r>
              <a:rPr lang="en-US" spc="-10" dirty="0"/>
              <a:t> (and the risks of having ice cream)</a:t>
            </a:r>
            <a:endParaRPr spc="-10" dirty="0"/>
          </a:p>
        </p:txBody>
      </p:sp>
      <p:sp>
        <p:nvSpPr>
          <p:cNvPr id="26" name="TextBox 25">
            <a:extLst>
              <a:ext uri="{FF2B5EF4-FFF2-40B4-BE49-F238E27FC236}">
                <a16:creationId xmlns:a16="http://schemas.microsoft.com/office/drawing/2014/main" id="{87BA41C8-A5D5-888B-5AAB-85D94D56FAE6}"/>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27" name="TextBox 26">
            <a:extLst>
              <a:ext uri="{FF2B5EF4-FFF2-40B4-BE49-F238E27FC236}">
                <a16:creationId xmlns:a16="http://schemas.microsoft.com/office/drawing/2014/main" id="{84843B9C-501F-6F8E-FF12-24E3EF4D4B0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Oval 2">
            <a:extLst>
              <a:ext uri="{FF2B5EF4-FFF2-40B4-BE49-F238E27FC236}">
                <a16:creationId xmlns:a16="http://schemas.microsoft.com/office/drawing/2014/main" id="{84563BF2-1446-4976-6BAA-38E738A3F298}"/>
              </a:ext>
            </a:extLst>
          </p:cNvPr>
          <p:cNvSpPr/>
          <p:nvPr/>
        </p:nvSpPr>
        <p:spPr>
          <a:xfrm>
            <a:off x="2381250" y="1387006"/>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Drowning</a:t>
            </a:r>
          </a:p>
        </p:txBody>
      </p:sp>
      <p:sp>
        <p:nvSpPr>
          <p:cNvPr id="5" name="Oval 4">
            <a:extLst>
              <a:ext uri="{FF2B5EF4-FFF2-40B4-BE49-F238E27FC236}">
                <a16:creationId xmlns:a16="http://schemas.microsoft.com/office/drawing/2014/main" id="{4A72BC4F-CCCD-48EC-B611-7E8572E50147}"/>
              </a:ext>
            </a:extLst>
          </p:cNvPr>
          <p:cNvSpPr/>
          <p:nvPr/>
        </p:nvSpPr>
        <p:spPr>
          <a:xfrm>
            <a:off x="781050" y="1417047"/>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Ice Cream</a:t>
            </a:r>
          </a:p>
        </p:txBody>
      </p:sp>
      <p:cxnSp>
        <p:nvCxnSpPr>
          <p:cNvPr id="14" name="Straight Arrow Connector 13">
            <a:extLst>
              <a:ext uri="{FF2B5EF4-FFF2-40B4-BE49-F238E27FC236}">
                <a16:creationId xmlns:a16="http://schemas.microsoft.com/office/drawing/2014/main" id="{B5AC4861-90C1-2401-C45D-3A0FF11FDCBF}"/>
              </a:ext>
            </a:extLst>
          </p:cNvPr>
          <p:cNvCxnSpPr>
            <a:cxnSpLocks/>
            <a:endCxn id="3" idx="2"/>
          </p:cNvCxnSpPr>
          <p:nvPr/>
        </p:nvCxnSpPr>
        <p:spPr>
          <a:xfrm flipV="1">
            <a:off x="1847850" y="1588970"/>
            <a:ext cx="533400" cy="209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8CDBB47-FA25-37ED-70CF-93B5E6EBA25A}"/>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extLst>
      <p:ext uri="{BB962C8B-B14F-4D97-AF65-F5344CB8AC3E}">
        <p14:creationId xmlns:p14="http://schemas.microsoft.com/office/powerpoint/2010/main" val="1897911350"/>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6A920-CE1C-C814-2BF4-EF649BD27EE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94C2B1-3268-DFC9-B6CE-1CA549FA3F4C}"/>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Pearl’s</a:t>
            </a:r>
            <a:r>
              <a:rPr spc="-75" dirty="0"/>
              <a:t> </a:t>
            </a:r>
            <a:r>
              <a:rPr spc="-10" dirty="0"/>
              <a:t>Framework</a:t>
            </a:r>
            <a:r>
              <a:rPr lang="en-US" spc="-10" dirty="0"/>
              <a:t> (and the risks of having ice cream)</a:t>
            </a:r>
            <a:endParaRPr spc="-10" dirty="0"/>
          </a:p>
        </p:txBody>
      </p:sp>
      <p:sp>
        <p:nvSpPr>
          <p:cNvPr id="18" name="object 18">
            <a:extLst>
              <a:ext uri="{FF2B5EF4-FFF2-40B4-BE49-F238E27FC236}">
                <a16:creationId xmlns:a16="http://schemas.microsoft.com/office/drawing/2014/main" id="{E33A0E3B-AA2B-1EEB-2C64-1878640AC46B}"/>
              </a:ext>
            </a:extLst>
          </p:cNvPr>
          <p:cNvSpPr txBox="1"/>
          <p:nvPr/>
        </p:nvSpPr>
        <p:spPr>
          <a:xfrm>
            <a:off x="247650" y="1867548"/>
            <a:ext cx="4267200" cy="1218026"/>
          </a:xfrm>
          <a:prstGeom prst="rect">
            <a:avLst/>
          </a:prstGeom>
        </p:spPr>
        <p:txBody>
          <a:bodyPr vert="horz" wrap="square" lIns="0" tIns="11430" rIns="0" bIns="0" rtlCol="0">
            <a:spAutoFit/>
          </a:bodyPr>
          <a:lstStyle/>
          <a:p>
            <a:pPr>
              <a:lnSpc>
                <a:spcPct val="100000"/>
              </a:lnSpc>
              <a:spcBef>
                <a:spcPts val="245"/>
              </a:spcBef>
            </a:pPr>
            <a:endParaRPr sz="1100" dirty="0">
              <a:latin typeface="Arial"/>
              <a:cs typeface="Arial"/>
            </a:endParaRPr>
          </a:p>
          <a:p>
            <a:pPr marL="184150" marR="441325" indent="-171450">
              <a:lnSpc>
                <a:spcPct val="125299"/>
              </a:lnSpc>
              <a:buFont typeface="Arial" panose="020B0604020202020204" pitchFamily="34" charset="0"/>
              <a:buChar char="•"/>
            </a:pPr>
            <a:r>
              <a:rPr sz="1100" spc="-30" dirty="0">
                <a:latin typeface="Arial"/>
                <a:cs typeface="Arial"/>
              </a:rPr>
              <a:t>Directed</a:t>
            </a:r>
            <a:r>
              <a:rPr sz="1100" spc="-25" dirty="0">
                <a:latin typeface="Arial"/>
                <a:cs typeface="Arial"/>
              </a:rPr>
              <a:t> Acyclic</a:t>
            </a:r>
            <a:r>
              <a:rPr sz="1100" spc="-5" dirty="0">
                <a:latin typeface="Arial"/>
                <a:cs typeface="Arial"/>
              </a:rPr>
              <a:t> </a:t>
            </a:r>
            <a:r>
              <a:rPr sz="1100" spc="-45" dirty="0">
                <a:latin typeface="Arial"/>
                <a:cs typeface="Arial"/>
              </a:rPr>
              <a:t>Graph</a:t>
            </a:r>
            <a:r>
              <a:rPr sz="1100" dirty="0">
                <a:latin typeface="Arial"/>
                <a:cs typeface="Arial"/>
              </a:rPr>
              <a:t> (DAG)</a:t>
            </a:r>
            <a:r>
              <a:rPr sz="1100" spc="-5" dirty="0">
                <a:latin typeface="Arial"/>
                <a:cs typeface="Arial"/>
              </a:rPr>
              <a:t> </a:t>
            </a:r>
            <a:r>
              <a:rPr sz="1100" spc="-90" dirty="0">
                <a:latin typeface="Arial"/>
                <a:cs typeface="Arial"/>
              </a:rPr>
              <a:t>encodes</a:t>
            </a:r>
            <a:r>
              <a:rPr sz="1100" spc="15" dirty="0">
                <a:latin typeface="Arial"/>
                <a:cs typeface="Arial"/>
              </a:rPr>
              <a:t> </a:t>
            </a:r>
            <a:r>
              <a:rPr sz="1100" spc="-50" dirty="0">
                <a:latin typeface="Arial"/>
                <a:cs typeface="Arial"/>
              </a:rPr>
              <a:t>assumptions. </a:t>
            </a:r>
            <a:endParaRPr lang="en-US" sz="1100" spc="-50" dirty="0">
              <a:latin typeface="Arial"/>
              <a:cs typeface="Arial"/>
            </a:endParaRPr>
          </a:p>
          <a:p>
            <a:pPr marL="184150" marR="441325" indent="-171450">
              <a:lnSpc>
                <a:spcPct val="125299"/>
              </a:lnSpc>
              <a:buFont typeface="Arial" panose="020B0604020202020204" pitchFamily="34" charset="0"/>
              <a:buChar char="•"/>
            </a:pPr>
            <a:r>
              <a:rPr sz="1100" spc="-60" dirty="0">
                <a:latin typeface="Arial"/>
                <a:cs typeface="Arial"/>
              </a:rPr>
              <a:t>Confounders</a:t>
            </a:r>
            <a:r>
              <a:rPr sz="1100" spc="-5" dirty="0">
                <a:latin typeface="Arial"/>
                <a:cs typeface="Arial"/>
              </a:rPr>
              <a:t> </a:t>
            </a:r>
            <a:r>
              <a:rPr sz="1100" spc="-55" dirty="0">
                <a:latin typeface="Arial"/>
                <a:cs typeface="Arial"/>
              </a:rPr>
              <a:t>open</a:t>
            </a:r>
            <a:r>
              <a:rPr sz="1100" dirty="0">
                <a:latin typeface="Arial"/>
                <a:cs typeface="Arial"/>
              </a:rPr>
              <a:t> </a:t>
            </a:r>
            <a:r>
              <a:rPr sz="1100" b="1" spc="-30" dirty="0">
                <a:latin typeface="Gill Sans MT"/>
                <a:cs typeface="Gill Sans MT"/>
              </a:rPr>
              <a:t>backdoor</a:t>
            </a:r>
            <a:r>
              <a:rPr sz="1100" b="1" spc="35" dirty="0">
                <a:latin typeface="Gill Sans MT"/>
                <a:cs typeface="Gill Sans MT"/>
              </a:rPr>
              <a:t> </a:t>
            </a:r>
            <a:r>
              <a:rPr sz="1100" b="1" spc="-10" dirty="0">
                <a:latin typeface="Gill Sans MT"/>
                <a:cs typeface="Gill Sans MT"/>
              </a:rPr>
              <a:t>paths</a:t>
            </a:r>
            <a:r>
              <a:rPr sz="1100" spc="-10" dirty="0">
                <a:latin typeface="Arial"/>
                <a:cs typeface="Arial"/>
              </a:rPr>
              <a:t>.</a:t>
            </a:r>
            <a:endParaRPr lang="en-US" sz="1100" spc="-10" dirty="0">
              <a:latin typeface="Arial"/>
              <a:cs typeface="Arial"/>
            </a:endParaRPr>
          </a:p>
          <a:p>
            <a:pPr marL="184150" marR="441325" indent="-171450">
              <a:lnSpc>
                <a:spcPct val="125299"/>
              </a:lnSpc>
              <a:buFont typeface="Arial" panose="020B0604020202020204" pitchFamily="34" charset="0"/>
              <a:buChar char="•"/>
            </a:pPr>
            <a:r>
              <a:rPr lang="en-US" sz="1100" spc="-35" dirty="0">
                <a:latin typeface="Arial"/>
                <a:cs typeface="Arial"/>
              </a:rPr>
              <a:t>Summer</a:t>
            </a:r>
            <a:r>
              <a:rPr lang="en-US" sz="1100" spc="20" dirty="0">
                <a:latin typeface="Arial"/>
                <a:cs typeface="Arial"/>
              </a:rPr>
              <a:t> </a:t>
            </a:r>
            <a:r>
              <a:rPr lang="en-US" sz="1100" spc="-30" dirty="0">
                <a:latin typeface="Arial"/>
                <a:cs typeface="Arial"/>
              </a:rPr>
              <a:t>affects</a:t>
            </a:r>
            <a:r>
              <a:rPr lang="en-US" sz="1100" spc="25" dirty="0">
                <a:latin typeface="Arial"/>
                <a:cs typeface="Arial"/>
              </a:rPr>
              <a:t> </a:t>
            </a:r>
            <a:r>
              <a:rPr lang="en-US" sz="1100" dirty="0">
                <a:latin typeface="Arial"/>
                <a:cs typeface="Arial"/>
              </a:rPr>
              <a:t>both</a:t>
            </a:r>
            <a:r>
              <a:rPr lang="en-US" sz="1100" spc="20" dirty="0">
                <a:latin typeface="Arial"/>
                <a:cs typeface="Arial"/>
              </a:rPr>
              <a:t> Ice Cream Sales and Drowning Risk</a:t>
            </a:r>
            <a:endParaRPr lang="en-US" sz="1100" spc="-50" dirty="0">
              <a:latin typeface="Arial"/>
              <a:cs typeface="Arial"/>
            </a:endParaRPr>
          </a:p>
          <a:p>
            <a:pPr marL="184150" marR="191135" indent="-171450">
              <a:lnSpc>
                <a:spcPct val="125299"/>
              </a:lnSpc>
              <a:buFont typeface="Arial" panose="020B0604020202020204" pitchFamily="34" charset="0"/>
              <a:buChar char="•"/>
            </a:pPr>
            <a:r>
              <a:rPr lang="en-US" sz="1100" spc="-70" dirty="0">
                <a:latin typeface="Arial"/>
                <a:cs typeface="Arial"/>
              </a:rPr>
              <a:t>Creates</a:t>
            </a:r>
            <a:r>
              <a:rPr lang="en-US" sz="1100" spc="15" dirty="0">
                <a:latin typeface="Arial"/>
                <a:cs typeface="Arial"/>
              </a:rPr>
              <a:t> a </a:t>
            </a:r>
            <a:r>
              <a:rPr lang="en-US" sz="1100" spc="-55" dirty="0">
                <a:latin typeface="Arial"/>
                <a:cs typeface="Arial"/>
              </a:rPr>
              <a:t>spurious</a:t>
            </a:r>
            <a:r>
              <a:rPr lang="en-US" sz="1100" spc="20" dirty="0">
                <a:latin typeface="Arial"/>
                <a:cs typeface="Arial"/>
              </a:rPr>
              <a:t> </a:t>
            </a:r>
            <a:r>
              <a:rPr lang="en-US" sz="1100" spc="-50" dirty="0">
                <a:latin typeface="Arial"/>
                <a:cs typeface="Arial"/>
              </a:rPr>
              <a:t>association</a:t>
            </a:r>
            <a:r>
              <a:rPr lang="en-US" sz="1100" spc="15" dirty="0">
                <a:latin typeface="Arial"/>
                <a:cs typeface="Arial"/>
              </a:rPr>
              <a:t> </a:t>
            </a:r>
            <a:r>
              <a:rPr lang="en-US" sz="1100" dirty="0">
                <a:latin typeface="Arial"/>
                <a:cs typeface="Arial"/>
              </a:rPr>
              <a:t>(a</a:t>
            </a:r>
            <a:r>
              <a:rPr lang="en-US" sz="1100" spc="20" dirty="0">
                <a:latin typeface="Arial"/>
                <a:cs typeface="Arial"/>
              </a:rPr>
              <a:t> </a:t>
            </a:r>
            <a:r>
              <a:rPr lang="en-US" sz="1100" spc="-45" dirty="0">
                <a:latin typeface="Arial"/>
                <a:cs typeface="Arial"/>
              </a:rPr>
              <a:t>backdoor</a:t>
            </a:r>
            <a:r>
              <a:rPr lang="en-US" sz="1100" spc="15" dirty="0">
                <a:latin typeface="Arial"/>
                <a:cs typeface="Arial"/>
              </a:rPr>
              <a:t> </a:t>
            </a:r>
            <a:r>
              <a:rPr lang="en-US" sz="1100" spc="-10" dirty="0">
                <a:latin typeface="Arial"/>
                <a:cs typeface="Arial"/>
              </a:rPr>
              <a:t>path).</a:t>
            </a:r>
            <a:r>
              <a:rPr lang="en-US" sz="1100" spc="500" dirty="0">
                <a:latin typeface="Arial"/>
                <a:cs typeface="Arial"/>
              </a:rPr>
              <a:t> </a:t>
            </a:r>
          </a:p>
          <a:p>
            <a:pPr marL="12700" marR="441325">
              <a:lnSpc>
                <a:spcPct val="125299"/>
              </a:lnSpc>
            </a:pPr>
            <a:endParaRPr sz="1100" dirty="0">
              <a:latin typeface="Arial"/>
              <a:cs typeface="Arial"/>
            </a:endParaRPr>
          </a:p>
        </p:txBody>
      </p:sp>
      <p:sp>
        <p:nvSpPr>
          <p:cNvPr id="26" name="TextBox 25">
            <a:extLst>
              <a:ext uri="{FF2B5EF4-FFF2-40B4-BE49-F238E27FC236}">
                <a16:creationId xmlns:a16="http://schemas.microsoft.com/office/drawing/2014/main" id="{29273B94-9CE6-9614-A5B4-ABF510DC57DC}"/>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27" name="TextBox 26">
            <a:extLst>
              <a:ext uri="{FF2B5EF4-FFF2-40B4-BE49-F238E27FC236}">
                <a16:creationId xmlns:a16="http://schemas.microsoft.com/office/drawing/2014/main" id="{4C46C82C-8DD9-A871-68DA-6A3328A16D91}"/>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Oval 2">
            <a:extLst>
              <a:ext uri="{FF2B5EF4-FFF2-40B4-BE49-F238E27FC236}">
                <a16:creationId xmlns:a16="http://schemas.microsoft.com/office/drawing/2014/main" id="{A03EC603-7B3D-BDD8-318C-9B24E530DC2F}"/>
              </a:ext>
            </a:extLst>
          </p:cNvPr>
          <p:cNvSpPr/>
          <p:nvPr/>
        </p:nvSpPr>
        <p:spPr>
          <a:xfrm>
            <a:off x="2381250" y="1387006"/>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Drowning</a:t>
            </a:r>
          </a:p>
        </p:txBody>
      </p:sp>
      <p:sp>
        <p:nvSpPr>
          <p:cNvPr id="5" name="Oval 4">
            <a:extLst>
              <a:ext uri="{FF2B5EF4-FFF2-40B4-BE49-F238E27FC236}">
                <a16:creationId xmlns:a16="http://schemas.microsoft.com/office/drawing/2014/main" id="{0899D19B-6FC3-D890-4AD6-A0EBEB0B176D}"/>
              </a:ext>
            </a:extLst>
          </p:cNvPr>
          <p:cNvSpPr/>
          <p:nvPr/>
        </p:nvSpPr>
        <p:spPr>
          <a:xfrm>
            <a:off x="781050" y="1417047"/>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Ice Cream</a:t>
            </a:r>
          </a:p>
        </p:txBody>
      </p:sp>
      <p:sp>
        <p:nvSpPr>
          <p:cNvPr id="6" name="Oval 5">
            <a:extLst>
              <a:ext uri="{FF2B5EF4-FFF2-40B4-BE49-F238E27FC236}">
                <a16:creationId xmlns:a16="http://schemas.microsoft.com/office/drawing/2014/main" id="{4A8CC591-F73A-4F70-2207-011E158CEBE6}"/>
              </a:ext>
            </a:extLst>
          </p:cNvPr>
          <p:cNvSpPr/>
          <p:nvPr/>
        </p:nvSpPr>
        <p:spPr>
          <a:xfrm>
            <a:off x="1619250" y="877060"/>
            <a:ext cx="9144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Summer</a:t>
            </a:r>
          </a:p>
        </p:txBody>
      </p:sp>
      <p:cxnSp>
        <p:nvCxnSpPr>
          <p:cNvPr id="8" name="Straight Arrow Connector 7">
            <a:extLst>
              <a:ext uri="{FF2B5EF4-FFF2-40B4-BE49-F238E27FC236}">
                <a16:creationId xmlns:a16="http://schemas.microsoft.com/office/drawing/2014/main" id="{C65302A5-4425-7B34-D5EB-220A7BA32051}"/>
              </a:ext>
            </a:extLst>
          </p:cNvPr>
          <p:cNvCxnSpPr>
            <a:cxnSpLocks/>
            <a:stCxn id="6" idx="3"/>
            <a:endCxn id="5" idx="0"/>
          </p:cNvCxnSpPr>
          <p:nvPr/>
        </p:nvCxnSpPr>
        <p:spPr>
          <a:xfrm flipH="1">
            <a:off x="1314450" y="1221833"/>
            <a:ext cx="438711" cy="1952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9A7F70F-7A24-72C5-E4A6-C8664CDC6D11}"/>
              </a:ext>
            </a:extLst>
          </p:cNvPr>
          <p:cNvCxnSpPr>
            <a:cxnSpLocks/>
            <a:endCxn id="3" idx="0"/>
          </p:cNvCxnSpPr>
          <p:nvPr/>
        </p:nvCxnSpPr>
        <p:spPr>
          <a:xfrm>
            <a:off x="2451433" y="1217870"/>
            <a:ext cx="463217" cy="1691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D96622D-AF45-D961-EBAE-97E395690EB6}"/>
              </a:ext>
            </a:extLst>
          </p:cNvPr>
          <p:cNvCxnSpPr>
            <a:cxnSpLocks/>
            <a:endCxn id="3" idx="2"/>
          </p:cNvCxnSpPr>
          <p:nvPr/>
        </p:nvCxnSpPr>
        <p:spPr>
          <a:xfrm flipV="1">
            <a:off x="1847850" y="1588970"/>
            <a:ext cx="533400" cy="209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176A553-EB9B-F6DA-4445-EC910B774CA0}"/>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extLst>
      <p:ext uri="{BB962C8B-B14F-4D97-AF65-F5344CB8AC3E}">
        <p14:creationId xmlns:p14="http://schemas.microsoft.com/office/powerpoint/2010/main" val="128926"/>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BE09-0F61-437A-C204-3DA58E18AB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5A7988-8872-C500-D58C-529F33603FB1}"/>
              </a:ext>
            </a:extLst>
          </p:cNvPr>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Pearl’s</a:t>
            </a:r>
            <a:r>
              <a:rPr spc="-75" dirty="0"/>
              <a:t> </a:t>
            </a:r>
            <a:r>
              <a:rPr spc="-10" dirty="0"/>
              <a:t>Framework</a:t>
            </a:r>
          </a:p>
        </p:txBody>
      </p:sp>
      <mc:AlternateContent xmlns:mc="http://schemas.openxmlformats.org/markup-compatibility/2006" xmlns:a14="http://schemas.microsoft.com/office/drawing/2010/main">
        <mc:Choice Requires="a14">
          <p:sp>
            <p:nvSpPr>
              <p:cNvPr id="18" name="object 18">
                <a:extLst>
                  <a:ext uri="{FF2B5EF4-FFF2-40B4-BE49-F238E27FC236}">
                    <a16:creationId xmlns:a16="http://schemas.microsoft.com/office/drawing/2014/main" id="{D0A26A0D-B047-7AA0-3048-2804E383F058}"/>
                  </a:ext>
                </a:extLst>
              </p:cNvPr>
              <p:cNvSpPr txBox="1"/>
              <p:nvPr/>
            </p:nvSpPr>
            <p:spPr>
              <a:xfrm>
                <a:off x="95250" y="1641073"/>
                <a:ext cx="4514849" cy="1578509"/>
              </a:xfrm>
              <a:prstGeom prst="rect">
                <a:avLst/>
              </a:prstGeom>
            </p:spPr>
            <p:txBody>
              <a:bodyPr vert="horz" wrap="square" lIns="0" tIns="11430" rIns="0" bIns="0" rtlCol="0">
                <a:spAutoFit/>
              </a:bodyPr>
              <a:lstStyle/>
              <a:p>
                <a:pPr>
                  <a:lnSpc>
                    <a:spcPct val="100000"/>
                  </a:lnSpc>
                  <a:spcBef>
                    <a:spcPts val="245"/>
                  </a:spcBef>
                </a:pPr>
                <a:endParaRPr lang="en-US" sz="1100" dirty="0">
                  <a:solidFill>
                    <a:srgbClr val="C8102E"/>
                  </a:solidFill>
                  <a:latin typeface="Arial"/>
                  <a:cs typeface="Arial"/>
                </a:endParaRPr>
              </a:p>
              <a:p>
                <a:pPr marL="184150" marR="5080" indent="-171450">
                  <a:lnSpc>
                    <a:spcPct val="102600"/>
                  </a:lnSpc>
                  <a:spcBef>
                    <a:spcPts val="300"/>
                  </a:spcBef>
                  <a:buFont typeface="Arial" panose="020B0604020202020204" pitchFamily="34" charset="0"/>
                  <a:buChar char="•"/>
                </a:pPr>
                <a:r>
                  <a:rPr lang="en-US" sz="1100" spc="-20" dirty="0">
                    <a:solidFill>
                      <a:schemeClr val="tx1"/>
                    </a:solidFill>
                    <a:latin typeface="Arial"/>
                    <a:cs typeface="Arial"/>
                  </a:rPr>
                  <a:t>Solution:</a:t>
                </a:r>
                <a:r>
                  <a:rPr lang="en-US" sz="1100" spc="90" dirty="0">
                    <a:solidFill>
                      <a:schemeClr val="tx1"/>
                    </a:solidFill>
                    <a:latin typeface="Arial"/>
                    <a:cs typeface="Arial"/>
                  </a:rPr>
                  <a:t> </a:t>
                </a:r>
                <a:r>
                  <a:rPr lang="en-US" sz="1100" spc="-25" dirty="0">
                    <a:solidFill>
                      <a:schemeClr val="tx1"/>
                    </a:solidFill>
                    <a:latin typeface="Arial"/>
                    <a:cs typeface="Arial"/>
                  </a:rPr>
                  <a:t>condition</a:t>
                </a:r>
                <a:r>
                  <a:rPr lang="en-US" sz="1100" spc="-5" dirty="0">
                    <a:solidFill>
                      <a:schemeClr val="tx1"/>
                    </a:solidFill>
                    <a:latin typeface="Arial"/>
                    <a:cs typeface="Arial"/>
                  </a:rPr>
                  <a:t> </a:t>
                </a:r>
                <a:r>
                  <a:rPr lang="en-US" sz="1100" dirty="0">
                    <a:solidFill>
                      <a:schemeClr val="tx1"/>
                    </a:solidFill>
                    <a:latin typeface="Arial"/>
                    <a:cs typeface="Arial"/>
                  </a:rPr>
                  <a:t>on</a:t>
                </a:r>
                <a:r>
                  <a:rPr lang="en-US" sz="1100" spc="-5" dirty="0">
                    <a:solidFill>
                      <a:schemeClr val="tx1"/>
                    </a:solidFill>
                    <a:latin typeface="Arial"/>
                    <a:cs typeface="Arial"/>
                  </a:rPr>
                  <a:t> </a:t>
                </a:r>
                <a:r>
                  <a:rPr lang="en-US" sz="1100" spc="-55" dirty="0">
                    <a:solidFill>
                      <a:schemeClr val="tx1"/>
                    </a:solidFill>
                    <a:latin typeface="Arial"/>
                    <a:cs typeface="Arial"/>
                  </a:rPr>
                  <a:t>confounders</a:t>
                </a:r>
                <a:r>
                  <a:rPr lang="en-US" sz="1100" spc="-5" dirty="0">
                    <a:solidFill>
                      <a:schemeClr val="tx1"/>
                    </a:solidFill>
                    <a:latin typeface="Arial"/>
                    <a:cs typeface="Arial"/>
                  </a:rPr>
                  <a:t> </a:t>
                </a:r>
                <a:r>
                  <a:rPr lang="en-US" sz="1100" dirty="0">
                    <a:solidFill>
                      <a:schemeClr val="tx1"/>
                    </a:solidFill>
                    <a:latin typeface="Arial"/>
                    <a:cs typeface="Arial"/>
                  </a:rPr>
                  <a:t>to </a:t>
                </a:r>
                <a:r>
                  <a:rPr lang="en-US" sz="1100" spc="-20" dirty="0">
                    <a:solidFill>
                      <a:schemeClr val="tx1"/>
                    </a:solidFill>
                    <a:latin typeface="Arial"/>
                    <a:cs typeface="Arial"/>
                  </a:rPr>
                  <a:t>block</a:t>
                </a:r>
                <a:r>
                  <a:rPr lang="en-US" sz="1100" spc="-5" dirty="0">
                    <a:solidFill>
                      <a:schemeClr val="tx1"/>
                    </a:solidFill>
                    <a:latin typeface="Arial"/>
                    <a:cs typeface="Arial"/>
                  </a:rPr>
                  <a:t> </a:t>
                </a:r>
                <a:r>
                  <a:rPr lang="en-US" sz="1100" spc="-55" dirty="0">
                    <a:solidFill>
                      <a:schemeClr val="tx1"/>
                    </a:solidFill>
                    <a:latin typeface="Arial"/>
                    <a:cs typeface="Arial"/>
                  </a:rPr>
                  <a:t>these</a:t>
                </a:r>
                <a:r>
                  <a:rPr lang="en-US" sz="1100" spc="-5" dirty="0">
                    <a:solidFill>
                      <a:schemeClr val="tx1"/>
                    </a:solidFill>
                    <a:latin typeface="Arial"/>
                    <a:cs typeface="Arial"/>
                  </a:rPr>
                  <a:t> </a:t>
                </a:r>
                <a:r>
                  <a:rPr lang="en-US" sz="1100" spc="-10" dirty="0">
                    <a:solidFill>
                      <a:schemeClr val="tx1"/>
                    </a:solidFill>
                    <a:latin typeface="Arial"/>
                    <a:cs typeface="Arial"/>
                  </a:rPr>
                  <a:t>paths.</a:t>
                </a:r>
              </a:p>
              <a:p>
                <a:pPr marL="184150" marR="5080" indent="-171450">
                  <a:lnSpc>
                    <a:spcPct val="102600"/>
                  </a:lnSpc>
                  <a:spcBef>
                    <a:spcPts val="300"/>
                  </a:spcBef>
                  <a:buFont typeface="Arial" panose="020B0604020202020204" pitchFamily="34" charset="0"/>
                  <a:buChar char="•"/>
                </a:pPr>
                <a:endParaRPr lang="en-US" sz="500" spc="-40" dirty="0">
                  <a:solidFill>
                    <a:srgbClr val="C8102E"/>
                  </a:solidFill>
                  <a:latin typeface="Arial"/>
                  <a:cs typeface="Arial"/>
                </a:endParaRPr>
              </a:p>
              <a:p>
                <a:pPr marL="184150" marR="5080" indent="-171450">
                  <a:lnSpc>
                    <a:spcPct val="102600"/>
                  </a:lnSpc>
                  <a:spcBef>
                    <a:spcPts val="300"/>
                  </a:spcBef>
                  <a:buFont typeface="Arial" panose="020B0604020202020204" pitchFamily="34" charset="0"/>
                  <a:buChar char="•"/>
                </a:pPr>
                <a:r>
                  <a:rPr lang="en-US" sz="1100" spc="-40" dirty="0">
                    <a:solidFill>
                      <a:srgbClr val="C8102E"/>
                    </a:solidFill>
                    <a:latin typeface="Arial"/>
                    <a:cs typeface="Arial"/>
                  </a:rPr>
                  <a:t>Backdoor</a:t>
                </a:r>
                <a:r>
                  <a:rPr lang="en-US" sz="1100" spc="-5" dirty="0">
                    <a:solidFill>
                      <a:srgbClr val="C8102E"/>
                    </a:solidFill>
                    <a:latin typeface="Arial"/>
                    <a:cs typeface="Arial"/>
                  </a:rPr>
                  <a:t> </a:t>
                </a:r>
                <a:r>
                  <a:rPr lang="en-US" sz="1100" spc="-10" dirty="0">
                    <a:solidFill>
                      <a:srgbClr val="C8102E"/>
                    </a:solidFill>
                    <a:latin typeface="Arial"/>
                    <a:cs typeface="Arial"/>
                  </a:rPr>
                  <a:t>criterion</a:t>
                </a:r>
                <a:r>
                  <a:rPr lang="en-US" sz="1100" spc="-10" dirty="0">
                    <a:latin typeface="Arial"/>
                    <a:cs typeface="Arial"/>
                  </a:rPr>
                  <a:t>:</a:t>
                </a:r>
                <a:r>
                  <a:rPr lang="en-US" sz="1100" spc="100" dirty="0">
                    <a:latin typeface="Arial"/>
                    <a:cs typeface="Arial"/>
                  </a:rPr>
                  <a:t> </a:t>
                </a:r>
                <a:r>
                  <a:rPr lang="en-US" sz="1100" spc="-25" dirty="0">
                    <a:latin typeface="Arial"/>
                    <a:cs typeface="Arial"/>
                  </a:rPr>
                  <a:t>adjust</a:t>
                </a:r>
                <a:r>
                  <a:rPr lang="en-US" sz="1100" spc="-5" dirty="0">
                    <a:latin typeface="Arial"/>
                    <a:cs typeface="Arial"/>
                  </a:rPr>
                  <a:t> </a:t>
                </a:r>
                <a:r>
                  <a:rPr lang="en-US" sz="1100" dirty="0">
                    <a:latin typeface="Arial"/>
                    <a:cs typeface="Arial"/>
                  </a:rPr>
                  <a:t>for </a:t>
                </a:r>
                <a:r>
                  <a:rPr lang="en-US" sz="1100" spc="-55" dirty="0">
                    <a:latin typeface="Arial"/>
                    <a:cs typeface="Arial"/>
                  </a:rPr>
                  <a:t>confounders</a:t>
                </a:r>
                <a:r>
                  <a:rPr lang="en-US" sz="1100" dirty="0">
                    <a:latin typeface="Arial"/>
                    <a:cs typeface="Arial"/>
                  </a:rPr>
                  <a:t> to</a:t>
                </a:r>
                <a:r>
                  <a:rPr lang="en-US" sz="1100" spc="-5" dirty="0">
                    <a:latin typeface="Arial"/>
                    <a:cs typeface="Arial"/>
                  </a:rPr>
                  <a:t> </a:t>
                </a:r>
                <a:r>
                  <a:rPr lang="en-US" sz="1100" spc="-10" dirty="0">
                    <a:latin typeface="Arial"/>
                    <a:cs typeface="Arial"/>
                  </a:rPr>
                  <a:t>identify</a:t>
                </a:r>
                <a:r>
                  <a:rPr lang="en-US" sz="1100" dirty="0">
                    <a:latin typeface="Arial"/>
                    <a:cs typeface="Arial"/>
                  </a:rPr>
                  <a:t> </a:t>
                </a:r>
                <a:r>
                  <a:rPr lang="en-US" sz="1100" spc="-40" dirty="0">
                    <a:latin typeface="Arial"/>
                    <a:cs typeface="Arial"/>
                  </a:rPr>
                  <a:t>causal </a:t>
                </a:r>
                <a:r>
                  <a:rPr lang="en-US" sz="1100" spc="-10" dirty="0">
                    <a:latin typeface="Arial"/>
                    <a:cs typeface="Arial"/>
                  </a:rPr>
                  <a:t>effect.</a:t>
                </a:r>
                <a:endParaRPr lang="en-US" sz="1100" dirty="0">
                  <a:latin typeface="Arial"/>
                  <a:cs typeface="Arial"/>
                </a:endParaRPr>
              </a:p>
              <a:p>
                <a:pPr marL="184150" marR="191135" indent="-171450">
                  <a:lnSpc>
                    <a:spcPct val="125299"/>
                  </a:lnSpc>
                  <a:buFont typeface="Arial" panose="020B0604020202020204" pitchFamily="34" charset="0"/>
                  <a:buChar char="•"/>
                </a:pPr>
                <a:endParaRPr lang="en-US" sz="300" spc="-10" dirty="0">
                  <a:latin typeface="Arial"/>
                  <a:cs typeface="Arial"/>
                </a:endParaRPr>
              </a:p>
              <a:p>
                <a:pPr marL="184150" marR="191135" indent="-171450">
                  <a:lnSpc>
                    <a:spcPct val="125299"/>
                  </a:lnSpc>
                  <a:buFont typeface="Arial" panose="020B0604020202020204" pitchFamily="34" charset="0"/>
                  <a:buChar char="•"/>
                </a:pPr>
                <a:r>
                  <a:rPr lang="en-US" sz="1100" spc="-25" dirty="0">
                    <a:latin typeface="Arial"/>
                    <a:cs typeface="Arial"/>
                  </a:rPr>
                  <a:t>Intervention</a:t>
                </a:r>
                <a:r>
                  <a:rPr lang="en-US" sz="1100" spc="30" dirty="0">
                    <a:latin typeface="Arial"/>
                    <a:cs typeface="Arial"/>
                  </a:rPr>
                  <a:t> </a:t>
                </a:r>
                <a:r>
                  <a:rPr lang="en-US" sz="1100" dirty="0">
                    <a:latin typeface="Arial"/>
                    <a:cs typeface="Arial"/>
                  </a:rPr>
                  <a:t>do(</a:t>
                </a:r>
                <a:r>
                  <a:rPr lang="en-US" sz="1100" i="1" dirty="0">
                    <a:latin typeface="Arial"/>
                    <a:cs typeface="Arial"/>
                  </a:rPr>
                  <a:t>Ice Cream</a:t>
                </a:r>
                <a:r>
                  <a:rPr lang="en-US" sz="1100" i="1" spc="105" dirty="0">
                    <a:latin typeface="Arial"/>
                    <a:cs typeface="Arial"/>
                  </a:rPr>
                  <a:t> </a:t>
                </a:r>
                <a:r>
                  <a:rPr lang="en-US" sz="1100" spc="200" dirty="0">
                    <a:latin typeface="Arial"/>
                    <a:cs typeface="Arial"/>
                  </a:rPr>
                  <a:t>=</a:t>
                </a:r>
                <a:r>
                  <a:rPr lang="en-US" sz="1100" spc="-25" dirty="0">
                    <a:latin typeface="Arial"/>
                    <a:cs typeface="Arial"/>
                  </a:rPr>
                  <a:t> </a:t>
                </a:r>
                <a:r>
                  <a:rPr lang="en-US" sz="1100" i="1" spc="110" dirty="0">
                    <a:latin typeface="Arial"/>
                    <a:cs typeface="Arial"/>
                  </a:rPr>
                  <a:t>x</a:t>
                </a:r>
                <a:r>
                  <a:rPr lang="en-US" sz="1100" spc="110" dirty="0">
                    <a:latin typeface="Arial"/>
                    <a:cs typeface="Arial"/>
                  </a:rPr>
                  <a:t>)</a:t>
                </a:r>
                <a:r>
                  <a:rPr lang="en-US" sz="1100" spc="30" dirty="0">
                    <a:latin typeface="Arial"/>
                    <a:cs typeface="Arial"/>
                  </a:rPr>
                  <a:t> </a:t>
                </a:r>
                <a:r>
                  <a:rPr lang="en-US" sz="1100" spc="-60" dirty="0">
                    <a:latin typeface="Arial"/>
                    <a:cs typeface="Arial"/>
                  </a:rPr>
                  <a:t>sets</a:t>
                </a:r>
                <a:r>
                  <a:rPr lang="en-US" sz="1100" spc="30" dirty="0">
                    <a:latin typeface="Arial"/>
                    <a:cs typeface="Arial"/>
                  </a:rPr>
                  <a:t> </a:t>
                </a:r>
                <a:r>
                  <a:rPr lang="en-US" sz="1100" i="1" dirty="0">
                    <a:latin typeface="Arial"/>
                    <a:cs typeface="Arial"/>
                  </a:rPr>
                  <a:t>Ice Cream</a:t>
                </a:r>
                <a:r>
                  <a:rPr lang="en-US" sz="1100" i="1" spc="105" dirty="0">
                    <a:latin typeface="Arial"/>
                    <a:cs typeface="Arial"/>
                  </a:rPr>
                  <a:t> </a:t>
                </a:r>
                <a:r>
                  <a:rPr lang="en-US" sz="1100" dirty="0">
                    <a:latin typeface="Arial"/>
                    <a:cs typeface="Arial"/>
                  </a:rPr>
                  <a:t>(Yes</a:t>
                </a:r>
                <a:r>
                  <a:rPr lang="en-US" sz="1100" spc="30" dirty="0">
                    <a:latin typeface="Arial"/>
                    <a:cs typeface="Arial"/>
                  </a:rPr>
                  <a:t> </a:t>
                </a:r>
                <a:r>
                  <a:rPr lang="en-US" sz="1100" spc="-60" dirty="0">
                    <a:latin typeface="Arial"/>
                    <a:cs typeface="Arial"/>
                  </a:rPr>
                  <a:t>vs</a:t>
                </a:r>
                <a:r>
                  <a:rPr lang="en-US" sz="1100" spc="35" dirty="0">
                    <a:latin typeface="Arial"/>
                    <a:cs typeface="Arial"/>
                  </a:rPr>
                  <a:t> No</a:t>
                </a:r>
                <a:r>
                  <a:rPr lang="en-US" sz="1100" spc="-20" dirty="0">
                    <a:latin typeface="Arial"/>
                    <a:cs typeface="Arial"/>
                  </a:rPr>
                  <a:t>).</a:t>
                </a:r>
                <a:endParaRPr lang="en-US" sz="1100" spc="-10" dirty="0">
                  <a:latin typeface="Arial"/>
                  <a:cs typeface="Arial"/>
                </a:endParaRPr>
              </a:p>
              <a:p>
                <a:pPr marL="12700" marR="191135">
                  <a:lnSpc>
                    <a:spcPct val="125299"/>
                  </a:lnSpc>
                </a:pPr>
                <a:endParaRPr lang="en-US" sz="200" b="1" dirty="0">
                  <a:solidFill>
                    <a:srgbClr val="C00000"/>
                  </a:solidFill>
                </a:endParaRPr>
              </a:p>
              <a:p>
                <a:pPr marL="12700" marR="191135">
                  <a:lnSpc>
                    <a:spcPct val="125299"/>
                  </a:lnSpc>
                </a:pPr>
                <a:r>
                  <a:rPr lang="en-US" sz="900" b="1" dirty="0">
                    <a:solidFill>
                      <a:srgbClr val="C00000"/>
                    </a:solidFill>
                  </a:rPr>
                  <a:t>      P(Drowning | do(Ice Cream = x)) = </a:t>
                </a:r>
              </a:p>
              <a:p>
                <a:pPr marL="12700" marR="191135">
                  <a:lnSpc>
                    <a:spcPct val="125299"/>
                  </a:lnSpc>
                </a:pPr>
                <a14:m>
                  <m:oMathPara xmlns:m="http://schemas.openxmlformats.org/officeDocument/2006/math">
                    <m:oMathParaPr>
                      <m:jc m:val="centerGroup"/>
                    </m:oMathParaPr>
                    <m:oMath xmlns:m="http://schemas.openxmlformats.org/officeDocument/2006/math">
                      <m:nary>
                        <m:naryPr>
                          <m:chr m:val="∑"/>
                          <m:supHide m:val="on"/>
                          <m:ctrlPr>
                            <a:rPr lang="ar-AE" sz="800" b="1" i="1" smtClean="0">
                              <a:solidFill>
                                <a:srgbClr val="C00000"/>
                              </a:solidFill>
                              <a:latin typeface="Cambria Math" panose="02040503050406030204" pitchFamily="18" charset="0"/>
                            </a:rPr>
                          </m:ctrlPr>
                        </m:naryPr>
                        <m:sub>
                          <m:r>
                            <m:rPr>
                              <m:brk m:alnAt="7"/>
                            </m:rPr>
                            <a:rPr lang="ar-AE" sz="800" b="1" i="1" smtClean="0">
                              <a:solidFill>
                                <a:srgbClr val="C00000"/>
                              </a:solidFill>
                              <a:latin typeface="Cambria Math" panose="02040503050406030204" pitchFamily="18" charset="0"/>
                            </a:rPr>
                            <m:t>𝒔</m:t>
                          </m:r>
                          <m:r>
                            <a:rPr lang="en-US" sz="800" b="1" i="1" smtClean="0">
                              <a:solidFill>
                                <a:srgbClr val="C00000"/>
                              </a:solidFill>
                              <a:latin typeface="Cambria Math" panose="02040503050406030204" pitchFamily="18" charset="0"/>
                            </a:rPr>
                            <m:t>𝒖𝒎𝒎𝒆𝒓</m:t>
                          </m:r>
                        </m:sub>
                        <m:sup/>
                        <m:e>
                          <m:r>
                            <m:rPr>
                              <m:nor/>
                            </m:rPr>
                            <a:rPr lang="en-US" sz="800" b="1" dirty="0" smtClean="0">
                              <a:solidFill>
                                <a:srgbClr val="C00000"/>
                              </a:solidFill>
                            </a:rPr>
                            <m:t>P</m:t>
                          </m:r>
                          <m:r>
                            <m:rPr>
                              <m:nor/>
                            </m:rPr>
                            <a:rPr lang="en-US" sz="800" b="1" dirty="0" smtClean="0">
                              <a:solidFill>
                                <a:srgbClr val="C00000"/>
                              </a:solidFill>
                            </a:rPr>
                            <m:t>(</m:t>
                          </m:r>
                          <m:r>
                            <m:rPr>
                              <m:nor/>
                            </m:rPr>
                            <a:rPr lang="en-US" sz="800" b="1" dirty="0" smtClean="0">
                              <a:solidFill>
                                <a:srgbClr val="C00000"/>
                              </a:solidFill>
                            </a:rPr>
                            <m:t>Drowning</m:t>
                          </m:r>
                          <m:r>
                            <m:rPr>
                              <m:nor/>
                            </m:rPr>
                            <a:rPr lang="en-US" sz="800" b="1" dirty="0" smtClean="0">
                              <a:solidFill>
                                <a:srgbClr val="C00000"/>
                              </a:solidFill>
                            </a:rPr>
                            <m:t> | </m:t>
                          </m:r>
                          <m:r>
                            <m:rPr>
                              <m:nor/>
                            </m:rPr>
                            <a:rPr lang="en-US" sz="800" b="1" dirty="0" smtClean="0">
                              <a:solidFill>
                                <a:srgbClr val="C00000"/>
                              </a:solidFill>
                            </a:rPr>
                            <m:t>Ice</m:t>
                          </m:r>
                          <m:r>
                            <m:rPr>
                              <m:nor/>
                            </m:rPr>
                            <a:rPr lang="en-US" sz="800" b="1" dirty="0" smtClean="0">
                              <a:solidFill>
                                <a:srgbClr val="C00000"/>
                              </a:solidFill>
                            </a:rPr>
                            <m:t> </m:t>
                          </m:r>
                          <m:r>
                            <m:rPr>
                              <m:nor/>
                            </m:rPr>
                            <a:rPr lang="en-US" sz="800" b="1" dirty="0" smtClean="0">
                              <a:solidFill>
                                <a:srgbClr val="C00000"/>
                              </a:solidFill>
                            </a:rPr>
                            <m:t>Cream</m:t>
                          </m:r>
                          <m:r>
                            <m:rPr>
                              <m:nor/>
                            </m:rPr>
                            <a:rPr lang="en-US" sz="800" b="1" dirty="0" smtClean="0">
                              <a:solidFill>
                                <a:srgbClr val="C00000"/>
                              </a:solidFill>
                            </a:rPr>
                            <m:t> = </m:t>
                          </m:r>
                          <m:r>
                            <m:rPr>
                              <m:nor/>
                            </m:rPr>
                            <a:rPr lang="en-US" sz="800" b="1" dirty="0" smtClean="0">
                              <a:solidFill>
                                <a:srgbClr val="C00000"/>
                              </a:solidFill>
                            </a:rPr>
                            <m:t>x</m:t>
                          </m:r>
                          <m:r>
                            <m:rPr>
                              <m:nor/>
                            </m:rPr>
                            <a:rPr lang="en-US" sz="800" b="1" dirty="0" smtClean="0">
                              <a:solidFill>
                                <a:srgbClr val="C00000"/>
                              </a:solidFill>
                            </a:rPr>
                            <m:t>, </m:t>
                          </m:r>
                          <m:r>
                            <m:rPr>
                              <m:nor/>
                            </m:rPr>
                            <a:rPr lang="en-US" sz="800" b="1" dirty="0" smtClean="0">
                              <a:solidFill>
                                <a:srgbClr val="C00000"/>
                              </a:solidFill>
                            </a:rPr>
                            <m:t>Summer</m:t>
                          </m:r>
                          <m:r>
                            <m:rPr>
                              <m:nor/>
                            </m:rPr>
                            <a:rPr lang="en-US" sz="800" b="1" dirty="0" smtClean="0">
                              <a:solidFill>
                                <a:srgbClr val="C00000"/>
                              </a:solidFill>
                            </a:rPr>
                            <m:t> = </m:t>
                          </m:r>
                          <m:r>
                            <m:rPr>
                              <m:nor/>
                            </m:rPr>
                            <a:rPr lang="en-US" sz="800" b="1" dirty="0" smtClean="0">
                              <a:solidFill>
                                <a:srgbClr val="C00000"/>
                              </a:solidFill>
                            </a:rPr>
                            <m:t>s</m:t>
                          </m:r>
                          <m:r>
                            <m:rPr>
                              <m:nor/>
                            </m:rPr>
                            <a:rPr lang="en-US" sz="800" b="1" dirty="0" smtClean="0">
                              <a:solidFill>
                                <a:srgbClr val="C00000"/>
                              </a:solidFill>
                            </a:rPr>
                            <m:t>) · </m:t>
                          </m:r>
                          <m:r>
                            <m:rPr>
                              <m:nor/>
                            </m:rPr>
                            <a:rPr lang="en-US" sz="800" b="1" dirty="0" smtClean="0">
                              <a:solidFill>
                                <a:srgbClr val="C00000"/>
                              </a:solidFill>
                            </a:rPr>
                            <m:t>P</m:t>
                          </m:r>
                          <m:r>
                            <m:rPr>
                              <m:nor/>
                            </m:rPr>
                            <a:rPr lang="en-US" sz="800" b="1" dirty="0" smtClean="0">
                              <a:solidFill>
                                <a:srgbClr val="C00000"/>
                              </a:solidFill>
                            </a:rPr>
                            <m:t>(</m:t>
                          </m:r>
                          <m:r>
                            <m:rPr>
                              <m:nor/>
                            </m:rPr>
                            <a:rPr lang="en-US" sz="800" b="1" dirty="0" smtClean="0">
                              <a:solidFill>
                                <a:srgbClr val="C00000"/>
                              </a:solidFill>
                            </a:rPr>
                            <m:t>Summer</m:t>
                          </m:r>
                          <m:r>
                            <m:rPr>
                              <m:nor/>
                            </m:rPr>
                            <a:rPr lang="en-US" sz="800" b="1" dirty="0" smtClean="0">
                              <a:solidFill>
                                <a:srgbClr val="C00000"/>
                              </a:solidFill>
                            </a:rPr>
                            <m:t> = </m:t>
                          </m:r>
                          <m:r>
                            <m:rPr>
                              <m:nor/>
                            </m:rPr>
                            <a:rPr lang="en-US" sz="800" b="1" dirty="0" smtClean="0">
                              <a:solidFill>
                                <a:srgbClr val="C00000"/>
                              </a:solidFill>
                            </a:rPr>
                            <m:t>s</m:t>
                          </m:r>
                          <m:r>
                            <m:rPr>
                              <m:nor/>
                            </m:rPr>
                            <a:rPr lang="en-US" sz="800" b="1" dirty="0" smtClean="0">
                              <a:solidFill>
                                <a:srgbClr val="C00000"/>
                              </a:solidFill>
                            </a:rPr>
                            <m:t>)</m:t>
                          </m:r>
                        </m:e>
                      </m:nary>
                    </m:oMath>
                  </m:oMathPara>
                </a14:m>
                <a:endParaRPr lang="en-US" sz="700" b="1" dirty="0">
                  <a:solidFill>
                    <a:srgbClr val="C00000"/>
                  </a:solidFill>
                  <a:latin typeface="Arial"/>
                  <a:cs typeface="Arial"/>
                </a:endParaRPr>
              </a:p>
            </p:txBody>
          </p:sp>
        </mc:Choice>
        <mc:Fallback xmlns="">
          <p:sp>
            <p:nvSpPr>
              <p:cNvPr id="18" name="object 18">
                <a:extLst>
                  <a:ext uri="{FF2B5EF4-FFF2-40B4-BE49-F238E27FC236}">
                    <a16:creationId xmlns:a16="http://schemas.microsoft.com/office/drawing/2014/main" id="{D0A26A0D-B047-7AA0-3048-2804E383F058}"/>
                  </a:ext>
                </a:extLst>
              </p:cNvPr>
              <p:cNvSpPr txBox="1">
                <a:spLocks noRot="1" noChangeAspect="1" noMove="1" noResize="1" noEditPoints="1" noAdjustHandles="1" noChangeArrowheads="1" noChangeShapeType="1" noTextEdit="1"/>
              </p:cNvSpPr>
              <p:nvPr/>
            </p:nvSpPr>
            <p:spPr>
              <a:xfrm>
                <a:off x="95250" y="1641073"/>
                <a:ext cx="4514849" cy="1578509"/>
              </a:xfrm>
              <a:prstGeom prst="rect">
                <a:avLst/>
              </a:prstGeom>
              <a:blipFill>
                <a:blip r:embed="rId3"/>
                <a:stretch>
                  <a:fillRect l="-1622" b="-38610"/>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103C86EE-A5D0-3196-28D8-FF87682DD5A8}"/>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27" name="TextBox 26">
            <a:extLst>
              <a:ext uri="{FF2B5EF4-FFF2-40B4-BE49-F238E27FC236}">
                <a16:creationId xmlns:a16="http://schemas.microsoft.com/office/drawing/2014/main" id="{6CB9004F-47F4-D00F-3F97-4420D26A65F2}"/>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Oval 2">
            <a:extLst>
              <a:ext uri="{FF2B5EF4-FFF2-40B4-BE49-F238E27FC236}">
                <a16:creationId xmlns:a16="http://schemas.microsoft.com/office/drawing/2014/main" id="{61313BD2-6401-11D6-988C-6D5E35B2A9CE}"/>
              </a:ext>
            </a:extLst>
          </p:cNvPr>
          <p:cNvSpPr/>
          <p:nvPr/>
        </p:nvSpPr>
        <p:spPr>
          <a:xfrm>
            <a:off x="2381250" y="1227321"/>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Drowning</a:t>
            </a:r>
          </a:p>
        </p:txBody>
      </p:sp>
      <p:sp>
        <p:nvSpPr>
          <p:cNvPr id="5" name="Oval 4">
            <a:extLst>
              <a:ext uri="{FF2B5EF4-FFF2-40B4-BE49-F238E27FC236}">
                <a16:creationId xmlns:a16="http://schemas.microsoft.com/office/drawing/2014/main" id="{249E8BFC-9EE8-5EF7-3ABF-BE0FA38C2D6C}"/>
              </a:ext>
            </a:extLst>
          </p:cNvPr>
          <p:cNvSpPr/>
          <p:nvPr/>
        </p:nvSpPr>
        <p:spPr>
          <a:xfrm>
            <a:off x="781050" y="1257362"/>
            <a:ext cx="1066800" cy="403927"/>
          </a:xfrm>
          <a:prstGeom prst="ellipse">
            <a:avLst/>
          </a:prstGeom>
          <a:no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rgbClr val="C8102E"/>
                </a:solidFill>
              </a:rPr>
              <a:t>Ice Cream</a:t>
            </a:r>
          </a:p>
        </p:txBody>
      </p:sp>
      <p:sp>
        <p:nvSpPr>
          <p:cNvPr id="6" name="Oval 5">
            <a:extLst>
              <a:ext uri="{FF2B5EF4-FFF2-40B4-BE49-F238E27FC236}">
                <a16:creationId xmlns:a16="http://schemas.microsoft.com/office/drawing/2014/main" id="{2174B6B4-1927-6039-7700-AE9BCF7D399C}"/>
              </a:ext>
            </a:extLst>
          </p:cNvPr>
          <p:cNvSpPr/>
          <p:nvPr/>
        </p:nvSpPr>
        <p:spPr>
          <a:xfrm>
            <a:off x="1619250" y="717375"/>
            <a:ext cx="914400" cy="403927"/>
          </a:xfrm>
          <a:prstGeom prst="ellipse">
            <a:avLst/>
          </a:prstGeom>
          <a:solidFill>
            <a:srgbClr val="C8102E"/>
          </a:solidFill>
          <a:ln>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lumMod val="95000"/>
                  </a:schemeClr>
                </a:solidFill>
              </a:rPr>
              <a:t>Summer</a:t>
            </a:r>
          </a:p>
        </p:txBody>
      </p:sp>
      <p:cxnSp>
        <p:nvCxnSpPr>
          <p:cNvPr id="8" name="Straight Arrow Connector 7">
            <a:extLst>
              <a:ext uri="{FF2B5EF4-FFF2-40B4-BE49-F238E27FC236}">
                <a16:creationId xmlns:a16="http://schemas.microsoft.com/office/drawing/2014/main" id="{A9CECCE9-8D14-FE39-716E-64C9DBE73C84}"/>
              </a:ext>
            </a:extLst>
          </p:cNvPr>
          <p:cNvCxnSpPr>
            <a:cxnSpLocks/>
            <a:stCxn id="6" idx="3"/>
            <a:endCxn id="5" idx="0"/>
          </p:cNvCxnSpPr>
          <p:nvPr/>
        </p:nvCxnSpPr>
        <p:spPr>
          <a:xfrm flipH="1">
            <a:off x="1314450" y="1062148"/>
            <a:ext cx="438711" cy="1952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4AFD310-C9B7-28A6-D5F5-4CDB1E9A200E}"/>
              </a:ext>
            </a:extLst>
          </p:cNvPr>
          <p:cNvCxnSpPr>
            <a:cxnSpLocks/>
            <a:endCxn id="3" idx="0"/>
          </p:cNvCxnSpPr>
          <p:nvPr/>
        </p:nvCxnSpPr>
        <p:spPr>
          <a:xfrm>
            <a:off x="2451433" y="1058185"/>
            <a:ext cx="463217" cy="1691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E07931C-5890-A0D0-A182-0A57BB00CC16}"/>
              </a:ext>
            </a:extLst>
          </p:cNvPr>
          <p:cNvCxnSpPr>
            <a:cxnSpLocks/>
            <a:endCxn id="3" idx="2"/>
          </p:cNvCxnSpPr>
          <p:nvPr/>
        </p:nvCxnSpPr>
        <p:spPr>
          <a:xfrm flipV="1">
            <a:off x="1847850" y="1429285"/>
            <a:ext cx="533400" cy="209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D1D9DC3-9617-D472-7639-B83287B07AAF}"/>
              </a:ext>
            </a:extLst>
          </p:cNvPr>
          <p:cNvSpPr txBox="1"/>
          <p:nvPr/>
        </p:nvSpPr>
        <p:spPr>
          <a:xfrm>
            <a:off x="1428749" y="968286"/>
            <a:ext cx="210111" cy="369332"/>
          </a:xfrm>
          <a:prstGeom prst="rect">
            <a:avLst/>
          </a:prstGeom>
          <a:noFill/>
        </p:spPr>
        <p:txBody>
          <a:bodyPr wrap="square">
            <a:spAutoFit/>
          </a:bodyPr>
          <a:lstStyle/>
          <a:p>
            <a:pPr algn="ctr"/>
            <a:r>
              <a:rPr lang="en-US" sz="1800" spc="20" dirty="0">
                <a:latin typeface="Arial"/>
                <a:cs typeface="Arial"/>
              </a:rPr>
              <a:t>×</a:t>
            </a:r>
            <a:endParaRPr lang="en-US" dirty="0"/>
          </a:p>
        </p:txBody>
      </p:sp>
      <p:sp>
        <p:nvSpPr>
          <p:cNvPr id="10" name="TextBox 9">
            <a:extLst>
              <a:ext uri="{FF2B5EF4-FFF2-40B4-BE49-F238E27FC236}">
                <a16:creationId xmlns:a16="http://schemas.microsoft.com/office/drawing/2014/main" id="{8F75AFC9-26DC-F795-5799-44F6EA184219}"/>
              </a:ext>
            </a:extLst>
          </p:cNvPr>
          <p:cNvSpPr txBox="1"/>
          <p:nvPr/>
        </p:nvSpPr>
        <p:spPr>
          <a:xfrm>
            <a:off x="2485254" y="913264"/>
            <a:ext cx="210111" cy="369332"/>
          </a:xfrm>
          <a:prstGeom prst="rect">
            <a:avLst/>
          </a:prstGeom>
          <a:noFill/>
        </p:spPr>
        <p:txBody>
          <a:bodyPr wrap="square">
            <a:spAutoFit/>
          </a:bodyPr>
          <a:lstStyle/>
          <a:p>
            <a:pPr algn="ctr"/>
            <a:r>
              <a:rPr lang="en-US" sz="1800" spc="20" dirty="0">
                <a:latin typeface="Arial"/>
                <a:cs typeface="Arial"/>
              </a:rPr>
              <a:t>×</a:t>
            </a:r>
            <a:endParaRPr lang="en-US" dirty="0"/>
          </a:p>
        </p:txBody>
      </p:sp>
      <p:sp>
        <p:nvSpPr>
          <p:cNvPr id="4" name="TextBox 3">
            <a:extLst>
              <a:ext uri="{FF2B5EF4-FFF2-40B4-BE49-F238E27FC236}">
                <a16:creationId xmlns:a16="http://schemas.microsoft.com/office/drawing/2014/main" id="{2514F087-AF25-1545-175E-88D76E8F6A1B}"/>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7" name="Rectangle 6">
            <a:extLst>
              <a:ext uri="{FF2B5EF4-FFF2-40B4-BE49-F238E27FC236}">
                <a16:creationId xmlns:a16="http://schemas.microsoft.com/office/drawing/2014/main" id="{5C472C58-6061-D0C4-3C0E-0199390A2096}"/>
              </a:ext>
            </a:extLst>
          </p:cNvPr>
          <p:cNvSpPr/>
          <p:nvPr/>
        </p:nvSpPr>
        <p:spPr>
          <a:xfrm>
            <a:off x="1051560" y="2651042"/>
            <a:ext cx="914400" cy="184666"/>
          </a:xfrm>
          <a:prstGeom prst="rect">
            <a:avLst/>
          </a:prstGeom>
          <a:solidFill>
            <a:srgbClr val="C8102E">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239633"/>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695DE-2F0F-2740-EFA5-EADEDC223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335BB-CF29-89F6-E5AD-D40D002B047A}"/>
              </a:ext>
            </a:extLst>
          </p:cNvPr>
          <p:cNvSpPr>
            <a:spLocks noGrp="1"/>
          </p:cNvSpPr>
          <p:nvPr>
            <p:ph type="title"/>
          </p:nvPr>
        </p:nvSpPr>
        <p:spPr/>
        <p:txBody>
          <a:bodyPr/>
          <a:lstStyle/>
          <a:p>
            <a:r>
              <a:rPr lang="en-US" dirty="0"/>
              <a:t>   Data and Context</a:t>
            </a:r>
          </a:p>
        </p:txBody>
      </p:sp>
      <p:pic>
        <p:nvPicPr>
          <p:cNvPr id="3" name="Picture 2">
            <a:extLst>
              <a:ext uri="{FF2B5EF4-FFF2-40B4-BE49-F238E27FC236}">
                <a16:creationId xmlns:a16="http://schemas.microsoft.com/office/drawing/2014/main" id="{62F99E8A-2331-8782-5C6C-5BA7C1F9AA9D}"/>
              </a:ext>
            </a:extLst>
          </p:cNvPr>
          <p:cNvPicPr>
            <a:picLocks noChangeAspect="1"/>
          </p:cNvPicPr>
          <p:nvPr/>
        </p:nvPicPr>
        <p:blipFill>
          <a:blip r:embed="rId3"/>
          <a:stretch>
            <a:fillRect/>
          </a:stretch>
        </p:blipFill>
        <p:spPr>
          <a:xfrm>
            <a:off x="2444854" y="1328143"/>
            <a:ext cx="2146196" cy="1797246"/>
          </a:xfrm>
          <a:prstGeom prst="rect">
            <a:avLst/>
          </a:prstGeom>
        </p:spPr>
      </p:pic>
      <p:sp>
        <p:nvSpPr>
          <p:cNvPr id="4" name="TextBox 3">
            <a:extLst>
              <a:ext uri="{FF2B5EF4-FFF2-40B4-BE49-F238E27FC236}">
                <a16:creationId xmlns:a16="http://schemas.microsoft.com/office/drawing/2014/main" id="{B4E51B24-0DB3-4985-5404-04BCFB54DB79}"/>
              </a:ext>
            </a:extLst>
          </p:cNvPr>
          <p:cNvSpPr txBox="1"/>
          <p:nvPr/>
        </p:nvSpPr>
        <p:spPr>
          <a:xfrm>
            <a:off x="95250" y="552219"/>
            <a:ext cx="4191000" cy="72327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US" sz="900" dirty="0"/>
              <a:t>Thirteen academic years (Fall 2012 through Spring 2024) containing both student-level and course-level records. </a:t>
            </a:r>
          </a:p>
          <a:p>
            <a:pPr marL="171450" indent="-171450">
              <a:spcBef>
                <a:spcPts val="600"/>
              </a:spcBef>
              <a:buFont typeface="Arial" panose="020B0604020202020204" pitchFamily="34" charset="0"/>
              <a:buChar char="•"/>
            </a:pPr>
            <a:r>
              <a:rPr lang="en-US" sz="900" dirty="0"/>
              <a:t>Focus on first-semester freshmen and their academic outcomes (final grades)</a:t>
            </a:r>
          </a:p>
        </p:txBody>
      </p:sp>
      <p:sp>
        <p:nvSpPr>
          <p:cNvPr id="5" name="TextBox 4">
            <a:extLst>
              <a:ext uri="{FF2B5EF4-FFF2-40B4-BE49-F238E27FC236}">
                <a16:creationId xmlns:a16="http://schemas.microsoft.com/office/drawing/2014/main" id="{4788E951-BCD1-CE51-A02E-11F5B609CFC0}"/>
              </a:ext>
            </a:extLst>
          </p:cNvPr>
          <p:cNvSpPr txBox="1"/>
          <p:nvPr/>
        </p:nvSpPr>
        <p:spPr>
          <a:xfrm>
            <a:off x="95250" y="1279058"/>
            <a:ext cx="2324100" cy="190821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US" sz="900" dirty="0"/>
              <a:t>Primary unit of analysis: a student enrolled in a course section. The dataset contains final course grades enriched by student demographics and instructional context covariates for each credit-bearing undergraduate course enrollment. </a:t>
            </a:r>
          </a:p>
          <a:p>
            <a:pPr marL="171450" indent="-171450">
              <a:spcBef>
                <a:spcPts val="600"/>
              </a:spcBef>
              <a:buFont typeface="Arial" panose="020B0604020202020204" pitchFamily="34" charset="0"/>
              <a:buChar char="•"/>
            </a:pPr>
            <a:r>
              <a:rPr lang="en-US" sz="900" b="1" dirty="0"/>
              <a:t>Treatment: </a:t>
            </a:r>
            <a:r>
              <a:rPr lang="en-US" sz="900" dirty="0"/>
              <a:t>part-time instructor;  </a:t>
            </a:r>
            <a:r>
              <a:rPr lang="en-US" sz="900" b="1" dirty="0"/>
              <a:t>Outcome: </a:t>
            </a:r>
            <a:r>
              <a:rPr lang="en-US" sz="900" dirty="0"/>
              <a:t>final grade</a:t>
            </a:r>
          </a:p>
          <a:p>
            <a:pPr marL="171450" indent="-171450">
              <a:spcBef>
                <a:spcPts val="600"/>
              </a:spcBef>
              <a:buFont typeface="Arial" panose="020B0604020202020204" pitchFamily="34" charset="0"/>
              <a:buChar char="•"/>
            </a:pPr>
            <a:r>
              <a:rPr lang="en-US" sz="900" dirty="0"/>
              <a:t>Net 48,138 first-semester freshmen records, after eliminating courses that presented severe treatment imbalance</a:t>
            </a:r>
          </a:p>
        </p:txBody>
      </p:sp>
      <p:sp>
        <p:nvSpPr>
          <p:cNvPr id="6" name="TextBox 5">
            <a:extLst>
              <a:ext uri="{FF2B5EF4-FFF2-40B4-BE49-F238E27FC236}">
                <a16:creationId xmlns:a16="http://schemas.microsoft.com/office/drawing/2014/main" id="{A36BEFB4-A50E-0266-C1EF-68E8977386AC}"/>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7" name="TextBox 6">
            <a:extLst>
              <a:ext uri="{FF2B5EF4-FFF2-40B4-BE49-F238E27FC236}">
                <a16:creationId xmlns:a16="http://schemas.microsoft.com/office/drawing/2014/main" id="{2F0B9692-2655-3E6C-4B02-441B2F6ACFE5}"/>
              </a:ext>
            </a:extLst>
          </p:cNvPr>
          <p:cNvSpPr txBox="1"/>
          <p:nvPr/>
        </p:nvSpPr>
        <p:spPr>
          <a:xfrm>
            <a:off x="-18546" y="3181600"/>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8" name="TextBox 7">
            <a:extLst>
              <a:ext uri="{FF2B5EF4-FFF2-40B4-BE49-F238E27FC236}">
                <a16:creationId xmlns:a16="http://schemas.microsoft.com/office/drawing/2014/main" id="{19395076-08F3-C3CA-2BDF-292247A3F565}"/>
              </a:ext>
            </a:extLst>
          </p:cNvPr>
          <p:cNvSpPr txBox="1"/>
          <p:nvPr/>
        </p:nvSpPr>
        <p:spPr>
          <a:xfrm>
            <a:off x="0" y="3298309"/>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Tree>
    <p:extLst>
      <p:ext uri="{BB962C8B-B14F-4D97-AF65-F5344CB8AC3E}">
        <p14:creationId xmlns:p14="http://schemas.microsoft.com/office/powerpoint/2010/main" val="299888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40" dirty="0"/>
              <a:t>Identification</a:t>
            </a:r>
            <a:r>
              <a:rPr spc="10" dirty="0"/>
              <a:t> </a:t>
            </a:r>
            <a:r>
              <a:rPr spc="120" dirty="0"/>
              <a:t>&amp;</a:t>
            </a:r>
            <a:r>
              <a:rPr spc="10" dirty="0"/>
              <a:t> </a:t>
            </a:r>
            <a:r>
              <a:rPr spc="-30" dirty="0"/>
              <a:t>Adjustment</a:t>
            </a:r>
            <a:r>
              <a:rPr spc="10" dirty="0"/>
              <a:t> </a:t>
            </a:r>
            <a:r>
              <a:rPr spc="-25" dirty="0"/>
              <a:t>Set</a:t>
            </a:r>
          </a:p>
        </p:txBody>
      </p:sp>
      <p:sp>
        <p:nvSpPr>
          <p:cNvPr id="4" name="object 4"/>
          <p:cNvSpPr txBox="1"/>
          <p:nvPr/>
        </p:nvSpPr>
        <p:spPr>
          <a:xfrm>
            <a:off x="400050" y="663575"/>
            <a:ext cx="3573145" cy="1411925"/>
          </a:xfrm>
          <a:prstGeom prst="rect">
            <a:avLst/>
          </a:prstGeom>
        </p:spPr>
        <p:txBody>
          <a:bodyPr vert="horz" wrap="square" lIns="0" tIns="11430" rIns="0" bIns="0" rtlCol="0">
            <a:spAutoFit/>
          </a:bodyPr>
          <a:lstStyle/>
          <a:p>
            <a:pPr marL="12700">
              <a:lnSpc>
                <a:spcPct val="100000"/>
              </a:lnSpc>
              <a:spcBef>
                <a:spcPts val="600"/>
              </a:spcBef>
            </a:pPr>
            <a:r>
              <a:rPr sz="1100" spc="-30" dirty="0">
                <a:latin typeface="Arial"/>
                <a:cs typeface="Arial"/>
              </a:rPr>
              <a:t>From </a:t>
            </a:r>
            <a:r>
              <a:rPr sz="1100" spc="-50" dirty="0">
                <a:latin typeface="Arial"/>
                <a:cs typeface="Arial"/>
              </a:rPr>
              <a:t>DAG</a:t>
            </a:r>
            <a:r>
              <a:rPr sz="1100" spc="-25" dirty="0">
                <a:latin typeface="Arial"/>
                <a:cs typeface="Arial"/>
              </a:rPr>
              <a:t> </a:t>
            </a:r>
            <a:r>
              <a:rPr sz="1100" spc="-10" dirty="0">
                <a:latin typeface="Arial"/>
                <a:cs typeface="Arial"/>
              </a:rPr>
              <a:t>analysis:</a:t>
            </a:r>
            <a:endParaRPr lang="en-US" sz="1100" spc="-10" dirty="0">
              <a:latin typeface="Arial"/>
              <a:cs typeface="Arial"/>
            </a:endParaRPr>
          </a:p>
          <a:p>
            <a:pPr marL="12700">
              <a:lnSpc>
                <a:spcPct val="100000"/>
              </a:lnSpc>
              <a:spcBef>
                <a:spcPts val="600"/>
              </a:spcBef>
            </a:pPr>
            <a:r>
              <a:rPr sz="1100" i="1" dirty="0">
                <a:latin typeface="Arial"/>
                <a:cs typeface="Arial"/>
              </a:rPr>
              <a:t>Z</a:t>
            </a:r>
            <a:r>
              <a:rPr sz="1100" i="1" spc="75" dirty="0">
                <a:latin typeface="Arial"/>
                <a:cs typeface="Arial"/>
              </a:rPr>
              <a:t> </a:t>
            </a:r>
            <a:r>
              <a:rPr sz="1100" spc="200" dirty="0">
                <a:latin typeface="Arial"/>
                <a:cs typeface="Arial"/>
              </a:rPr>
              <a:t>=</a:t>
            </a:r>
            <a:r>
              <a:rPr sz="1100" spc="-35" dirty="0">
                <a:latin typeface="Arial"/>
                <a:cs typeface="Arial"/>
              </a:rPr>
              <a:t> </a:t>
            </a:r>
            <a:r>
              <a:rPr sz="1100" spc="-40" dirty="0">
                <a:latin typeface="Cambria"/>
                <a:cs typeface="Cambria"/>
              </a:rPr>
              <a:t>{</a:t>
            </a:r>
            <a:r>
              <a:rPr sz="1100" spc="-40" dirty="0">
                <a:latin typeface="Arial"/>
                <a:cs typeface="Arial"/>
              </a:rPr>
              <a:t>Course,</a:t>
            </a:r>
            <a:r>
              <a:rPr sz="1100" spc="15" dirty="0">
                <a:latin typeface="Arial"/>
                <a:cs typeface="Arial"/>
              </a:rPr>
              <a:t> </a:t>
            </a:r>
            <a:r>
              <a:rPr sz="1100" spc="-25" dirty="0">
                <a:latin typeface="Arial"/>
                <a:cs typeface="Arial"/>
              </a:rPr>
              <a:t>Enrollment,</a:t>
            </a:r>
            <a:r>
              <a:rPr sz="1100" spc="20" dirty="0">
                <a:latin typeface="Arial"/>
                <a:cs typeface="Arial"/>
              </a:rPr>
              <a:t> </a:t>
            </a:r>
            <a:r>
              <a:rPr sz="1100" spc="-55" dirty="0">
                <a:latin typeface="Arial"/>
                <a:cs typeface="Arial"/>
              </a:rPr>
              <a:t>Pre-</a:t>
            </a:r>
            <a:r>
              <a:rPr sz="1100" spc="-20" dirty="0">
                <a:latin typeface="Arial"/>
                <a:cs typeface="Arial"/>
              </a:rPr>
              <a:t>COVID,</a:t>
            </a:r>
            <a:r>
              <a:rPr sz="1100" spc="15" dirty="0">
                <a:latin typeface="Arial"/>
                <a:cs typeface="Arial"/>
              </a:rPr>
              <a:t> </a:t>
            </a:r>
            <a:r>
              <a:rPr sz="1100" dirty="0">
                <a:latin typeface="Arial"/>
                <a:cs typeface="Arial"/>
              </a:rPr>
              <a:t>%PT</a:t>
            </a:r>
            <a:r>
              <a:rPr sz="1100" spc="20" dirty="0">
                <a:latin typeface="Arial"/>
                <a:cs typeface="Arial"/>
              </a:rPr>
              <a:t> </a:t>
            </a:r>
            <a:r>
              <a:rPr sz="1100" spc="-10" dirty="0">
                <a:latin typeface="Arial"/>
                <a:cs typeface="Arial"/>
              </a:rPr>
              <a:t>Section</a:t>
            </a:r>
            <a:r>
              <a:rPr sz="1100" spc="-10" dirty="0">
                <a:latin typeface="Cambria"/>
                <a:cs typeface="Cambria"/>
              </a:rPr>
              <a:t>}</a:t>
            </a:r>
            <a:endParaRPr lang="en-US" sz="1100" spc="-10" dirty="0">
              <a:latin typeface="Cambria"/>
              <a:cs typeface="Cambria"/>
            </a:endParaRPr>
          </a:p>
          <a:p>
            <a:pPr marL="12700">
              <a:lnSpc>
                <a:spcPct val="100000"/>
              </a:lnSpc>
              <a:spcBef>
                <a:spcPts val="600"/>
              </a:spcBef>
            </a:pPr>
            <a:r>
              <a:rPr sz="1100" i="1" dirty="0">
                <a:latin typeface="Arial"/>
                <a:cs typeface="Arial"/>
              </a:rPr>
              <a:t>V</a:t>
            </a:r>
            <a:r>
              <a:rPr sz="1100" i="1" spc="105" dirty="0">
                <a:latin typeface="Arial"/>
                <a:cs typeface="Arial"/>
              </a:rPr>
              <a:t> </a:t>
            </a:r>
            <a:r>
              <a:rPr sz="1100" spc="200" dirty="0">
                <a:latin typeface="Arial"/>
                <a:cs typeface="Arial"/>
              </a:rPr>
              <a:t>=</a:t>
            </a:r>
            <a:r>
              <a:rPr sz="1100" spc="-40" dirty="0">
                <a:latin typeface="Arial"/>
                <a:cs typeface="Arial"/>
              </a:rPr>
              <a:t> </a:t>
            </a:r>
            <a:r>
              <a:rPr sz="1100" dirty="0">
                <a:latin typeface="Cambria"/>
                <a:cs typeface="Cambria"/>
              </a:rPr>
              <a:t>{</a:t>
            </a:r>
            <a:r>
              <a:rPr sz="1100" dirty="0">
                <a:latin typeface="Arial"/>
                <a:cs typeface="Arial"/>
              </a:rPr>
              <a:t>HS</a:t>
            </a:r>
            <a:r>
              <a:rPr sz="1100" spc="15" dirty="0">
                <a:latin typeface="Arial"/>
                <a:cs typeface="Arial"/>
              </a:rPr>
              <a:t> </a:t>
            </a:r>
            <a:r>
              <a:rPr sz="1100" spc="-55" dirty="0">
                <a:latin typeface="Arial"/>
                <a:cs typeface="Arial"/>
              </a:rPr>
              <a:t>GPA,</a:t>
            </a:r>
            <a:r>
              <a:rPr sz="1100" spc="15" dirty="0">
                <a:latin typeface="Arial"/>
                <a:cs typeface="Arial"/>
              </a:rPr>
              <a:t> </a:t>
            </a:r>
            <a:r>
              <a:rPr sz="1100" spc="-60" dirty="0">
                <a:latin typeface="Arial"/>
                <a:cs typeface="Arial"/>
              </a:rPr>
              <a:t>Gender,</a:t>
            </a:r>
            <a:r>
              <a:rPr sz="1100" spc="10" dirty="0">
                <a:latin typeface="Arial"/>
                <a:cs typeface="Arial"/>
              </a:rPr>
              <a:t> </a:t>
            </a:r>
            <a:r>
              <a:rPr sz="1100" spc="-20" dirty="0">
                <a:latin typeface="Arial"/>
                <a:cs typeface="Arial"/>
              </a:rPr>
              <a:t>Pell,</a:t>
            </a:r>
            <a:r>
              <a:rPr sz="1100" spc="15" dirty="0">
                <a:latin typeface="Arial"/>
                <a:cs typeface="Arial"/>
              </a:rPr>
              <a:t> </a:t>
            </a:r>
            <a:r>
              <a:rPr sz="1100" spc="-10" dirty="0">
                <a:latin typeface="Arial"/>
                <a:cs typeface="Arial"/>
              </a:rPr>
              <a:t>Minority</a:t>
            </a:r>
            <a:r>
              <a:rPr sz="1100" spc="-10" dirty="0">
                <a:latin typeface="Cambria"/>
                <a:cs typeface="Cambria"/>
              </a:rPr>
              <a:t>}</a:t>
            </a:r>
            <a:endParaRPr sz="1100" dirty="0">
              <a:latin typeface="Cambria"/>
              <a:cs typeface="Cambria"/>
            </a:endParaRPr>
          </a:p>
          <a:p>
            <a:pPr marL="12700">
              <a:lnSpc>
                <a:spcPct val="100000"/>
              </a:lnSpc>
              <a:spcBef>
                <a:spcPts val="600"/>
              </a:spcBef>
            </a:pPr>
            <a:r>
              <a:rPr sz="1100" i="1" spc="-20" dirty="0">
                <a:latin typeface="Arial"/>
                <a:cs typeface="Arial"/>
              </a:rPr>
              <a:t>Z</a:t>
            </a:r>
            <a:r>
              <a:rPr sz="1100" i="1" spc="-175" dirty="0">
                <a:latin typeface="Arial"/>
                <a:cs typeface="Arial"/>
              </a:rPr>
              <a:t> </a:t>
            </a:r>
            <a:r>
              <a:rPr sz="1100" dirty="0">
                <a:latin typeface="Arial"/>
                <a:cs typeface="Arial"/>
              </a:rPr>
              <a:t>:</a:t>
            </a:r>
            <a:r>
              <a:rPr sz="1100" spc="105" dirty="0">
                <a:latin typeface="Arial"/>
                <a:cs typeface="Arial"/>
              </a:rPr>
              <a:t> </a:t>
            </a:r>
            <a:r>
              <a:rPr sz="1100" spc="-55" dirty="0">
                <a:latin typeface="Arial"/>
                <a:cs typeface="Arial"/>
              </a:rPr>
              <a:t>confounders</a:t>
            </a:r>
            <a:r>
              <a:rPr sz="1100" spc="15" dirty="0">
                <a:latin typeface="Arial"/>
                <a:cs typeface="Arial"/>
              </a:rPr>
              <a:t> </a:t>
            </a:r>
            <a:r>
              <a:rPr sz="1100" spc="155" dirty="0">
                <a:latin typeface="Cambria"/>
                <a:cs typeface="Cambria"/>
              </a:rPr>
              <a:t>→</a:t>
            </a:r>
            <a:r>
              <a:rPr sz="1100" spc="75" dirty="0">
                <a:latin typeface="Cambria"/>
                <a:cs typeface="Cambria"/>
              </a:rPr>
              <a:t> </a:t>
            </a:r>
            <a:r>
              <a:rPr sz="1100" spc="-10" dirty="0">
                <a:latin typeface="Arial"/>
                <a:cs typeface="Arial"/>
              </a:rPr>
              <a:t>must</a:t>
            </a:r>
            <a:r>
              <a:rPr sz="1100" spc="15" dirty="0">
                <a:latin typeface="Arial"/>
                <a:cs typeface="Arial"/>
              </a:rPr>
              <a:t> </a:t>
            </a:r>
            <a:r>
              <a:rPr sz="1100" spc="-20" dirty="0">
                <a:latin typeface="Arial"/>
                <a:cs typeface="Arial"/>
              </a:rPr>
              <a:t>adjust</a:t>
            </a:r>
            <a:r>
              <a:rPr sz="1100" spc="20" dirty="0">
                <a:latin typeface="Arial"/>
                <a:cs typeface="Arial"/>
              </a:rPr>
              <a:t> </a:t>
            </a:r>
            <a:r>
              <a:rPr sz="1100" dirty="0">
                <a:latin typeface="Arial"/>
                <a:cs typeface="Arial"/>
              </a:rPr>
              <a:t>to</a:t>
            </a:r>
            <a:r>
              <a:rPr sz="1100" spc="15" dirty="0">
                <a:latin typeface="Arial"/>
                <a:cs typeface="Arial"/>
              </a:rPr>
              <a:t> </a:t>
            </a:r>
            <a:r>
              <a:rPr sz="1100" spc="-20" dirty="0">
                <a:latin typeface="Arial"/>
                <a:cs typeface="Arial"/>
              </a:rPr>
              <a:t>block</a:t>
            </a:r>
            <a:r>
              <a:rPr sz="1100" spc="15" dirty="0">
                <a:latin typeface="Arial"/>
                <a:cs typeface="Arial"/>
              </a:rPr>
              <a:t> </a:t>
            </a:r>
            <a:r>
              <a:rPr sz="1100" spc="-10" dirty="0">
                <a:latin typeface="Arial"/>
                <a:cs typeface="Arial"/>
              </a:rPr>
              <a:t>backdoors.</a:t>
            </a:r>
            <a:endParaRPr sz="1100" dirty="0">
              <a:latin typeface="Arial"/>
              <a:cs typeface="Arial"/>
            </a:endParaRPr>
          </a:p>
          <a:p>
            <a:pPr marL="12700">
              <a:lnSpc>
                <a:spcPct val="100000"/>
              </a:lnSpc>
              <a:spcBef>
                <a:spcPts val="600"/>
              </a:spcBef>
            </a:pPr>
            <a:r>
              <a:rPr sz="1100" i="1" spc="-20" dirty="0">
                <a:latin typeface="Arial"/>
                <a:cs typeface="Arial"/>
              </a:rPr>
              <a:t>V</a:t>
            </a:r>
            <a:r>
              <a:rPr sz="1100" i="1" spc="-130" dirty="0">
                <a:latin typeface="Arial"/>
                <a:cs typeface="Arial"/>
              </a:rPr>
              <a:t> </a:t>
            </a:r>
            <a:r>
              <a:rPr sz="1100" dirty="0">
                <a:latin typeface="Arial"/>
                <a:cs typeface="Arial"/>
              </a:rPr>
              <a:t>:</a:t>
            </a:r>
            <a:r>
              <a:rPr sz="1100" spc="120" dirty="0">
                <a:latin typeface="Arial"/>
                <a:cs typeface="Arial"/>
              </a:rPr>
              <a:t> </a:t>
            </a:r>
            <a:r>
              <a:rPr sz="1100" spc="-50" dirty="0">
                <a:latin typeface="Arial"/>
                <a:cs typeface="Arial"/>
              </a:rPr>
              <a:t>precision</a:t>
            </a:r>
            <a:r>
              <a:rPr sz="1100" spc="25" dirty="0">
                <a:latin typeface="Arial"/>
                <a:cs typeface="Arial"/>
              </a:rPr>
              <a:t> </a:t>
            </a:r>
            <a:r>
              <a:rPr sz="1100" spc="-50" dirty="0">
                <a:latin typeface="Arial"/>
                <a:cs typeface="Arial"/>
              </a:rPr>
              <a:t>covariates</a:t>
            </a:r>
            <a:r>
              <a:rPr sz="1100" spc="25" dirty="0">
                <a:latin typeface="Arial"/>
                <a:cs typeface="Arial"/>
              </a:rPr>
              <a:t> </a:t>
            </a:r>
            <a:r>
              <a:rPr sz="1100" spc="155" dirty="0">
                <a:latin typeface="Cambria"/>
                <a:cs typeface="Cambria"/>
              </a:rPr>
              <a:t>→</a:t>
            </a:r>
            <a:r>
              <a:rPr sz="1100" spc="85" dirty="0">
                <a:latin typeface="Cambria"/>
                <a:cs typeface="Cambria"/>
              </a:rPr>
              <a:t> </a:t>
            </a:r>
            <a:r>
              <a:rPr sz="1100" spc="-40" dirty="0">
                <a:latin typeface="Arial"/>
                <a:cs typeface="Arial"/>
              </a:rPr>
              <a:t>improve</a:t>
            </a:r>
            <a:r>
              <a:rPr sz="1100" spc="25" dirty="0">
                <a:latin typeface="Arial"/>
                <a:cs typeface="Arial"/>
              </a:rPr>
              <a:t> </a:t>
            </a:r>
            <a:r>
              <a:rPr sz="1100" spc="-10" dirty="0">
                <a:latin typeface="Arial"/>
                <a:cs typeface="Arial"/>
              </a:rPr>
              <a:t>efficiency.</a:t>
            </a:r>
            <a:endParaRPr sz="1100" dirty="0">
              <a:latin typeface="Arial"/>
              <a:cs typeface="Arial"/>
            </a:endParaRPr>
          </a:p>
          <a:p>
            <a:pPr marL="12700">
              <a:lnSpc>
                <a:spcPct val="100000"/>
              </a:lnSpc>
              <a:spcBef>
                <a:spcPts val="600"/>
              </a:spcBef>
            </a:pPr>
            <a:r>
              <a:rPr sz="1100" spc="-85" dirty="0">
                <a:latin typeface="Arial"/>
                <a:cs typeface="Arial"/>
              </a:rPr>
              <a:t>Ensures</a:t>
            </a:r>
            <a:r>
              <a:rPr sz="1100" spc="10" dirty="0">
                <a:latin typeface="Arial"/>
                <a:cs typeface="Arial"/>
              </a:rPr>
              <a:t> </a:t>
            </a:r>
            <a:r>
              <a:rPr sz="1100" spc="-20" dirty="0">
                <a:latin typeface="Arial"/>
                <a:cs typeface="Arial"/>
              </a:rPr>
              <a:t>valid</a:t>
            </a:r>
            <a:r>
              <a:rPr sz="1100" spc="-5" dirty="0">
                <a:latin typeface="Arial"/>
                <a:cs typeface="Arial"/>
              </a:rPr>
              <a:t> </a:t>
            </a:r>
            <a:r>
              <a:rPr sz="1100" spc="-30" dirty="0">
                <a:latin typeface="Arial"/>
                <a:cs typeface="Arial"/>
              </a:rPr>
              <a:t>estimation</a:t>
            </a:r>
            <a:r>
              <a:rPr sz="1100" spc="5" dirty="0">
                <a:latin typeface="Arial"/>
                <a:cs typeface="Arial"/>
              </a:rPr>
              <a:t> </a:t>
            </a:r>
            <a:r>
              <a:rPr sz="1100" dirty="0">
                <a:latin typeface="Arial"/>
                <a:cs typeface="Arial"/>
              </a:rPr>
              <a:t>of</a:t>
            </a:r>
            <a:r>
              <a:rPr sz="1100" spc="5" dirty="0">
                <a:latin typeface="Arial"/>
                <a:cs typeface="Arial"/>
              </a:rPr>
              <a:t> </a:t>
            </a:r>
            <a:r>
              <a:rPr sz="1100" spc="-70" dirty="0">
                <a:latin typeface="Arial"/>
                <a:cs typeface="Arial"/>
              </a:rPr>
              <a:t>Average</a:t>
            </a:r>
            <a:r>
              <a:rPr sz="1100" dirty="0">
                <a:latin typeface="Arial"/>
                <a:cs typeface="Arial"/>
              </a:rPr>
              <a:t> </a:t>
            </a:r>
            <a:r>
              <a:rPr sz="1100" spc="-25" dirty="0">
                <a:latin typeface="Arial"/>
                <a:cs typeface="Arial"/>
              </a:rPr>
              <a:t>Treatment</a:t>
            </a:r>
            <a:r>
              <a:rPr sz="1100" spc="5" dirty="0">
                <a:latin typeface="Arial"/>
                <a:cs typeface="Arial"/>
              </a:rPr>
              <a:t> </a:t>
            </a:r>
            <a:r>
              <a:rPr sz="1100" spc="-10" dirty="0">
                <a:latin typeface="Arial"/>
                <a:cs typeface="Arial"/>
              </a:rPr>
              <a:t>Effect</a:t>
            </a:r>
            <a:r>
              <a:rPr sz="1100" spc="5" dirty="0">
                <a:latin typeface="Arial"/>
                <a:cs typeface="Arial"/>
              </a:rPr>
              <a:t> </a:t>
            </a:r>
            <a:r>
              <a:rPr sz="1100" spc="-10" dirty="0">
                <a:latin typeface="Arial"/>
                <a:cs typeface="Arial"/>
              </a:rPr>
              <a:t>(ATE).</a:t>
            </a:r>
            <a:endParaRPr sz="1100" dirty="0">
              <a:latin typeface="Arial"/>
              <a:cs typeface="Arial"/>
            </a:endParaRPr>
          </a:p>
        </p:txBody>
      </p:sp>
      <p:pic>
        <p:nvPicPr>
          <p:cNvPr id="12" name="Picture 11" descr="A diagram of a diagram&#10;&#10;AI-generated content may be incorrect.">
            <a:extLst>
              <a:ext uri="{FF2B5EF4-FFF2-40B4-BE49-F238E27FC236}">
                <a16:creationId xmlns:a16="http://schemas.microsoft.com/office/drawing/2014/main" id="{CEF702AC-AA85-4067-335F-2B599BE7C5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281" y="2263775"/>
            <a:ext cx="4201631" cy="878602"/>
          </a:xfrm>
          <a:prstGeom prst="rect">
            <a:avLst/>
          </a:prstGeom>
        </p:spPr>
      </p:pic>
      <p:sp>
        <p:nvSpPr>
          <p:cNvPr id="3" name="TextBox 2">
            <a:extLst>
              <a:ext uri="{FF2B5EF4-FFF2-40B4-BE49-F238E27FC236}">
                <a16:creationId xmlns:a16="http://schemas.microsoft.com/office/drawing/2014/main" id="{62EA2D7D-2475-94DB-280D-F9D1735E0B3D}"/>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5" name="TextBox 4">
            <a:extLst>
              <a:ext uri="{FF2B5EF4-FFF2-40B4-BE49-F238E27FC236}">
                <a16:creationId xmlns:a16="http://schemas.microsoft.com/office/drawing/2014/main" id="{65690376-AF48-026E-09A1-AAB006B99A1F}"/>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6" name="TextBox 5">
            <a:extLst>
              <a:ext uri="{FF2B5EF4-FFF2-40B4-BE49-F238E27FC236}">
                <a16:creationId xmlns:a16="http://schemas.microsoft.com/office/drawing/2014/main" id="{40AB839A-BE1A-E3B1-2AE4-CB1A7F1B6D0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50" dirty="0"/>
              <a:t>General</a:t>
            </a:r>
            <a:r>
              <a:rPr spc="-35" dirty="0"/>
              <a:t> </a:t>
            </a:r>
            <a:r>
              <a:rPr spc="-25" dirty="0"/>
              <a:t>Causal</a:t>
            </a:r>
            <a:r>
              <a:rPr spc="-30" dirty="0"/>
              <a:t> </a:t>
            </a:r>
            <a:r>
              <a:rPr spc="-10" dirty="0"/>
              <a:t>Estimand</a:t>
            </a:r>
          </a:p>
        </p:txBody>
      </p:sp>
      <p:sp>
        <p:nvSpPr>
          <p:cNvPr id="3" name="object 3"/>
          <p:cNvSpPr txBox="1"/>
          <p:nvPr/>
        </p:nvSpPr>
        <p:spPr>
          <a:xfrm>
            <a:off x="313816" y="904367"/>
            <a:ext cx="3980815" cy="209550"/>
          </a:xfrm>
          <a:prstGeom prst="rect">
            <a:avLst/>
          </a:prstGeom>
          <a:solidFill>
            <a:schemeClr val="tx1">
              <a:lumMod val="50000"/>
              <a:lumOff val="50000"/>
            </a:schemeClr>
          </a:solidFill>
        </p:spPr>
        <p:txBody>
          <a:bodyPr vert="horz" wrap="square" lIns="0" tIns="2540" rIns="0" bIns="0" rtlCol="0">
            <a:spAutoFit/>
          </a:bodyPr>
          <a:lstStyle/>
          <a:p>
            <a:pPr marL="45720">
              <a:lnSpc>
                <a:spcPct val="100000"/>
              </a:lnSpc>
              <a:spcBef>
                <a:spcPts val="20"/>
              </a:spcBef>
            </a:pPr>
            <a:r>
              <a:rPr sz="1100" spc="-70" dirty="0">
                <a:solidFill>
                  <a:srgbClr val="FFFFFF"/>
                </a:solidFill>
                <a:latin typeface="Arial"/>
                <a:cs typeface="Arial"/>
              </a:rPr>
              <a:t>Average</a:t>
            </a:r>
            <a:r>
              <a:rPr sz="1100" spc="20" dirty="0">
                <a:solidFill>
                  <a:srgbClr val="FFFFFF"/>
                </a:solidFill>
                <a:latin typeface="Arial"/>
                <a:cs typeface="Arial"/>
              </a:rPr>
              <a:t> </a:t>
            </a:r>
            <a:r>
              <a:rPr sz="1100" spc="-25" dirty="0">
                <a:solidFill>
                  <a:srgbClr val="FFFFFF"/>
                </a:solidFill>
                <a:latin typeface="Arial"/>
                <a:cs typeface="Arial"/>
              </a:rPr>
              <a:t>Treatment</a:t>
            </a:r>
            <a:r>
              <a:rPr sz="1100" spc="20" dirty="0">
                <a:solidFill>
                  <a:srgbClr val="FFFFFF"/>
                </a:solidFill>
                <a:latin typeface="Arial"/>
                <a:cs typeface="Arial"/>
              </a:rPr>
              <a:t> </a:t>
            </a:r>
            <a:r>
              <a:rPr sz="1100" spc="-10" dirty="0">
                <a:solidFill>
                  <a:srgbClr val="FFFFFF"/>
                </a:solidFill>
                <a:latin typeface="Arial"/>
                <a:cs typeface="Arial"/>
              </a:rPr>
              <a:t>Effect</a:t>
            </a:r>
            <a:endParaRPr sz="1100">
              <a:latin typeface="Arial"/>
              <a:cs typeface="Arial"/>
            </a:endParaRPr>
          </a:p>
        </p:txBody>
      </p:sp>
      <p:sp>
        <p:nvSpPr>
          <p:cNvPr id="4" name="object 4"/>
          <p:cNvSpPr txBox="1"/>
          <p:nvPr/>
        </p:nvSpPr>
        <p:spPr>
          <a:xfrm>
            <a:off x="313816" y="1113548"/>
            <a:ext cx="3980815" cy="507365"/>
          </a:xfrm>
          <a:prstGeom prst="rect">
            <a:avLst/>
          </a:prstGeom>
          <a:solidFill>
            <a:srgbClr val="E9E9F2"/>
          </a:solidFill>
        </p:spPr>
        <p:txBody>
          <a:bodyPr vert="horz" wrap="square" lIns="0" tIns="43815" rIns="0" bIns="0" rtlCol="0">
            <a:spAutoFit/>
          </a:bodyPr>
          <a:lstStyle/>
          <a:p>
            <a:pPr>
              <a:lnSpc>
                <a:spcPct val="100000"/>
              </a:lnSpc>
              <a:spcBef>
                <a:spcPts val="345"/>
              </a:spcBef>
            </a:pPr>
            <a:endParaRPr sz="1100">
              <a:latin typeface="Times New Roman"/>
              <a:cs typeface="Times New Roman"/>
            </a:endParaRPr>
          </a:p>
          <a:p>
            <a:pPr algn="ctr">
              <a:lnSpc>
                <a:spcPct val="100000"/>
              </a:lnSpc>
            </a:pPr>
            <a:r>
              <a:rPr sz="1100" i="1" dirty="0">
                <a:latin typeface="Arial"/>
                <a:cs typeface="Arial"/>
              </a:rPr>
              <a:t>ATE</a:t>
            </a:r>
            <a:r>
              <a:rPr sz="1100" i="1" spc="110" dirty="0">
                <a:latin typeface="Arial"/>
                <a:cs typeface="Arial"/>
              </a:rPr>
              <a:t> </a:t>
            </a:r>
            <a:r>
              <a:rPr sz="1100" spc="200" dirty="0">
                <a:latin typeface="Arial"/>
                <a:cs typeface="Arial"/>
              </a:rPr>
              <a:t>=</a:t>
            </a:r>
            <a:r>
              <a:rPr sz="1100" spc="-15" dirty="0">
                <a:latin typeface="Arial"/>
                <a:cs typeface="Arial"/>
              </a:rPr>
              <a:t> </a:t>
            </a:r>
            <a:r>
              <a:rPr sz="1100" dirty="0">
                <a:latin typeface="Arial"/>
                <a:cs typeface="Arial"/>
              </a:rPr>
              <a:t>E[</a:t>
            </a:r>
            <a:r>
              <a:rPr sz="1100" i="1" dirty="0">
                <a:latin typeface="Arial"/>
                <a:cs typeface="Arial"/>
              </a:rPr>
              <a:t>Y</a:t>
            </a:r>
            <a:r>
              <a:rPr sz="1100" i="1" spc="170" dirty="0">
                <a:latin typeface="Arial"/>
                <a:cs typeface="Arial"/>
              </a:rPr>
              <a:t> </a:t>
            </a:r>
            <a:r>
              <a:rPr sz="1100" dirty="0">
                <a:latin typeface="Cambria"/>
                <a:cs typeface="Cambria"/>
              </a:rPr>
              <a:t>|</a:t>
            </a:r>
            <a:r>
              <a:rPr sz="1100" spc="50" dirty="0">
                <a:latin typeface="Cambria"/>
                <a:cs typeface="Cambria"/>
              </a:rPr>
              <a:t> </a:t>
            </a:r>
            <a:r>
              <a:rPr sz="1100" i="1" dirty="0">
                <a:latin typeface="Arial"/>
                <a:cs typeface="Arial"/>
              </a:rPr>
              <a:t>do</a:t>
            </a:r>
            <a:r>
              <a:rPr sz="1100" dirty="0">
                <a:latin typeface="Arial"/>
                <a:cs typeface="Arial"/>
              </a:rPr>
              <a:t>(</a:t>
            </a:r>
            <a:r>
              <a:rPr sz="1100" i="1" dirty="0">
                <a:latin typeface="Arial"/>
                <a:cs typeface="Arial"/>
              </a:rPr>
              <a:t>T</a:t>
            </a:r>
            <a:r>
              <a:rPr sz="1100" i="1" spc="130" dirty="0">
                <a:latin typeface="Arial"/>
                <a:cs typeface="Arial"/>
              </a:rPr>
              <a:t> </a:t>
            </a:r>
            <a:r>
              <a:rPr sz="1100" spc="200" dirty="0">
                <a:latin typeface="Arial"/>
                <a:cs typeface="Arial"/>
              </a:rPr>
              <a:t>=</a:t>
            </a:r>
            <a:r>
              <a:rPr sz="1100" spc="-15" dirty="0">
                <a:latin typeface="Arial"/>
                <a:cs typeface="Arial"/>
              </a:rPr>
              <a:t> </a:t>
            </a:r>
            <a:r>
              <a:rPr sz="1100" dirty="0">
                <a:latin typeface="Arial"/>
                <a:cs typeface="Arial"/>
              </a:rPr>
              <a:t>1)]</a:t>
            </a:r>
            <a:r>
              <a:rPr sz="1100" spc="-70" dirty="0">
                <a:latin typeface="Arial"/>
                <a:cs typeface="Arial"/>
              </a:rPr>
              <a:t> </a:t>
            </a:r>
            <a:r>
              <a:rPr sz="1100" spc="229" dirty="0">
                <a:latin typeface="Cambria"/>
                <a:cs typeface="Cambria"/>
              </a:rPr>
              <a:t>−</a:t>
            </a:r>
            <a:r>
              <a:rPr sz="1100" spc="-10" dirty="0">
                <a:latin typeface="Cambria"/>
                <a:cs typeface="Cambria"/>
              </a:rPr>
              <a:t> </a:t>
            </a:r>
            <a:r>
              <a:rPr sz="1100" dirty="0">
                <a:latin typeface="Arial"/>
                <a:cs typeface="Arial"/>
              </a:rPr>
              <a:t>E[</a:t>
            </a:r>
            <a:r>
              <a:rPr sz="1100" i="1" dirty="0">
                <a:latin typeface="Arial"/>
                <a:cs typeface="Arial"/>
              </a:rPr>
              <a:t>Y</a:t>
            </a:r>
            <a:r>
              <a:rPr sz="1100" i="1" spc="170" dirty="0">
                <a:latin typeface="Arial"/>
                <a:cs typeface="Arial"/>
              </a:rPr>
              <a:t> </a:t>
            </a:r>
            <a:r>
              <a:rPr sz="1100" dirty="0">
                <a:latin typeface="Cambria"/>
                <a:cs typeface="Cambria"/>
              </a:rPr>
              <a:t>|</a:t>
            </a:r>
            <a:r>
              <a:rPr sz="1100" spc="50" dirty="0">
                <a:latin typeface="Cambria"/>
                <a:cs typeface="Cambria"/>
              </a:rPr>
              <a:t> </a:t>
            </a:r>
            <a:r>
              <a:rPr sz="1100" i="1" dirty="0">
                <a:latin typeface="Arial"/>
                <a:cs typeface="Arial"/>
              </a:rPr>
              <a:t>do</a:t>
            </a:r>
            <a:r>
              <a:rPr sz="1100" dirty="0">
                <a:latin typeface="Arial"/>
                <a:cs typeface="Arial"/>
              </a:rPr>
              <a:t>(</a:t>
            </a:r>
            <a:r>
              <a:rPr sz="1100" i="1" dirty="0">
                <a:latin typeface="Arial"/>
                <a:cs typeface="Arial"/>
              </a:rPr>
              <a:t>T</a:t>
            </a:r>
            <a:r>
              <a:rPr sz="1100" i="1" spc="125" dirty="0">
                <a:latin typeface="Arial"/>
                <a:cs typeface="Arial"/>
              </a:rPr>
              <a:t> </a:t>
            </a:r>
            <a:r>
              <a:rPr sz="1100" spc="200" dirty="0">
                <a:latin typeface="Arial"/>
                <a:cs typeface="Arial"/>
              </a:rPr>
              <a:t>=</a:t>
            </a:r>
            <a:r>
              <a:rPr sz="1100" spc="-10" dirty="0">
                <a:latin typeface="Arial"/>
                <a:cs typeface="Arial"/>
              </a:rPr>
              <a:t> </a:t>
            </a:r>
            <a:r>
              <a:rPr sz="1100" spc="-25" dirty="0">
                <a:latin typeface="Arial"/>
                <a:cs typeface="Arial"/>
              </a:rPr>
              <a:t>0)]</a:t>
            </a:r>
            <a:endParaRPr sz="1100">
              <a:latin typeface="Arial"/>
              <a:cs typeface="Arial"/>
            </a:endParaRPr>
          </a:p>
        </p:txBody>
      </p:sp>
      <mc:AlternateContent xmlns:mc="http://schemas.openxmlformats.org/markup-compatibility/2006" xmlns:a14="http://schemas.microsoft.com/office/drawing/2010/main">
        <mc:Choice Requires="a14">
          <p:sp>
            <p:nvSpPr>
              <p:cNvPr id="6" name="object 6"/>
              <p:cNvSpPr txBox="1"/>
              <p:nvPr/>
            </p:nvSpPr>
            <p:spPr>
              <a:xfrm>
                <a:off x="476250" y="1677153"/>
                <a:ext cx="3818381" cy="1228413"/>
              </a:xfrm>
              <a:prstGeom prst="rect">
                <a:avLst/>
              </a:prstGeom>
            </p:spPr>
            <p:txBody>
              <a:bodyPr vert="horz" wrap="square" lIns="0" tIns="12700" rIns="0" bIns="0" rtlCol="0">
                <a:spAutoFit/>
              </a:bodyPr>
              <a:lstStyle/>
              <a:p>
                <a:pPr marL="50800" marR="140970">
                  <a:lnSpc>
                    <a:spcPct val="125299"/>
                  </a:lnSpc>
                  <a:spcBef>
                    <a:spcPts val="100"/>
                  </a:spcBef>
                </a:pPr>
                <a:r>
                  <a:rPr lang="en-US" sz="1100" spc="-25" dirty="0">
                    <a:latin typeface="Arial"/>
                    <a:cs typeface="Arial"/>
                  </a:rPr>
                  <a:t>Intervention</a:t>
                </a:r>
                <a:r>
                  <a:rPr lang="en-US" sz="1100" spc="30" dirty="0">
                    <a:latin typeface="Arial"/>
                    <a:cs typeface="Arial"/>
                  </a:rPr>
                  <a:t> </a:t>
                </a:r>
                <a:r>
                  <a:rPr lang="en-US" sz="1100" i="1" dirty="0">
                    <a:latin typeface="Arial"/>
                    <a:cs typeface="Arial"/>
                  </a:rPr>
                  <a:t>do</a:t>
                </a:r>
                <a:r>
                  <a:rPr lang="en-US" sz="1100" dirty="0">
                    <a:latin typeface="Arial"/>
                    <a:cs typeface="Arial"/>
                  </a:rPr>
                  <a:t>(</a:t>
                </a:r>
                <a:r>
                  <a:rPr lang="en-US" sz="1100" i="1" dirty="0">
                    <a:latin typeface="Arial"/>
                    <a:cs typeface="Arial"/>
                  </a:rPr>
                  <a:t>T</a:t>
                </a:r>
                <a:r>
                  <a:rPr lang="en-US" sz="1100" i="1" spc="105" dirty="0">
                    <a:latin typeface="Arial"/>
                    <a:cs typeface="Arial"/>
                  </a:rPr>
                  <a:t> </a:t>
                </a:r>
                <a:r>
                  <a:rPr lang="en-US" sz="1100" spc="200" dirty="0">
                    <a:latin typeface="Arial"/>
                    <a:cs typeface="Arial"/>
                  </a:rPr>
                  <a:t>=</a:t>
                </a:r>
                <a:r>
                  <a:rPr lang="en-US" sz="1100" spc="-25" dirty="0">
                    <a:latin typeface="Arial"/>
                    <a:cs typeface="Arial"/>
                  </a:rPr>
                  <a:t> </a:t>
                </a:r>
                <a:r>
                  <a:rPr lang="en-US" sz="1100" i="1" spc="110" dirty="0">
                    <a:latin typeface="Arial"/>
                    <a:cs typeface="Arial"/>
                  </a:rPr>
                  <a:t>t</a:t>
                </a:r>
                <a:r>
                  <a:rPr lang="en-US" sz="1100" spc="110" dirty="0">
                    <a:latin typeface="Arial"/>
                    <a:cs typeface="Arial"/>
                  </a:rPr>
                  <a:t>)</a:t>
                </a:r>
                <a:r>
                  <a:rPr lang="en-US" sz="1100" spc="30" dirty="0">
                    <a:latin typeface="Arial"/>
                    <a:cs typeface="Arial"/>
                  </a:rPr>
                  <a:t> </a:t>
                </a:r>
                <a:r>
                  <a:rPr lang="en-US" sz="1100" spc="-60" dirty="0">
                    <a:latin typeface="Arial"/>
                    <a:cs typeface="Arial"/>
                  </a:rPr>
                  <a:t>sets</a:t>
                </a:r>
                <a:r>
                  <a:rPr lang="en-US" sz="1100" spc="30" dirty="0">
                    <a:latin typeface="Arial"/>
                    <a:cs typeface="Arial"/>
                  </a:rPr>
                  <a:t> </a:t>
                </a:r>
                <a:r>
                  <a:rPr lang="en-US" sz="1100" spc="-10" dirty="0">
                    <a:latin typeface="Arial"/>
                    <a:cs typeface="Arial"/>
                  </a:rPr>
                  <a:t>instructor</a:t>
                </a:r>
                <a:r>
                  <a:rPr lang="en-US" sz="1100" spc="30" dirty="0">
                    <a:latin typeface="Arial"/>
                    <a:cs typeface="Arial"/>
                  </a:rPr>
                  <a:t> </a:t>
                </a:r>
                <a:r>
                  <a:rPr lang="en-US" sz="1100" spc="-10" dirty="0">
                    <a:latin typeface="Arial"/>
                    <a:cs typeface="Arial"/>
                  </a:rPr>
                  <a:t>type</a:t>
                </a:r>
                <a:r>
                  <a:rPr lang="en-US" sz="1100" spc="30" dirty="0">
                    <a:latin typeface="Arial"/>
                    <a:cs typeface="Arial"/>
                  </a:rPr>
                  <a:t> </a:t>
                </a:r>
                <a:r>
                  <a:rPr lang="en-US" sz="1100" dirty="0">
                    <a:latin typeface="Arial"/>
                    <a:cs typeface="Arial"/>
                  </a:rPr>
                  <a:t>(PT</a:t>
                </a:r>
                <a:r>
                  <a:rPr lang="en-US" sz="1100" spc="30" dirty="0">
                    <a:latin typeface="Arial"/>
                    <a:cs typeface="Arial"/>
                  </a:rPr>
                  <a:t> </a:t>
                </a:r>
                <a:r>
                  <a:rPr lang="en-US" sz="1100" spc="-60" dirty="0">
                    <a:latin typeface="Arial"/>
                    <a:cs typeface="Arial"/>
                  </a:rPr>
                  <a:t>vs</a:t>
                </a:r>
                <a:r>
                  <a:rPr lang="en-US" sz="1100" spc="35" dirty="0">
                    <a:latin typeface="Arial"/>
                    <a:cs typeface="Arial"/>
                  </a:rPr>
                  <a:t> </a:t>
                </a:r>
                <a:r>
                  <a:rPr lang="en-US" sz="1100" spc="-20" dirty="0">
                    <a:latin typeface="Arial"/>
                    <a:cs typeface="Arial"/>
                  </a:rPr>
                  <a:t>FT). </a:t>
                </a:r>
                <a:r>
                  <a:rPr lang="en-US" sz="1100" spc="-40" dirty="0">
                    <a:latin typeface="Arial"/>
                    <a:cs typeface="Arial"/>
                  </a:rPr>
                  <a:t>Backdoor</a:t>
                </a:r>
                <a:r>
                  <a:rPr lang="en-US" sz="1100" spc="-20" dirty="0">
                    <a:latin typeface="Arial"/>
                    <a:cs typeface="Arial"/>
                  </a:rPr>
                  <a:t> </a:t>
                </a:r>
                <a:r>
                  <a:rPr lang="en-US" sz="1100" spc="-25" dirty="0">
                    <a:latin typeface="Arial"/>
                    <a:cs typeface="Arial"/>
                  </a:rPr>
                  <a:t>adjustment</a:t>
                </a:r>
                <a:r>
                  <a:rPr lang="en-US" sz="1100" spc="-20" dirty="0">
                    <a:latin typeface="Arial"/>
                    <a:cs typeface="Arial"/>
                  </a:rPr>
                  <a:t> </a:t>
                </a:r>
                <a:r>
                  <a:rPr lang="en-US" sz="1100" spc="-10" dirty="0">
                    <a:latin typeface="Arial"/>
                    <a:cs typeface="Arial"/>
                  </a:rPr>
                  <a:t>formula:</a:t>
                </a:r>
                <a:endParaRPr lang="en-US" sz="1100" dirty="0">
                  <a:latin typeface="Arial"/>
                  <a:cs typeface="Arial"/>
                </a:endParaRPr>
              </a:p>
              <a:p>
                <a:pPr marL="299085">
                  <a:lnSpc>
                    <a:spcPct val="100000"/>
                  </a:lnSpc>
                  <a:spcBef>
                    <a:spcPts val="1235"/>
                  </a:spcBef>
                </a:pPr>
                <a:r>
                  <a:rPr lang="en-US" sz="1100" dirty="0">
                    <a:latin typeface="Arial"/>
                    <a:cs typeface="Arial"/>
                  </a:rPr>
                  <a:t>E[</a:t>
                </a:r>
                <a:r>
                  <a:rPr lang="en-US" sz="1100" i="1" dirty="0">
                    <a:latin typeface="Arial"/>
                    <a:cs typeface="Arial"/>
                  </a:rPr>
                  <a:t>Y</a:t>
                </a:r>
                <a:r>
                  <a:rPr lang="en-US" sz="1100" i="1" spc="170" dirty="0">
                    <a:latin typeface="Arial"/>
                    <a:cs typeface="Arial"/>
                  </a:rPr>
                  <a:t> </a:t>
                </a:r>
                <a:r>
                  <a:rPr lang="en-US" sz="1100" dirty="0">
                    <a:latin typeface="Cambria"/>
                    <a:cs typeface="Cambria"/>
                  </a:rPr>
                  <a:t>|</a:t>
                </a:r>
                <a:r>
                  <a:rPr lang="en-US" sz="1100" spc="60" dirty="0">
                    <a:latin typeface="Cambria"/>
                    <a:cs typeface="Cambria"/>
                  </a:rPr>
                  <a:t> </a:t>
                </a:r>
                <a:r>
                  <a:rPr lang="en-US" sz="1100" i="1" dirty="0">
                    <a:latin typeface="Arial"/>
                    <a:cs typeface="Arial"/>
                  </a:rPr>
                  <a:t>do</a:t>
                </a:r>
                <a:r>
                  <a:rPr lang="en-US" sz="1100" dirty="0">
                    <a:latin typeface="Arial"/>
                    <a:cs typeface="Arial"/>
                  </a:rPr>
                  <a:t>(</a:t>
                </a:r>
                <a:r>
                  <a:rPr lang="en-US" sz="1100" i="1" dirty="0">
                    <a:latin typeface="Arial"/>
                    <a:cs typeface="Arial"/>
                  </a:rPr>
                  <a:t>T</a:t>
                </a:r>
                <a:r>
                  <a:rPr lang="en-US" sz="1100" i="1" spc="135" dirty="0">
                    <a:latin typeface="Arial"/>
                    <a:cs typeface="Arial"/>
                  </a:rPr>
                  <a:t> </a:t>
                </a:r>
                <a:r>
                  <a:rPr lang="en-US" sz="1100" spc="200" dirty="0">
                    <a:latin typeface="Arial"/>
                    <a:cs typeface="Arial"/>
                  </a:rPr>
                  <a:t>=</a:t>
                </a:r>
                <a:r>
                  <a:rPr lang="en-US" sz="1100" spc="-5" dirty="0">
                    <a:latin typeface="Arial"/>
                    <a:cs typeface="Arial"/>
                  </a:rPr>
                  <a:t> </a:t>
                </a:r>
                <a:r>
                  <a:rPr lang="en-US" sz="1100" i="1" spc="80" dirty="0">
                    <a:latin typeface="Arial"/>
                    <a:cs typeface="Arial"/>
                  </a:rPr>
                  <a:t>t</a:t>
                </a:r>
                <a:r>
                  <a:rPr lang="en-US" sz="1100" spc="80" dirty="0">
                    <a:latin typeface="Arial"/>
                    <a:cs typeface="Arial"/>
                  </a:rPr>
                  <a:t>)]</a:t>
                </a:r>
                <a:r>
                  <a:rPr lang="en-US" sz="1100" spc="-5" dirty="0">
                    <a:latin typeface="Arial"/>
                    <a:cs typeface="Arial"/>
                  </a:rPr>
                  <a:t> </a:t>
                </a:r>
                <a:r>
                  <a:rPr lang="en-US" sz="1100" spc="200" dirty="0">
                    <a:latin typeface="Arial"/>
                    <a:cs typeface="Arial"/>
                  </a:rPr>
                  <a:t>=</a:t>
                </a:r>
                <a:r>
                  <a:rPr lang="en-US" sz="1100" spc="-10" dirty="0">
                    <a:latin typeface="Arial"/>
                    <a:cs typeface="Arial"/>
                  </a:rPr>
                  <a:t> </a:t>
                </a:r>
                <a14:m>
                  <m:oMath xmlns:m="http://schemas.openxmlformats.org/officeDocument/2006/math">
                    <m:nary>
                      <m:naryPr>
                        <m:chr m:val="∑"/>
                        <m:supHide m:val="on"/>
                        <m:ctrlPr>
                          <a:rPr lang="ar-AE" sz="1100" i="1" spc="-10" smtClean="0">
                            <a:latin typeface="Cambria Math" panose="02040503050406030204" pitchFamily="18" charset="0"/>
                            <a:cs typeface="Arial"/>
                          </a:rPr>
                        </m:ctrlPr>
                      </m:naryPr>
                      <m:sub>
                        <m:r>
                          <m:rPr>
                            <m:brk m:alnAt="7"/>
                          </m:rPr>
                          <a:rPr lang="ar-AE" sz="1100" b="0" i="1" spc="-10" smtClean="0">
                            <a:latin typeface="Cambria Math" panose="02040503050406030204" pitchFamily="18" charset="0"/>
                            <a:cs typeface="Arial"/>
                          </a:rPr>
                          <m:t>𝑍</m:t>
                        </m:r>
                        <m:r>
                          <a:rPr lang="en-US" sz="1100" b="0" i="1" spc="-10" smtClean="0">
                            <a:latin typeface="Cambria Math" panose="02040503050406030204" pitchFamily="18" charset="0"/>
                            <a:cs typeface="Arial"/>
                          </a:rPr>
                          <m:t>,</m:t>
                        </m:r>
                        <m:r>
                          <a:rPr lang="en-US" sz="1100" b="0" i="1" spc="-10" smtClean="0">
                            <a:latin typeface="Cambria Math" panose="02040503050406030204" pitchFamily="18" charset="0"/>
                            <a:cs typeface="Arial"/>
                          </a:rPr>
                          <m:t>𝑉</m:t>
                        </m:r>
                      </m:sub>
                      <m:sup/>
                      <m:e>
                        <m:r>
                          <m:rPr>
                            <m:nor/>
                          </m:rPr>
                          <a:rPr lang="en-US" sz="1100" dirty="0" smtClean="0">
                            <a:latin typeface="Arial"/>
                            <a:cs typeface="Arial"/>
                          </a:rPr>
                          <m:t>E</m:t>
                        </m:r>
                        <m:r>
                          <m:rPr>
                            <m:nor/>
                          </m:rPr>
                          <a:rPr lang="en-US" sz="1100" dirty="0" smtClean="0">
                            <a:latin typeface="Arial"/>
                            <a:cs typeface="Arial"/>
                          </a:rPr>
                          <m:t>[</m:t>
                        </m:r>
                        <m:r>
                          <m:rPr>
                            <m:nor/>
                          </m:rPr>
                          <a:rPr lang="en-US" sz="1100" i="1" dirty="0" smtClean="0">
                            <a:latin typeface="Arial"/>
                            <a:cs typeface="Arial"/>
                          </a:rPr>
                          <m:t>Y</m:t>
                        </m:r>
                        <m:r>
                          <m:rPr>
                            <m:nor/>
                          </m:rPr>
                          <a:rPr lang="en-US" sz="1100" i="1" spc="180" dirty="0" smtClean="0">
                            <a:latin typeface="Arial"/>
                            <a:cs typeface="Arial"/>
                          </a:rPr>
                          <m:t> </m:t>
                        </m:r>
                        <m:r>
                          <m:rPr>
                            <m:nor/>
                          </m:rPr>
                          <a:rPr lang="en-US" sz="1100" dirty="0" smtClean="0">
                            <a:latin typeface="Cambria"/>
                            <a:cs typeface="Cambria"/>
                          </a:rPr>
                          <m:t>|</m:t>
                        </m:r>
                        <m:r>
                          <m:rPr>
                            <m:nor/>
                          </m:rPr>
                          <a:rPr lang="en-US" sz="1100" spc="55" dirty="0" smtClean="0">
                            <a:latin typeface="Cambria"/>
                            <a:cs typeface="Cambria"/>
                          </a:rPr>
                          <m:t> </m:t>
                        </m:r>
                        <m:r>
                          <m:rPr>
                            <m:nor/>
                          </m:rPr>
                          <a:rPr lang="en-US" sz="1100" i="1" spc="60" dirty="0" smtClean="0">
                            <a:latin typeface="Arial"/>
                            <a:cs typeface="Arial"/>
                          </a:rPr>
                          <m:t>T</m:t>
                        </m:r>
                        <m:r>
                          <m:rPr>
                            <m:nor/>
                          </m:rPr>
                          <a:rPr lang="en-US" sz="1100" i="1" spc="140" dirty="0" smtClean="0">
                            <a:latin typeface="Arial"/>
                            <a:cs typeface="Arial"/>
                          </a:rPr>
                          <m:t> </m:t>
                        </m:r>
                        <m:r>
                          <m:rPr>
                            <m:nor/>
                          </m:rPr>
                          <a:rPr lang="en-US" sz="1100" spc="200" dirty="0" smtClean="0">
                            <a:latin typeface="Arial"/>
                            <a:cs typeface="Arial"/>
                          </a:rPr>
                          <m:t>=</m:t>
                        </m:r>
                        <m:r>
                          <m:rPr>
                            <m:nor/>
                          </m:rPr>
                          <a:rPr lang="en-US" sz="1100" spc="-5" dirty="0" smtClean="0">
                            <a:latin typeface="Arial"/>
                            <a:cs typeface="Arial"/>
                          </a:rPr>
                          <m:t> </m:t>
                        </m:r>
                        <m:r>
                          <m:rPr>
                            <m:nor/>
                          </m:rPr>
                          <a:rPr lang="en-US" sz="1100" i="1" spc="80" dirty="0" smtClean="0">
                            <a:latin typeface="Arial"/>
                            <a:cs typeface="Arial"/>
                          </a:rPr>
                          <m:t>t</m:t>
                        </m:r>
                        <m:r>
                          <m:rPr>
                            <m:nor/>
                          </m:rPr>
                          <a:rPr lang="en-US" sz="1100" i="1" spc="80" dirty="0" smtClean="0">
                            <a:latin typeface="Arial"/>
                            <a:cs typeface="Arial"/>
                          </a:rPr>
                          <m:t>, </m:t>
                        </m:r>
                        <m:r>
                          <m:rPr>
                            <m:nor/>
                          </m:rPr>
                          <a:rPr lang="en-US" sz="1100" i="1" spc="55" dirty="0" smtClean="0">
                            <a:latin typeface="Arial"/>
                            <a:cs typeface="Arial"/>
                          </a:rPr>
                          <m:t>Z</m:t>
                        </m:r>
                        <m:r>
                          <m:rPr>
                            <m:nor/>
                          </m:rPr>
                          <a:rPr lang="en-US" sz="1100" i="1" spc="55" dirty="0" smtClean="0">
                            <a:latin typeface="Arial"/>
                            <a:cs typeface="Arial"/>
                          </a:rPr>
                          <m:t>, </m:t>
                        </m:r>
                        <m:r>
                          <m:rPr>
                            <m:nor/>
                          </m:rPr>
                          <a:rPr lang="en-US" sz="1100" i="1" spc="-20" dirty="0" smtClean="0">
                            <a:latin typeface="Arial"/>
                            <a:cs typeface="Arial"/>
                          </a:rPr>
                          <m:t>V</m:t>
                        </m:r>
                        <m:r>
                          <m:rPr>
                            <m:nor/>
                          </m:rPr>
                          <a:rPr lang="en-US" sz="1100" i="1" spc="-130" dirty="0" smtClean="0">
                            <a:latin typeface="Arial"/>
                            <a:cs typeface="Arial"/>
                          </a:rPr>
                          <m:t> </m:t>
                        </m:r>
                        <m:r>
                          <m:rPr>
                            <m:nor/>
                          </m:rPr>
                          <a:rPr lang="en-US" sz="1100" dirty="0" smtClean="0">
                            <a:latin typeface="Arial"/>
                            <a:cs typeface="Arial"/>
                          </a:rPr>
                          <m:t>]</m:t>
                        </m:r>
                        <m:r>
                          <m:rPr>
                            <m:nor/>
                          </m:rPr>
                          <a:rPr lang="en-US" sz="1100" spc="-70" dirty="0" smtClean="0">
                            <a:latin typeface="Arial"/>
                            <a:cs typeface="Arial"/>
                          </a:rPr>
                          <m:t> </m:t>
                        </m:r>
                        <m:r>
                          <m:rPr>
                            <m:nor/>
                          </m:rPr>
                          <a:rPr lang="en-US" sz="1100" dirty="0" smtClean="0">
                            <a:latin typeface="Cambria"/>
                            <a:cs typeface="Cambria"/>
                          </a:rPr>
                          <m:t>· </m:t>
                        </m:r>
                        <m:r>
                          <m:rPr>
                            <m:nor/>
                          </m:rPr>
                          <a:rPr lang="en-US" sz="1100" i="1" spc="55" dirty="0" smtClean="0">
                            <a:latin typeface="Arial"/>
                            <a:cs typeface="Arial"/>
                          </a:rPr>
                          <m:t>P</m:t>
                        </m:r>
                        <m:r>
                          <m:rPr>
                            <m:nor/>
                          </m:rPr>
                          <a:rPr lang="en-US" sz="1100" spc="55" dirty="0" smtClean="0">
                            <a:latin typeface="Arial"/>
                            <a:cs typeface="Arial"/>
                          </a:rPr>
                          <m:t>(</m:t>
                        </m:r>
                        <m:r>
                          <m:rPr>
                            <m:nor/>
                          </m:rPr>
                          <a:rPr lang="en-US" sz="1100" i="1" spc="55" dirty="0" smtClean="0">
                            <a:latin typeface="Arial"/>
                            <a:cs typeface="Arial"/>
                          </a:rPr>
                          <m:t>Z</m:t>
                        </m:r>
                        <m:r>
                          <m:rPr>
                            <m:nor/>
                          </m:rPr>
                          <a:rPr lang="en-US" sz="1100" i="1" spc="55" dirty="0" smtClean="0">
                            <a:latin typeface="Arial"/>
                            <a:cs typeface="Arial"/>
                          </a:rPr>
                          <m:t>, </m:t>
                        </m:r>
                        <m:r>
                          <m:rPr>
                            <m:nor/>
                          </m:rPr>
                          <a:rPr lang="en-US" sz="1100" i="1" spc="-20" dirty="0" smtClean="0">
                            <a:latin typeface="Arial"/>
                            <a:cs typeface="Arial"/>
                          </a:rPr>
                          <m:t>V</m:t>
                        </m:r>
                      </m:e>
                    </m:nary>
                    <m:r>
                      <a:rPr lang="en-US" sz="1100" b="0" i="1" spc="-10" smtClean="0">
                        <a:latin typeface="Cambria Math" panose="02040503050406030204" pitchFamily="18" charset="0"/>
                        <a:cs typeface="Arial"/>
                      </a:rPr>
                      <m:t> )</m:t>
                    </m:r>
                  </m:oMath>
                </a14:m>
                <a:endParaRPr lang="ar-AE" sz="1100" dirty="0">
                  <a:latin typeface="Arial"/>
                  <a:cs typeface="Arial"/>
                </a:endParaRPr>
              </a:p>
              <a:p>
                <a:pPr marR="264795" algn="ctr">
                  <a:lnSpc>
                    <a:spcPct val="100000"/>
                  </a:lnSpc>
                  <a:spcBef>
                    <a:spcPts val="315"/>
                  </a:spcBef>
                </a:pPr>
                <a:endParaRPr lang="ar-AE" sz="800" dirty="0">
                  <a:latin typeface="Montserrat"/>
                  <a:cs typeface="Montserrat"/>
                </a:endParaRPr>
              </a:p>
              <a:p>
                <a:pPr marL="50800">
                  <a:lnSpc>
                    <a:spcPct val="100000"/>
                  </a:lnSpc>
                  <a:spcBef>
                    <a:spcPts val="955"/>
                  </a:spcBef>
                </a:pPr>
                <a:r>
                  <a:rPr lang="en-US" sz="1100" spc="-25" dirty="0">
                    <a:latin typeface="Arial"/>
                    <a:cs typeface="Arial"/>
                  </a:rPr>
                  <a:t>Estimation</a:t>
                </a:r>
                <a:r>
                  <a:rPr lang="en-US" sz="1100" spc="-5" dirty="0">
                    <a:latin typeface="Arial"/>
                    <a:cs typeface="Arial"/>
                  </a:rPr>
                  <a:t> </a:t>
                </a:r>
                <a:r>
                  <a:rPr lang="en-US" sz="1100" spc="-45" dirty="0">
                    <a:latin typeface="Arial"/>
                    <a:cs typeface="Arial"/>
                  </a:rPr>
                  <a:t>methods</a:t>
                </a:r>
                <a:r>
                  <a:rPr lang="en-US" sz="1100" spc="-5" dirty="0">
                    <a:latin typeface="Arial"/>
                    <a:cs typeface="Arial"/>
                  </a:rPr>
                  <a:t> </a:t>
                </a:r>
                <a:r>
                  <a:rPr lang="en-US" sz="1100" spc="-40" dirty="0">
                    <a:latin typeface="Arial"/>
                    <a:cs typeface="Arial"/>
                  </a:rPr>
                  <a:t>operationalize</a:t>
                </a:r>
                <a:r>
                  <a:rPr lang="en-US" sz="1100" spc="-5" dirty="0">
                    <a:latin typeface="Arial"/>
                    <a:cs typeface="Arial"/>
                  </a:rPr>
                  <a:t> </a:t>
                </a:r>
                <a:r>
                  <a:rPr lang="en-US" sz="1100" dirty="0">
                    <a:latin typeface="Arial"/>
                    <a:cs typeface="Arial"/>
                  </a:rPr>
                  <a:t>this</a:t>
                </a:r>
                <a:r>
                  <a:rPr lang="en-US" sz="1100" spc="-5" dirty="0">
                    <a:latin typeface="Arial"/>
                    <a:cs typeface="Arial"/>
                  </a:rPr>
                  <a:t> </a:t>
                </a:r>
                <a:r>
                  <a:rPr lang="en-US" sz="1100" spc="-10" dirty="0">
                    <a:latin typeface="Arial"/>
                    <a:cs typeface="Arial"/>
                  </a:rPr>
                  <a:t>formula.</a:t>
                </a:r>
                <a:endParaRPr sz="1100" dirty="0">
                  <a:latin typeface="Arial"/>
                  <a:cs typeface="Arial"/>
                </a:endParaRPr>
              </a:p>
            </p:txBody>
          </p:sp>
        </mc:Choice>
        <mc:Fallback xmlns="">
          <p:sp>
            <p:nvSpPr>
              <p:cNvPr id="6" name="object 6"/>
              <p:cNvSpPr txBox="1">
                <a:spLocks noRot="1" noChangeAspect="1" noMove="1" noResize="1" noEditPoints="1" noAdjustHandles="1" noChangeArrowheads="1" noChangeShapeType="1" noTextEdit="1"/>
              </p:cNvSpPr>
              <p:nvPr/>
            </p:nvSpPr>
            <p:spPr>
              <a:xfrm>
                <a:off x="476250" y="1677153"/>
                <a:ext cx="3818381" cy="1228413"/>
              </a:xfrm>
              <a:prstGeom prst="rect">
                <a:avLst/>
              </a:prstGeom>
              <a:blipFill>
                <a:blip r:embed="rId3"/>
                <a:stretch>
                  <a:fillRect l="-958" t="-990" b="-594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6D921F22-D36C-CA52-BD91-32EC2BE183AC}"/>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4" name="TextBox 13">
            <a:extLst>
              <a:ext uri="{FF2B5EF4-FFF2-40B4-BE49-F238E27FC236}">
                <a16:creationId xmlns:a16="http://schemas.microsoft.com/office/drawing/2014/main" id="{EF439B86-D7DA-E354-7AFA-BC1E8869CF13}"/>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5" name="TextBox 4">
            <a:extLst>
              <a:ext uri="{FF2B5EF4-FFF2-40B4-BE49-F238E27FC236}">
                <a16:creationId xmlns:a16="http://schemas.microsoft.com/office/drawing/2014/main" id="{EC4699DB-481A-46EF-D4E6-BFA0D737B385}"/>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10" dirty="0"/>
              <a:t>Estimation</a:t>
            </a:r>
            <a:r>
              <a:rPr spc="-75" dirty="0"/>
              <a:t> </a:t>
            </a:r>
            <a:r>
              <a:rPr spc="-10" dirty="0"/>
              <a:t>Methods</a:t>
            </a:r>
            <a:r>
              <a:rPr spc="-70" dirty="0"/>
              <a:t> </a:t>
            </a:r>
            <a:r>
              <a:rPr spc="-10" dirty="0"/>
              <a:t>Overview</a:t>
            </a:r>
          </a:p>
        </p:txBody>
      </p:sp>
      <p:sp>
        <p:nvSpPr>
          <p:cNvPr id="4" name="object 4"/>
          <p:cNvSpPr txBox="1"/>
          <p:nvPr/>
        </p:nvSpPr>
        <p:spPr>
          <a:xfrm>
            <a:off x="247650" y="1125220"/>
            <a:ext cx="4191000" cy="1238158"/>
          </a:xfrm>
          <a:prstGeom prst="rect">
            <a:avLst/>
          </a:prstGeom>
        </p:spPr>
        <p:txBody>
          <a:bodyPr vert="horz" wrap="square" lIns="0" tIns="55244" rIns="0" bIns="0" rtlCol="0">
            <a:spAutoFit/>
          </a:bodyPr>
          <a:lstStyle/>
          <a:p>
            <a:pPr marL="241300" indent="-228600">
              <a:lnSpc>
                <a:spcPct val="100000"/>
              </a:lnSpc>
              <a:spcBef>
                <a:spcPts val="434"/>
              </a:spcBef>
              <a:buFont typeface="+mj-lt"/>
              <a:buAutoNum type="arabicPeriod"/>
            </a:pPr>
            <a:r>
              <a:rPr lang="en-US" sz="1100" b="1" spc="-20" dirty="0">
                <a:latin typeface="Arial" panose="020B0604020202020204" pitchFamily="34" charset="0"/>
                <a:cs typeface="Arial" panose="020B0604020202020204" pitchFamily="34" charset="0"/>
              </a:rPr>
              <a:t>Double</a:t>
            </a:r>
            <a:r>
              <a:rPr lang="en-US" sz="1100" b="1" spc="45"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Machine</a:t>
            </a:r>
            <a:r>
              <a:rPr lang="en-US" sz="1100" b="1" spc="45" dirty="0">
                <a:latin typeface="Arial" panose="020B0604020202020204" pitchFamily="34" charset="0"/>
                <a:cs typeface="Arial" panose="020B0604020202020204" pitchFamily="34" charset="0"/>
              </a:rPr>
              <a:t> </a:t>
            </a:r>
            <a:r>
              <a:rPr lang="en-US" sz="1100" b="1" spc="-30" dirty="0">
                <a:latin typeface="Arial" panose="020B0604020202020204" pitchFamily="34" charset="0"/>
                <a:cs typeface="Arial" panose="020B0604020202020204" pitchFamily="34" charset="0"/>
              </a:rPr>
              <a:t>Learning</a:t>
            </a:r>
            <a:r>
              <a:rPr lang="en-US" sz="1100" b="1" spc="50" dirty="0">
                <a:latin typeface="Arial" panose="020B0604020202020204" pitchFamily="34" charset="0"/>
                <a:cs typeface="Arial" panose="020B0604020202020204" pitchFamily="34" charset="0"/>
              </a:rPr>
              <a:t> </a:t>
            </a:r>
            <a:r>
              <a:rPr lang="en-US" sz="1100" b="1" dirty="0">
                <a:latin typeface="Arial" panose="020B0604020202020204" pitchFamily="34" charset="0"/>
                <a:cs typeface="Arial" panose="020B0604020202020204" pitchFamily="34" charset="0"/>
              </a:rPr>
              <a:t>(DML):</a:t>
            </a:r>
            <a:r>
              <a:rPr lang="en-US" sz="1100" b="1" spc="15" dirty="0">
                <a:latin typeface="Arial" panose="020B0604020202020204" pitchFamily="34" charset="0"/>
                <a:cs typeface="Arial" panose="020B0604020202020204" pitchFamily="34" charset="0"/>
              </a:rPr>
              <a:t> </a:t>
            </a:r>
            <a:r>
              <a:rPr lang="en-US" sz="1100" spc="-65" dirty="0">
                <a:latin typeface="Arial" panose="020B0604020202020204" pitchFamily="34" charset="0"/>
                <a:cs typeface="Arial" panose="020B0604020202020204" pitchFamily="34" charset="0"/>
              </a:rPr>
              <a:t>ML-</a:t>
            </a:r>
            <a:r>
              <a:rPr lang="en-US" sz="1100" spc="-35" dirty="0">
                <a:latin typeface="Arial" panose="020B0604020202020204" pitchFamily="34" charset="0"/>
                <a:cs typeface="Arial" panose="020B0604020202020204" pitchFamily="34" charset="0"/>
              </a:rPr>
              <a:t>based,</a:t>
            </a:r>
            <a:r>
              <a:rPr lang="en-US" sz="1100" spc="15" dirty="0">
                <a:latin typeface="Arial" panose="020B0604020202020204" pitchFamily="34" charset="0"/>
                <a:cs typeface="Arial" panose="020B0604020202020204" pitchFamily="34" charset="0"/>
              </a:rPr>
              <a:t> </a:t>
            </a:r>
            <a:r>
              <a:rPr lang="en-US" sz="1100" spc="-10" dirty="0">
                <a:latin typeface="Arial" panose="020B0604020202020204" pitchFamily="34" charset="0"/>
                <a:cs typeface="Arial" panose="020B0604020202020204" pitchFamily="34" charset="0"/>
              </a:rPr>
              <a:t>flexible</a:t>
            </a:r>
          </a:p>
          <a:p>
            <a:pPr marL="241300" indent="-228600">
              <a:lnSpc>
                <a:spcPct val="100000"/>
              </a:lnSpc>
              <a:spcBef>
                <a:spcPts val="434"/>
              </a:spcBef>
              <a:buFont typeface="+mj-lt"/>
              <a:buAutoNum type="arabicPeriod"/>
            </a:pPr>
            <a:endParaRPr sz="1100" dirty="0">
              <a:latin typeface="Arial" panose="020B0604020202020204" pitchFamily="34" charset="0"/>
              <a:cs typeface="Arial" panose="020B0604020202020204" pitchFamily="34" charset="0"/>
            </a:endParaRPr>
          </a:p>
          <a:p>
            <a:pPr marL="241300" indent="-228600">
              <a:spcBef>
                <a:spcPts val="334"/>
              </a:spcBef>
              <a:buFont typeface="+mj-lt"/>
              <a:buAutoNum type="arabicPeriod"/>
            </a:pPr>
            <a:r>
              <a:rPr lang="en-US" sz="1100" b="1" spc="-20" dirty="0">
                <a:latin typeface="Arial" panose="020B0604020202020204" pitchFamily="34" charset="0"/>
                <a:cs typeface="Arial" panose="020B0604020202020204" pitchFamily="34" charset="0"/>
              </a:rPr>
              <a:t>Bayesian</a:t>
            </a:r>
            <a:r>
              <a:rPr lang="en-US" sz="1100" b="1" spc="15" dirty="0">
                <a:latin typeface="Arial" panose="020B0604020202020204" pitchFamily="34" charset="0"/>
                <a:cs typeface="Arial" panose="020B0604020202020204" pitchFamily="34" charset="0"/>
              </a:rPr>
              <a:t> </a:t>
            </a:r>
            <a:r>
              <a:rPr lang="en-US" sz="1100" b="1" spc="-35" dirty="0">
                <a:latin typeface="Arial" panose="020B0604020202020204" pitchFamily="34" charset="0"/>
                <a:cs typeface="Arial" panose="020B0604020202020204" pitchFamily="34" charset="0"/>
              </a:rPr>
              <a:t>hierarchical</a:t>
            </a:r>
            <a:r>
              <a:rPr lang="en-US" sz="1100" b="1" spc="25" dirty="0">
                <a:latin typeface="Arial" panose="020B0604020202020204" pitchFamily="34" charset="0"/>
                <a:cs typeface="Arial" panose="020B0604020202020204" pitchFamily="34" charset="0"/>
              </a:rPr>
              <a:t> </a:t>
            </a:r>
            <a:r>
              <a:rPr lang="en-US" sz="1100" b="1" spc="-10" dirty="0">
                <a:latin typeface="Arial" panose="020B0604020202020204" pitchFamily="34" charset="0"/>
                <a:cs typeface="Arial" panose="020B0604020202020204" pitchFamily="34" charset="0"/>
              </a:rPr>
              <a:t>models</a:t>
            </a:r>
            <a:r>
              <a:rPr lang="en-US" sz="1100" spc="-10" dirty="0">
                <a:latin typeface="Arial" panose="020B0604020202020204" pitchFamily="34" charset="0"/>
                <a:cs typeface="Arial" panose="020B0604020202020204" pitchFamily="34" charset="0"/>
              </a:rPr>
              <a:t>:</a:t>
            </a:r>
            <a:r>
              <a:rPr lang="en-US" sz="1100" spc="85" dirty="0">
                <a:latin typeface="Arial" panose="020B0604020202020204" pitchFamily="34" charset="0"/>
                <a:cs typeface="Arial" panose="020B0604020202020204" pitchFamily="34" charset="0"/>
              </a:rPr>
              <a:t> </a:t>
            </a:r>
            <a:r>
              <a:rPr lang="en-US" sz="1100" spc="-35" dirty="0">
                <a:latin typeface="Arial" panose="020B0604020202020204" pitchFamily="34" charset="0"/>
                <a:cs typeface="Arial" panose="020B0604020202020204" pitchFamily="34" charset="0"/>
              </a:rPr>
              <a:t>account</a:t>
            </a:r>
            <a:r>
              <a:rPr lang="en-US" sz="1100" spc="-10"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for</a:t>
            </a:r>
            <a:r>
              <a:rPr lang="en-US" sz="1100" spc="-10" dirty="0">
                <a:latin typeface="Arial" panose="020B0604020202020204" pitchFamily="34" charset="0"/>
                <a:cs typeface="Arial" panose="020B0604020202020204" pitchFamily="34" charset="0"/>
              </a:rPr>
              <a:t> </a:t>
            </a:r>
            <a:r>
              <a:rPr lang="en-US" sz="1100" spc="-75" dirty="0">
                <a:latin typeface="Arial" panose="020B0604020202020204" pitchFamily="34" charset="0"/>
                <a:cs typeface="Arial" panose="020B0604020202020204" pitchFamily="34" charset="0"/>
              </a:rPr>
              <a:t>course - </a:t>
            </a:r>
            <a:r>
              <a:rPr lang="en-US" sz="1100" spc="-25" dirty="0">
                <a:latin typeface="Arial" panose="020B0604020202020204" pitchFamily="34" charset="0"/>
                <a:cs typeface="Arial" panose="020B0604020202020204" pitchFamily="34" charset="0"/>
              </a:rPr>
              <a:t>level </a:t>
            </a:r>
            <a:r>
              <a:rPr lang="en-US" sz="1100" spc="-10" dirty="0">
                <a:latin typeface="Arial" panose="020B0604020202020204" pitchFamily="34" charset="0"/>
                <a:cs typeface="Arial" panose="020B0604020202020204" pitchFamily="34" charset="0"/>
              </a:rPr>
              <a:t>variation.</a:t>
            </a:r>
          </a:p>
          <a:p>
            <a:pPr marL="403225" lvl="3" indent="-171450">
              <a:spcBef>
                <a:spcPts val="334"/>
              </a:spcBef>
              <a:buFont typeface="Courier New" panose="02070309020205020404" pitchFamily="49" charset="0"/>
              <a:buChar char="o"/>
            </a:pPr>
            <a:r>
              <a:rPr lang="en-US" sz="1100" spc="-10" dirty="0">
                <a:latin typeface="Arial" panose="020B0604020202020204" pitchFamily="34" charset="0"/>
                <a:cs typeface="Arial" panose="020B0604020202020204" pitchFamily="34" charset="0"/>
              </a:rPr>
              <a:t>If we have time (probably not </a:t>
            </a:r>
            <a:r>
              <a:rPr lang="en-US" sz="1100" spc="-10" dirty="0">
                <a:latin typeface="Arial" panose="020B0604020202020204" pitchFamily="34" charset="0"/>
                <a:cs typeface="Arial" panose="020B0604020202020204" pitchFamily="34" charset="0"/>
                <a:sym typeface="Wingdings" panose="05000000000000000000" pitchFamily="2" charset="2"/>
              </a:rPr>
              <a:t>)</a:t>
            </a:r>
            <a:endParaRPr lang="en-US" sz="1100" dirty="0">
              <a:latin typeface="Arial" panose="020B0604020202020204" pitchFamily="34" charset="0"/>
              <a:cs typeface="Arial" panose="020B0604020202020204" pitchFamily="34" charset="0"/>
            </a:endParaRPr>
          </a:p>
          <a:p>
            <a:pPr marL="12700">
              <a:lnSpc>
                <a:spcPct val="100000"/>
              </a:lnSpc>
              <a:spcBef>
                <a:spcPts val="334"/>
              </a:spcBef>
            </a:pPr>
            <a:r>
              <a:rPr sz="1100" spc="-10" dirty="0">
                <a:latin typeface="Arial" panose="020B0604020202020204" pitchFamily="34" charset="0"/>
                <a:cs typeface="Arial" panose="020B0604020202020204" pitchFamily="34" charset="0"/>
              </a:rPr>
              <a:t>.</a:t>
            </a:r>
            <a:endParaRPr sz="11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067782C-5D9B-9854-F19C-1E78231131F8}"/>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4F666825-CF85-9687-F8AF-C6A8C8695F6E}"/>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35B35BE8-6E70-3410-F475-7C517C7F2457}"/>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F753E-34F7-6FA6-536A-23C2B6CE67D5}"/>
              </a:ext>
            </a:extLst>
          </p:cNvPr>
          <p:cNvSpPr>
            <a:spLocks noGrp="1"/>
          </p:cNvSpPr>
          <p:nvPr>
            <p:ph type="title"/>
          </p:nvPr>
        </p:nvSpPr>
        <p:spPr/>
        <p:txBody>
          <a:bodyPr/>
          <a:lstStyle/>
          <a:p>
            <a:r>
              <a:rPr lang="en-US" dirty="0"/>
              <a:t>  </a:t>
            </a:r>
          </a:p>
        </p:txBody>
      </p:sp>
      <p:sp>
        <p:nvSpPr>
          <p:cNvPr id="3" name="Text Placeholder 2">
            <a:extLst>
              <a:ext uri="{FF2B5EF4-FFF2-40B4-BE49-F238E27FC236}">
                <a16:creationId xmlns:a16="http://schemas.microsoft.com/office/drawing/2014/main" id="{19F9CAFF-0B54-C5C3-DEE2-857A6FE46398}"/>
              </a:ext>
            </a:extLst>
          </p:cNvPr>
          <p:cNvSpPr>
            <a:spLocks noGrp="1"/>
          </p:cNvSpPr>
          <p:nvPr>
            <p:ph type="body" idx="1"/>
          </p:nvPr>
        </p:nvSpPr>
        <p:spPr>
          <a:xfrm>
            <a:off x="95250" y="663575"/>
            <a:ext cx="4514850" cy="2739211"/>
          </a:xfrm>
        </p:spPr>
        <p:txBody>
          <a:bodyPr/>
          <a:lstStyle/>
          <a:p>
            <a:pPr marL="171450" indent="-171450">
              <a:buFont typeface="Arial" panose="020B0604020202020204" pitchFamily="34" charset="0"/>
              <a:buChar char="•"/>
            </a:pPr>
            <a:r>
              <a:rPr lang="en-US" b="1" dirty="0"/>
              <a:t>Key idea</a:t>
            </a:r>
            <a:r>
              <a:rPr lang="en-US" dirty="0"/>
              <a:t>: </a:t>
            </a:r>
            <a:r>
              <a:rPr lang="en-US" sz="800" b="1" dirty="0">
                <a:solidFill>
                  <a:srgbClr val="C00000"/>
                </a:solidFill>
              </a:rPr>
              <a:t>Remove the influence of confounders before estimating the causal effect.</a:t>
            </a:r>
            <a:endParaRPr lang="en-US" sz="1000" b="1" dirty="0">
              <a:solidFill>
                <a:srgbClr val="C00000"/>
              </a:solidFill>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b="1" dirty="0"/>
              <a:t>Frisch–Waugh–Lovell (FWL) theorem</a:t>
            </a:r>
            <a:r>
              <a:rPr lang="en-US" dirty="0"/>
              <a:t>:  In linear regression, the coefficient of a treatment variable </a:t>
            </a:r>
            <a:r>
              <a:rPr lang="en-US" i="1" dirty="0"/>
              <a:t>T</a:t>
            </a:r>
            <a:r>
              <a:rPr lang="en-US" dirty="0"/>
              <a:t> can be obtained by:</a:t>
            </a:r>
          </a:p>
          <a:p>
            <a:pPr marL="401638" lvl="1" indent="-228600">
              <a:buFont typeface="+mj-lt"/>
              <a:buAutoNum type="arabicPeriod"/>
            </a:pPr>
            <a:r>
              <a:rPr lang="en-US" sz="1050" dirty="0"/>
              <a:t>Regressing </a:t>
            </a:r>
            <a:r>
              <a:rPr lang="en-US" sz="1050" i="1" dirty="0"/>
              <a:t>T</a:t>
            </a:r>
            <a:r>
              <a:rPr lang="en-US" sz="1050" dirty="0"/>
              <a:t> on (</a:t>
            </a:r>
            <a:r>
              <a:rPr lang="en-US" sz="1050" i="1" dirty="0"/>
              <a:t>Z , V </a:t>
            </a:r>
            <a:r>
              <a:rPr lang="en-US" sz="1050" dirty="0"/>
              <a:t>) and taking the residuals R</a:t>
            </a:r>
            <a:r>
              <a:rPr lang="en-US" sz="1050" baseline="-25000" dirty="0"/>
              <a:t>T</a:t>
            </a:r>
            <a:r>
              <a:rPr lang="en-US" sz="1050" dirty="0"/>
              <a:t>.</a:t>
            </a:r>
          </a:p>
          <a:p>
            <a:pPr marL="401638" lvl="1" indent="-228600">
              <a:buFont typeface="+mj-lt"/>
              <a:buAutoNum type="arabicPeriod"/>
            </a:pPr>
            <a:r>
              <a:rPr lang="en-US" sz="1050" dirty="0"/>
              <a:t>Regressing the outcome </a:t>
            </a:r>
            <a:r>
              <a:rPr lang="en-US" sz="1050" i="1" dirty="0"/>
              <a:t>Y</a:t>
            </a:r>
            <a:r>
              <a:rPr lang="en-US" sz="1050" dirty="0"/>
              <a:t> on (</a:t>
            </a:r>
            <a:r>
              <a:rPr lang="en-US" sz="1050" i="1" dirty="0"/>
              <a:t>Z , V </a:t>
            </a:r>
            <a:r>
              <a:rPr lang="en-US" sz="1050" dirty="0"/>
              <a:t>) and taking the residuals R</a:t>
            </a:r>
            <a:r>
              <a:rPr lang="en-US" sz="1050" baseline="-25000" dirty="0"/>
              <a:t>Y</a:t>
            </a:r>
            <a:r>
              <a:rPr lang="en-US" sz="1050" dirty="0"/>
              <a:t>.</a:t>
            </a:r>
          </a:p>
          <a:p>
            <a:pPr marL="401638" lvl="1" indent="-228600">
              <a:buFont typeface="+mj-lt"/>
              <a:buAutoNum type="arabicPeriod"/>
            </a:pPr>
            <a:r>
              <a:rPr lang="en-US" sz="1050" dirty="0"/>
              <a:t>Regressing R</a:t>
            </a:r>
            <a:r>
              <a:rPr lang="en-US" sz="1050" baseline="-25000" dirty="0"/>
              <a:t>Y</a:t>
            </a:r>
            <a:r>
              <a:rPr lang="en-US" sz="1050" dirty="0"/>
              <a:t> on R</a:t>
            </a:r>
            <a:r>
              <a:rPr lang="en-US" sz="1050" baseline="-25000" dirty="0"/>
              <a:t>T</a:t>
            </a:r>
            <a:r>
              <a:rPr lang="en-US" sz="1050" dirty="0"/>
              <a:t> .This isolates the variation in </a:t>
            </a:r>
            <a:r>
              <a:rPr lang="en-US" sz="1050" i="1" dirty="0"/>
              <a:t>T</a:t>
            </a:r>
            <a:r>
              <a:rPr lang="en-US" sz="1050" dirty="0"/>
              <a:t> that is orthogonal to the confounders.</a:t>
            </a:r>
          </a:p>
          <a:p>
            <a:pPr marL="173038" lvl="1"/>
            <a:endParaRPr lang="en-US" sz="800" dirty="0"/>
          </a:p>
          <a:p>
            <a:pPr marL="171450" lvl="1" indent="-171450">
              <a:buFont typeface="Arial" panose="020B0604020202020204" pitchFamily="34" charset="0"/>
              <a:buChar char="•"/>
            </a:pPr>
            <a:r>
              <a:rPr lang="en-US" sz="1100" b="1" dirty="0">
                <a:latin typeface="Arial" panose="020B0604020202020204" pitchFamily="34" charset="0"/>
                <a:cs typeface="Arial" panose="020B0604020202020204" pitchFamily="34" charset="0"/>
              </a:rPr>
              <a:t>Double Machine Learning (DML):</a:t>
            </a:r>
          </a:p>
          <a:p>
            <a:pPr marL="344488" lvl="2" indent="-171450">
              <a:buFont typeface="Wingdings" panose="05000000000000000000" pitchFamily="2" charset="2"/>
              <a:buChar char="ü"/>
            </a:pPr>
            <a:r>
              <a:rPr lang="en-US" sz="1000" dirty="0">
                <a:latin typeface="Arial" panose="020B0604020202020204" pitchFamily="34" charset="0"/>
                <a:cs typeface="Arial" panose="020B0604020202020204" pitchFamily="34" charset="0"/>
              </a:rPr>
              <a:t>Extends this idea by replacing the linear regressions with flexible ML models.</a:t>
            </a:r>
          </a:p>
          <a:p>
            <a:pPr marL="344488" lvl="2" indent="-171450">
              <a:buFont typeface="Wingdings" panose="05000000000000000000" pitchFamily="2" charset="2"/>
              <a:buChar char="ü"/>
            </a:pPr>
            <a:r>
              <a:rPr lang="en-US" sz="1000" dirty="0">
                <a:latin typeface="Arial" panose="020B0604020202020204" pitchFamily="34" charset="0"/>
                <a:cs typeface="Arial" panose="020B0604020202020204" pitchFamily="34" charset="0"/>
              </a:rPr>
              <a:t>Ensures the treatment effect remains unbiased even when outcome and treatment models are nonlinear or high-dimensional.</a:t>
            </a:r>
          </a:p>
          <a:p>
            <a:pPr marL="0" lvl="1"/>
            <a:endParaRPr lang="en-US" sz="1100" dirty="0">
              <a:latin typeface="Arial" panose="020B0604020202020204" pitchFamily="34" charset="0"/>
              <a:cs typeface="Arial" panose="020B0604020202020204" pitchFamily="34" charset="0"/>
            </a:endParaRPr>
          </a:p>
          <a:p>
            <a:pPr marL="0" lvl="1"/>
            <a:r>
              <a:rPr lang="en-US" sz="1100" dirty="0">
                <a:solidFill>
                  <a:srgbClr val="C00000"/>
                </a:solidFill>
              </a:rPr>
              <a:t>→ Orthogonalization + Machine Learning = Double Machine Learning</a:t>
            </a:r>
          </a:p>
          <a:p>
            <a:pPr marL="171450" indent="-171450">
              <a:buFont typeface="Arial" panose="020B0604020202020204" pitchFamily="34" charset="0"/>
              <a:buChar char="•"/>
            </a:pPr>
            <a:endParaRPr lang="en-US" dirty="0"/>
          </a:p>
        </p:txBody>
      </p:sp>
      <p:sp>
        <p:nvSpPr>
          <p:cNvPr id="4" name="object 2">
            <a:extLst>
              <a:ext uri="{FF2B5EF4-FFF2-40B4-BE49-F238E27FC236}">
                <a16:creationId xmlns:a16="http://schemas.microsoft.com/office/drawing/2014/main" id="{612C7011-522D-CF8B-A6E2-245A038EBBB8}"/>
              </a:ext>
            </a:extLst>
          </p:cNvPr>
          <p:cNvSpPr txBox="1">
            <a:spLocks/>
          </p:cNvSpPr>
          <p:nvPr/>
        </p:nvSpPr>
        <p:spPr>
          <a:xfrm>
            <a:off x="1905" y="269913"/>
            <a:ext cx="4608195" cy="293029"/>
          </a:xfrm>
          <a:prstGeom prst="rect">
            <a:avLst/>
          </a:prstGeom>
          <a:solidFill>
            <a:srgbClr val="F2F2F2"/>
          </a:solidFill>
        </p:spPr>
        <p:txBody>
          <a:bodyPr vert="horz" wrap="square" lIns="0" tIns="76835" rIns="0" bIns="0" rtlCol="0">
            <a:spAutoFit/>
          </a:bodyPr>
          <a:lstStyle>
            <a:lvl1pPr>
              <a:defRPr sz="1400" b="0" i="0">
                <a:solidFill>
                  <a:srgbClr val="CC0000"/>
                </a:solidFill>
                <a:latin typeface="Tahoma"/>
                <a:ea typeface="+mj-ea"/>
                <a:cs typeface="Tahoma"/>
              </a:defRPr>
            </a:lvl1pPr>
          </a:lstStyle>
          <a:p>
            <a:pPr marL="107950">
              <a:spcBef>
                <a:spcPts val="605"/>
              </a:spcBef>
            </a:pPr>
            <a:r>
              <a:rPr lang="en-US" dirty="0"/>
              <a:t>What is Double Machine Learning?</a:t>
            </a:r>
            <a:endParaRPr lang="en-US" spc="40" dirty="0"/>
          </a:p>
        </p:txBody>
      </p:sp>
      <p:sp>
        <p:nvSpPr>
          <p:cNvPr id="5" name="TextBox 4">
            <a:extLst>
              <a:ext uri="{FF2B5EF4-FFF2-40B4-BE49-F238E27FC236}">
                <a16:creationId xmlns:a16="http://schemas.microsoft.com/office/drawing/2014/main" id="{27A9C3EF-BE47-C6EB-2ED3-790D91A71491}"/>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6" name="TextBox 5">
            <a:extLst>
              <a:ext uri="{FF2B5EF4-FFF2-40B4-BE49-F238E27FC236}">
                <a16:creationId xmlns:a16="http://schemas.microsoft.com/office/drawing/2014/main" id="{1041A6C5-AD66-8F84-67F6-5960DA97D853}"/>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7" name="TextBox 6">
            <a:extLst>
              <a:ext uri="{FF2B5EF4-FFF2-40B4-BE49-F238E27FC236}">
                <a16:creationId xmlns:a16="http://schemas.microsoft.com/office/drawing/2014/main" id="{3D5AD764-1DA4-DB09-FE0C-C94E39AEDF2F}"/>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Tree>
    <p:extLst>
      <p:ext uri="{BB962C8B-B14F-4D97-AF65-F5344CB8AC3E}">
        <p14:creationId xmlns:p14="http://schemas.microsoft.com/office/powerpoint/2010/main" val="3001713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6A2A-3D44-7BC5-E33C-400E82C3F0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DD5F6E-5442-D33E-DFE8-2B6F4EBFF96F}"/>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lang="en-US" spc="-10" dirty="0"/>
              <a:t>Estimating ATE with DML</a:t>
            </a:r>
            <a:endParaRPr spc="40" dirty="0"/>
          </a:p>
        </p:txBody>
      </p:sp>
      <p:sp>
        <p:nvSpPr>
          <p:cNvPr id="7" name="object 7">
            <a:extLst>
              <a:ext uri="{FF2B5EF4-FFF2-40B4-BE49-F238E27FC236}">
                <a16:creationId xmlns:a16="http://schemas.microsoft.com/office/drawing/2014/main" id="{6E00FCF5-F272-8447-2386-26BFBF53D829}"/>
              </a:ext>
            </a:extLst>
          </p:cNvPr>
          <p:cNvSpPr txBox="1">
            <a:spLocks noGrp="1"/>
          </p:cNvSpPr>
          <p:nvPr>
            <p:ph type="body" idx="1"/>
          </p:nvPr>
        </p:nvSpPr>
        <p:spPr>
          <a:xfrm>
            <a:off x="362326" y="661541"/>
            <a:ext cx="4076324" cy="2415148"/>
          </a:xfrm>
          <a:prstGeom prst="rect">
            <a:avLst/>
          </a:prstGeom>
        </p:spPr>
        <p:txBody>
          <a:bodyPr vert="horz" wrap="square" lIns="0" tIns="6985" rIns="0" bIns="0" rtlCol="0">
            <a:spAutoFit/>
          </a:bodyPr>
          <a:lstStyle/>
          <a:p>
            <a:pPr marL="12700" marR="5080">
              <a:lnSpc>
                <a:spcPct val="102600"/>
              </a:lnSpc>
              <a:spcBef>
                <a:spcPts val="55"/>
              </a:spcBef>
            </a:pPr>
            <a:r>
              <a:rPr sz="900" spc="-25" dirty="0">
                <a:solidFill>
                  <a:srgbClr val="C8102E"/>
                </a:solidFill>
              </a:rPr>
              <a:t>Key</a:t>
            </a:r>
            <a:r>
              <a:rPr sz="900" spc="-5" dirty="0">
                <a:solidFill>
                  <a:srgbClr val="C8102E"/>
                </a:solidFill>
              </a:rPr>
              <a:t> </a:t>
            </a:r>
            <a:r>
              <a:rPr sz="900" spc="-25" dirty="0">
                <a:solidFill>
                  <a:srgbClr val="C8102E"/>
                </a:solidFill>
              </a:rPr>
              <a:t>idea:</a:t>
            </a:r>
            <a:r>
              <a:rPr sz="900" spc="95" dirty="0">
                <a:solidFill>
                  <a:srgbClr val="C8102E"/>
                </a:solidFill>
              </a:rPr>
              <a:t> </a:t>
            </a:r>
            <a:r>
              <a:rPr sz="900" spc="-10" dirty="0">
                <a:solidFill>
                  <a:srgbClr val="C8102E"/>
                </a:solidFill>
              </a:rPr>
              <a:t>partial</a:t>
            </a:r>
            <a:r>
              <a:rPr sz="900" spc="-5" dirty="0">
                <a:solidFill>
                  <a:srgbClr val="C8102E"/>
                </a:solidFill>
              </a:rPr>
              <a:t> </a:t>
            </a:r>
            <a:r>
              <a:rPr sz="900" dirty="0">
                <a:solidFill>
                  <a:srgbClr val="C8102E"/>
                </a:solidFill>
              </a:rPr>
              <a:t>out</a:t>
            </a:r>
            <a:r>
              <a:rPr sz="900" spc="-5" dirty="0">
                <a:solidFill>
                  <a:srgbClr val="C8102E"/>
                </a:solidFill>
              </a:rPr>
              <a:t> </a:t>
            </a:r>
            <a:r>
              <a:rPr sz="900" spc="-55" dirty="0">
                <a:solidFill>
                  <a:srgbClr val="C8102E"/>
                </a:solidFill>
              </a:rPr>
              <a:t>confounders</a:t>
            </a:r>
            <a:r>
              <a:rPr sz="900" spc="-5" dirty="0">
                <a:solidFill>
                  <a:srgbClr val="C8102E"/>
                </a:solidFill>
              </a:rPr>
              <a:t> </a:t>
            </a:r>
            <a:r>
              <a:rPr sz="900" dirty="0">
                <a:solidFill>
                  <a:srgbClr val="C8102E"/>
                </a:solidFill>
              </a:rPr>
              <a:t>with</a:t>
            </a:r>
            <a:r>
              <a:rPr sz="900" spc="-5" dirty="0">
                <a:solidFill>
                  <a:srgbClr val="C8102E"/>
                </a:solidFill>
              </a:rPr>
              <a:t> </a:t>
            </a:r>
            <a:r>
              <a:rPr lang="en-US" sz="900" spc="-5" dirty="0">
                <a:solidFill>
                  <a:srgbClr val="C8102E"/>
                </a:solidFill>
              </a:rPr>
              <a:t>machine learning</a:t>
            </a:r>
            <a:r>
              <a:rPr sz="900" dirty="0">
                <a:solidFill>
                  <a:srgbClr val="C8102E"/>
                </a:solidFill>
              </a:rPr>
              <a:t>,</a:t>
            </a:r>
            <a:r>
              <a:rPr sz="900" spc="-5" dirty="0">
                <a:solidFill>
                  <a:srgbClr val="C8102E"/>
                </a:solidFill>
              </a:rPr>
              <a:t> </a:t>
            </a:r>
            <a:r>
              <a:rPr sz="900" spc="-10" dirty="0">
                <a:solidFill>
                  <a:srgbClr val="C8102E"/>
                </a:solidFill>
              </a:rPr>
              <a:t>then</a:t>
            </a:r>
            <a:r>
              <a:rPr sz="900" spc="-5" dirty="0">
                <a:solidFill>
                  <a:srgbClr val="C8102E"/>
                </a:solidFill>
              </a:rPr>
              <a:t> </a:t>
            </a:r>
            <a:r>
              <a:rPr sz="900" spc="-65" dirty="0">
                <a:solidFill>
                  <a:srgbClr val="C8102E"/>
                </a:solidFill>
              </a:rPr>
              <a:t>regress </a:t>
            </a:r>
            <a:r>
              <a:rPr sz="900" spc="-10" dirty="0">
                <a:solidFill>
                  <a:srgbClr val="C8102E"/>
                </a:solidFill>
              </a:rPr>
              <a:t>residuals.</a:t>
            </a:r>
            <a:endParaRPr lang="en-US" sz="900" spc="-10" dirty="0">
              <a:solidFill>
                <a:srgbClr val="C8102E"/>
              </a:solidFill>
            </a:endParaRPr>
          </a:p>
          <a:p>
            <a:pPr marL="12700" marR="5080">
              <a:lnSpc>
                <a:spcPct val="102600"/>
              </a:lnSpc>
              <a:spcBef>
                <a:spcPts val="55"/>
              </a:spcBef>
            </a:pPr>
            <a:endParaRPr lang="en-US" sz="200" spc="-10" dirty="0">
              <a:solidFill>
                <a:srgbClr val="C8102E"/>
              </a:solidFill>
            </a:endParaRPr>
          </a:p>
          <a:p>
            <a:pPr marL="184150" marR="5080" indent="-171450">
              <a:lnSpc>
                <a:spcPct val="102600"/>
              </a:lnSpc>
              <a:spcBef>
                <a:spcPts val="55"/>
              </a:spcBef>
              <a:buFont typeface="Arial" panose="020B0604020202020204" pitchFamily="34" charset="0"/>
              <a:buChar char="•"/>
            </a:pPr>
            <a:endParaRPr lang="en-US" sz="200" spc="-10" dirty="0"/>
          </a:p>
          <a:p>
            <a:pPr marL="12700" marR="5080">
              <a:lnSpc>
                <a:spcPct val="102600"/>
              </a:lnSpc>
              <a:spcBef>
                <a:spcPts val="55"/>
              </a:spcBef>
            </a:pPr>
            <a:r>
              <a:rPr lang="en-US" sz="1000" spc="-10" dirty="0"/>
              <a:t>Step 1: Fit Treatment and Outcome Models</a:t>
            </a:r>
          </a:p>
          <a:p>
            <a:pPr marL="184150" marR="5080" indent="-171450">
              <a:lnSpc>
                <a:spcPct val="102600"/>
              </a:lnSpc>
              <a:spcBef>
                <a:spcPts val="55"/>
              </a:spcBef>
              <a:buFont typeface="Arial" panose="020B0604020202020204" pitchFamily="34" charset="0"/>
              <a:buChar char="•"/>
            </a:pPr>
            <a:r>
              <a:rPr lang="en-US" sz="1000" spc="-10" dirty="0"/>
              <a:t>Model T: Train binary classifier </a:t>
            </a:r>
            <a:r>
              <a:rPr lang="en-US" sz="1000" i="1" spc="-10" dirty="0" err="1">
                <a:latin typeface="Times New Roman" panose="02020603050405020304" pitchFamily="18" charset="0"/>
                <a:cs typeface="Times New Roman" panose="02020603050405020304" pitchFamily="18" charset="0"/>
              </a:rPr>
              <a:t>f</a:t>
            </a:r>
            <a:r>
              <a:rPr lang="en-US" sz="1000" i="1" spc="-10" baseline="-25000" dirty="0" err="1">
                <a:latin typeface="Times New Roman" panose="02020603050405020304" pitchFamily="18" charset="0"/>
                <a:cs typeface="Times New Roman" panose="02020603050405020304" pitchFamily="18" charset="0"/>
              </a:rPr>
              <a:t>T</a:t>
            </a:r>
            <a:r>
              <a:rPr lang="en-US" sz="1000" spc="-10" dirty="0"/>
              <a:t> (</a:t>
            </a:r>
            <a:r>
              <a:rPr lang="en-US" sz="1000" i="1" spc="-10" dirty="0"/>
              <a:t>Z, V </a:t>
            </a:r>
            <a:r>
              <a:rPr lang="en-US" sz="1000" spc="-10" dirty="0"/>
              <a:t>) to predict treatment T</a:t>
            </a:r>
          </a:p>
          <a:p>
            <a:pPr marL="184150" marR="5080" indent="-171450">
              <a:lnSpc>
                <a:spcPct val="102600"/>
              </a:lnSpc>
              <a:spcBef>
                <a:spcPts val="55"/>
              </a:spcBef>
              <a:buFont typeface="Arial" panose="020B0604020202020204" pitchFamily="34" charset="0"/>
              <a:buChar char="•"/>
            </a:pPr>
            <a:r>
              <a:rPr lang="en-US" sz="1000" spc="-10" dirty="0"/>
              <a:t>Model Y: Train regressor </a:t>
            </a:r>
            <a:r>
              <a:rPr lang="en-US" sz="1000" i="1" spc="-10" dirty="0" err="1">
                <a:latin typeface="Times New Roman" panose="02020603050405020304" pitchFamily="18" charset="0"/>
                <a:cs typeface="Times New Roman" panose="02020603050405020304" pitchFamily="18" charset="0"/>
              </a:rPr>
              <a:t>f</a:t>
            </a:r>
            <a:r>
              <a:rPr lang="en-US" sz="1000" i="1" spc="-10" baseline="-25000" dirty="0" err="1">
                <a:latin typeface="Times New Roman" panose="02020603050405020304" pitchFamily="18" charset="0"/>
                <a:cs typeface="Times New Roman" panose="02020603050405020304" pitchFamily="18" charset="0"/>
              </a:rPr>
              <a:t>Y</a:t>
            </a:r>
            <a:r>
              <a:rPr lang="en-US" sz="1000" spc="-10" dirty="0"/>
              <a:t> (</a:t>
            </a:r>
            <a:r>
              <a:rPr lang="en-US" sz="1000" i="1" spc="-10" dirty="0"/>
              <a:t>Z, V </a:t>
            </a:r>
            <a:r>
              <a:rPr lang="en-US" sz="1000" spc="-10" dirty="0"/>
              <a:t>) to predict outcome Y.</a:t>
            </a:r>
          </a:p>
          <a:p>
            <a:pPr marL="184150" marR="5080" indent="-171450">
              <a:lnSpc>
                <a:spcPct val="102600"/>
              </a:lnSpc>
              <a:spcBef>
                <a:spcPts val="55"/>
              </a:spcBef>
              <a:buFont typeface="Arial" panose="020B0604020202020204" pitchFamily="34" charset="0"/>
              <a:buChar char="•"/>
            </a:pPr>
            <a:endParaRPr lang="en-US" sz="400" spc="-10" dirty="0"/>
          </a:p>
          <a:p>
            <a:pPr marL="12700" marR="5080">
              <a:lnSpc>
                <a:spcPct val="102600"/>
              </a:lnSpc>
              <a:spcBef>
                <a:spcPts val="55"/>
              </a:spcBef>
            </a:pPr>
            <a:r>
              <a:rPr lang="en-US" sz="1000" spc="-10" dirty="0"/>
              <a:t>Step 2: Compute Residuals</a:t>
            </a:r>
          </a:p>
          <a:p>
            <a:pPr marL="184150" marR="5080" indent="-171450">
              <a:lnSpc>
                <a:spcPct val="102600"/>
              </a:lnSpc>
              <a:spcBef>
                <a:spcPts val="55"/>
              </a:spcBef>
              <a:buFont typeface="Arial" panose="020B0604020202020204" pitchFamily="34" charset="0"/>
              <a:buChar char="•"/>
            </a:pPr>
            <a:r>
              <a:rPr lang="en-US" sz="1000" spc="-10" dirty="0"/>
              <a:t>R</a:t>
            </a:r>
            <a:r>
              <a:rPr lang="en-US" sz="1000" spc="-10" baseline="-25000" dirty="0"/>
              <a:t>T</a:t>
            </a:r>
            <a:r>
              <a:rPr lang="en-US" sz="1000" spc="-10" dirty="0"/>
              <a:t> = </a:t>
            </a:r>
            <a:r>
              <a:rPr lang="en-US" sz="1000" i="1" spc="-10" dirty="0" err="1">
                <a:latin typeface="Times New Roman" panose="02020603050405020304" pitchFamily="18" charset="0"/>
                <a:cs typeface="Times New Roman" panose="02020603050405020304" pitchFamily="18" charset="0"/>
              </a:rPr>
              <a:t>f</a:t>
            </a:r>
            <a:r>
              <a:rPr lang="en-US" sz="1000" i="1" spc="-10" baseline="-25000" dirty="0" err="1">
                <a:latin typeface="Times New Roman" panose="02020603050405020304" pitchFamily="18" charset="0"/>
                <a:cs typeface="Times New Roman" panose="02020603050405020304" pitchFamily="18" charset="0"/>
              </a:rPr>
              <a:t>T</a:t>
            </a:r>
            <a:r>
              <a:rPr lang="en-US" sz="1000" spc="-10" dirty="0"/>
              <a:t> (</a:t>
            </a:r>
            <a:r>
              <a:rPr lang="en-US" sz="1000" i="1" spc="-10" dirty="0"/>
              <a:t>Z, V </a:t>
            </a:r>
            <a:r>
              <a:rPr lang="en-US" sz="1000" spc="-10" dirty="0"/>
              <a:t>) − T (treatment residuals)</a:t>
            </a:r>
          </a:p>
          <a:p>
            <a:pPr marL="184150" marR="5080" indent="-171450">
              <a:lnSpc>
                <a:spcPct val="102600"/>
              </a:lnSpc>
              <a:spcBef>
                <a:spcPts val="55"/>
              </a:spcBef>
              <a:buFont typeface="Arial" panose="020B0604020202020204" pitchFamily="34" charset="0"/>
              <a:buChar char="•"/>
            </a:pPr>
            <a:r>
              <a:rPr lang="en-US" sz="1000" spc="-10" dirty="0"/>
              <a:t>R</a:t>
            </a:r>
            <a:r>
              <a:rPr lang="en-US" sz="1000" spc="-10" baseline="-25000" dirty="0"/>
              <a:t>Y</a:t>
            </a:r>
            <a:r>
              <a:rPr lang="en-US" sz="1000" spc="-10" dirty="0"/>
              <a:t> = </a:t>
            </a:r>
            <a:r>
              <a:rPr lang="en-US" sz="1000" i="1" spc="-10" dirty="0" err="1">
                <a:latin typeface="Times New Roman" panose="02020603050405020304" pitchFamily="18" charset="0"/>
                <a:cs typeface="Times New Roman" panose="02020603050405020304" pitchFamily="18" charset="0"/>
              </a:rPr>
              <a:t>f</a:t>
            </a:r>
            <a:r>
              <a:rPr lang="en-US" sz="1000" i="1" spc="-10" baseline="-25000" dirty="0" err="1">
                <a:latin typeface="Times New Roman" panose="02020603050405020304" pitchFamily="18" charset="0"/>
                <a:cs typeface="Times New Roman" panose="02020603050405020304" pitchFamily="18" charset="0"/>
              </a:rPr>
              <a:t>Y</a:t>
            </a:r>
            <a:r>
              <a:rPr lang="en-US" sz="1000" spc="-10" dirty="0"/>
              <a:t> (</a:t>
            </a:r>
            <a:r>
              <a:rPr lang="en-US" sz="1000" i="1" spc="-10" dirty="0"/>
              <a:t>Z, V </a:t>
            </a:r>
            <a:r>
              <a:rPr lang="en-US" sz="1000" spc="-10" dirty="0"/>
              <a:t>) − Y (outcome residuals)</a:t>
            </a:r>
          </a:p>
          <a:p>
            <a:pPr marL="12700" marR="5080">
              <a:lnSpc>
                <a:spcPct val="102600"/>
              </a:lnSpc>
              <a:spcBef>
                <a:spcPts val="55"/>
              </a:spcBef>
            </a:pPr>
            <a:endParaRPr lang="en-US" sz="300" spc="-10" dirty="0"/>
          </a:p>
          <a:p>
            <a:pPr marL="12700" marR="5080">
              <a:lnSpc>
                <a:spcPct val="102600"/>
              </a:lnSpc>
              <a:spcBef>
                <a:spcPts val="55"/>
              </a:spcBef>
            </a:pPr>
            <a:r>
              <a:rPr lang="en-US" sz="1000" spc="-10" dirty="0"/>
              <a:t>Step 2: Causal Effect Estimation</a:t>
            </a:r>
          </a:p>
          <a:p>
            <a:pPr marL="184150" marR="5080" indent="-171450">
              <a:lnSpc>
                <a:spcPct val="102600"/>
              </a:lnSpc>
              <a:spcBef>
                <a:spcPts val="55"/>
              </a:spcBef>
              <a:buFont typeface="Arial" panose="020B0604020202020204" pitchFamily="34" charset="0"/>
              <a:buChar char="•"/>
            </a:pPr>
            <a:r>
              <a:rPr lang="en-US" sz="1000" spc="-10" dirty="0"/>
              <a:t>Regress R</a:t>
            </a:r>
            <a:r>
              <a:rPr lang="en-US" sz="1000" spc="-10" baseline="-25000" dirty="0"/>
              <a:t>Y</a:t>
            </a:r>
            <a:r>
              <a:rPr lang="en-US" sz="1000" spc="-10" dirty="0"/>
              <a:t> on R</a:t>
            </a:r>
            <a:r>
              <a:rPr lang="en-US" sz="1000" spc="-10" baseline="-25000" dirty="0"/>
              <a:t>T</a:t>
            </a:r>
            <a:r>
              <a:rPr lang="en-US" sz="1000" spc="-10" dirty="0"/>
              <a:t> to estimate the average treatment effect </a:t>
            </a:r>
          </a:p>
          <a:p>
            <a:pPr marL="184150" marR="5080" indent="-171450">
              <a:lnSpc>
                <a:spcPct val="102600"/>
              </a:lnSpc>
              <a:spcBef>
                <a:spcPts val="55"/>
              </a:spcBef>
              <a:buFont typeface="Arial" panose="020B0604020202020204" pitchFamily="34" charset="0"/>
              <a:buChar char="•"/>
            </a:pPr>
            <a:endParaRPr sz="1000" spc="-10" dirty="0"/>
          </a:p>
          <a:p>
            <a:pPr marL="184150" indent="-171450">
              <a:lnSpc>
                <a:spcPct val="100000"/>
              </a:lnSpc>
              <a:spcBef>
                <a:spcPts val="175"/>
              </a:spcBef>
              <a:buFont typeface="Arial" panose="020B0604020202020204" pitchFamily="34" charset="0"/>
              <a:buChar char="•"/>
            </a:pPr>
            <a:r>
              <a:rPr sz="1000" spc="-10" dirty="0"/>
              <a:t>Configurations:</a:t>
            </a:r>
          </a:p>
          <a:p>
            <a:pPr marL="461010" indent="-171450">
              <a:lnSpc>
                <a:spcPts val="1200"/>
              </a:lnSpc>
              <a:spcBef>
                <a:spcPts val="175"/>
              </a:spcBef>
              <a:buFont typeface="Courier New" panose="02070309020205020404" pitchFamily="49" charset="0"/>
              <a:buChar char="o"/>
            </a:pPr>
            <a:r>
              <a:rPr sz="800" spc="-20" dirty="0"/>
              <a:t>Logistic</a:t>
            </a:r>
            <a:r>
              <a:rPr sz="800" spc="20" dirty="0"/>
              <a:t> </a:t>
            </a:r>
            <a:r>
              <a:rPr sz="800" dirty="0"/>
              <a:t>(treatment)</a:t>
            </a:r>
            <a:r>
              <a:rPr sz="800" spc="25" dirty="0"/>
              <a:t> </a:t>
            </a:r>
            <a:r>
              <a:rPr sz="800" spc="180" dirty="0"/>
              <a:t>+</a:t>
            </a:r>
            <a:r>
              <a:rPr sz="800" spc="25" dirty="0"/>
              <a:t> </a:t>
            </a:r>
            <a:r>
              <a:rPr sz="800" spc="-75" dirty="0"/>
              <a:t>Lasso</a:t>
            </a:r>
            <a:r>
              <a:rPr sz="800" spc="20" dirty="0"/>
              <a:t> </a:t>
            </a:r>
            <a:r>
              <a:rPr sz="800" spc="-10" dirty="0"/>
              <a:t>(outcome).</a:t>
            </a:r>
            <a:endParaRPr sz="800" dirty="0"/>
          </a:p>
          <a:p>
            <a:pPr marL="461010" indent="-171450">
              <a:lnSpc>
                <a:spcPts val="1200"/>
              </a:lnSpc>
              <a:buFont typeface="Courier New" panose="02070309020205020404" pitchFamily="49" charset="0"/>
              <a:buChar char="o"/>
            </a:pPr>
            <a:r>
              <a:rPr sz="800" spc="-20" dirty="0"/>
              <a:t>Logistic</a:t>
            </a:r>
            <a:r>
              <a:rPr sz="800" dirty="0"/>
              <a:t> (treatment)</a:t>
            </a:r>
            <a:r>
              <a:rPr sz="800" spc="10" dirty="0"/>
              <a:t> </a:t>
            </a:r>
            <a:r>
              <a:rPr sz="800" spc="180" dirty="0"/>
              <a:t>+</a:t>
            </a:r>
            <a:r>
              <a:rPr sz="800" spc="5" dirty="0"/>
              <a:t> </a:t>
            </a:r>
            <a:r>
              <a:rPr sz="800" spc="-45" dirty="0"/>
              <a:t>Random</a:t>
            </a:r>
            <a:r>
              <a:rPr sz="800" dirty="0"/>
              <a:t> </a:t>
            </a:r>
            <a:r>
              <a:rPr sz="800" spc="-40" dirty="0"/>
              <a:t>Forest</a:t>
            </a:r>
            <a:r>
              <a:rPr sz="800" spc="5" dirty="0"/>
              <a:t> </a:t>
            </a:r>
            <a:r>
              <a:rPr sz="800" spc="-10" dirty="0"/>
              <a:t>(outcome).</a:t>
            </a:r>
            <a:endParaRPr sz="800" dirty="0"/>
          </a:p>
        </p:txBody>
      </p:sp>
      <p:sp>
        <p:nvSpPr>
          <p:cNvPr id="13" name="TextBox 12">
            <a:extLst>
              <a:ext uri="{FF2B5EF4-FFF2-40B4-BE49-F238E27FC236}">
                <a16:creationId xmlns:a16="http://schemas.microsoft.com/office/drawing/2014/main" id="{8C05B9DF-1037-0108-330C-46B9070BB35B}"/>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4" name="TextBox 13">
            <a:extLst>
              <a:ext uri="{FF2B5EF4-FFF2-40B4-BE49-F238E27FC236}">
                <a16:creationId xmlns:a16="http://schemas.microsoft.com/office/drawing/2014/main" id="{B20FCEDD-C5E9-0739-2EBF-9C82D4B7F483}"/>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11FBDD8F-F4DF-BB2E-7364-C09BD4FA0187}"/>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extLst>
      <p:ext uri="{BB962C8B-B14F-4D97-AF65-F5344CB8AC3E}">
        <p14:creationId xmlns:p14="http://schemas.microsoft.com/office/powerpoint/2010/main" val="365862852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lang="en-US" spc="-10" dirty="0"/>
              <a:t>Estimating ATE with DML</a:t>
            </a:r>
            <a:endParaRPr spc="-10" dirty="0"/>
          </a:p>
        </p:txBody>
      </p:sp>
      <p:sp>
        <p:nvSpPr>
          <p:cNvPr id="8" name="object 8"/>
          <p:cNvSpPr txBox="1">
            <a:spLocks noGrp="1"/>
          </p:cNvSpPr>
          <p:nvPr>
            <p:ph type="body" idx="1"/>
          </p:nvPr>
        </p:nvSpPr>
        <p:spPr>
          <a:xfrm>
            <a:off x="247650" y="804888"/>
            <a:ext cx="4267200" cy="1764663"/>
          </a:xfrm>
          <a:prstGeom prst="rect">
            <a:avLst/>
          </a:prstGeom>
        </p:spPr>
        <p:txBody>
          <a:bodyPr vert="horz" wrap="square" lIns="0" tIns="58179" rIns="0" bIns="0" rtlCol="0">
            <a:spAutoFit/>
          </a:bodyPr>
          <a:lstStyle/>
          <a:p>
            <a:pPr marL="184150" marR="5080" indent="-171450">
              <a:lnSpc>
                <a:spcPct val="125299"/>
              </a:lnSpc>
              <a:spcBef>
                <a:spcPts val="100"/>
              </a:spcBef>
              <a:buFont typeface="Arial" panose="020B0604020202020204" pitchFamily="34" charset="0"/>
              <a:buChar char="•"/>
            </a:pPr>
            <a:r>
              <a:rPr spc="-70" dirty="0">
                <a:latin typeface="Arial" panose="020B0604020202020204" pitchFamily="34" charset="0"/>
                <a:cs typeface="Arial" panose="020B0604020202020204" pitchFamily="34" charset="0"/>
              </a:rPr>
              <a:t>Average</a:t>
            </a:r>
            <a:r>
              <a:rPr spc="20" dirty="0">
                <a:latin typeface="Arial" panose="020B0604020202020204" pitchFamily="34" charset="0"/>
                <a:cs typeface="Arial" panose="020B0604020202020204" pitchFamily="34" charset="0"/>
              </a:rPr>
              <a:t> </a:t>
            </a:r>
            <a:r>
              <a:rPr spc="-25" dirty="0">
                <a:latin typeface="Arial" panose="020B0604020202020204" pitchFamily="34" charset="0"/>
                <a:cs typeface="Arial" panose="020B0604020202020204" pitchFamily="34" charset="0"/>
              </a:rPr>
              <a:t>Treatment</a:t>
            </a:r>
            <a:r>
              <a:rPr spc="2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Effect</a:t>
            </a:r>
            <a:r>
              <a:rPr spc="2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(ATE):</a:t>
            </a:r>
            <a:r>
              <a:rPr spc="25" dirty="0">
                <a:latin typeface="Arial" panose="020B0604020202020204" pitchFamily="34" charset="0"/>
                <a:cs typeface="Arial" panose="020B0604020202020204" pitchFamily="34" charset="0"/>
              </a:rPr>
              <a:t> </a:t>
            </a:r>
            <a:r>
              <a:rPr spc="229" dirty="0">
                <a:latin typeface="Arial" panose="020B0604020202020204" pitchFamily="34" charset="0"/>
                <a:cs typeface="Arial" panose="020B0604020202020204" pitchFamily="34" charset="0"/>
              </a:rPr>
              <a:t>≈</a:t>
            </a:r>
            <a:r>
              <a:rPr spc="7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+0.20</a:t>
            </a:r>
            <a:r>
              <a:rPr spc="25" dirty="0">
                <a:latin typeface="Arial" panose="020B0604020202020204" pitchFamily="34" charset="0"/>
                <a:cs typeface="Arial" panose="020B0604020202020204" pitchFamily="34" charset="0"/>
              </a:rPr>
              <a:t> </a:t>
            </a:r>
            <a:r>
              <a:rPr spc="-60" dirty="0">
                <a:latin typeface="Arial" panose="020B0604020202020204" pitchFamily="34" charset="0"/>
                <a:cs typeface="Arial" panose="020B0604020202020204" pitchFamily="34" charset="0"/>
              </a:rPr>
              <a:t>grade</a:t>
            </a:r>
            <a:r>
              <a:rPr spc="2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points.</a:t>
            </a:r>
            <a:endParaRPr lang="en-US" spc="-10" dirty="0">
              <a:latin typeface="Arial" panose="020B0604020202020204" pitchFamily="34" charset="0"/>
              <a:cs typeface="Arial" panose="020B0604020202020204" pitchFamily="34" charset="0"/>
            </a:endParaRPr>
          </a:p>
          <a:p>
            <a:pPr marL="184150" marR="5080" indent="-171450">
              <a:lnSpc>
                <a:spcPct val="125299"/>
              </a:lnSpc>
              <a:spcBef>
                <a:spcPts val="100"/>
              </a:spcBef>
              <a:buFont typeface="Arial" panose="020B0604020202020204" pitchFamily="34" charset="0"/>
              <a:buChar char="•"/>
            </a:pPr>
            <a:endParaRPr lang="en-US" spc="-10" dirty="0">
              <a:latin typeface="Arial" panose="020B0604020202020204" pitchFamily="34" charset="0"/>
              <a:cs typeface="Arial" panose="020B0604020202020204" pitchFamily="34" charset="0"/>
            </a:endParaRPr>
          </a:p>
          <a:p>
            <a:pPr marL="184150" marR="5080" indent="-171450">
              <a:lnSpc>
                <a:spcPct val="125299"/>
              </a:lnSpc>
              <a:spcBef>
                <a:spcPts val="100"/>
              </a:spcBef>
              <a:buFont typeface="Arial" panose="020B0604020202020204" pitchFamily="34" charset="0"/>
              <a:buChar char="•"/>
            </a:pPr>
            <a:r>
              <a:rPr spc="-40" dirty="0">
                <a:latin typeface="Arial" panose="020B0604020202020204" pitchFamily="34" charset="0"/>
                <a:cs typeface="Arial" panose="020B0604020202020204" pitchFamily="34" charset="0"/>
              </a:rPr>
              <a:t>Robust</a:t>
            </a:r>
            <a:r>
              <a:rPr spc="15" dirty="0">
                <a:latin typeface="Arial" panose="020B0604020202020204" pitchFamily="34" charset="0"/>
                <a:cs typeface="Arial" panose="020B0604020202020204" pitchFamily="34" charset="0"/>
              </a:rPr>
              <a:t> </a:t>
            </a:r>
            <a:r>
              <a:rPr spc="-80" dirty="0">
                <a:latin typeface="Arial" panose="020B0604020202020204" pitchFamily="34" charset="0"/>
                <a:cs typeface="Arial" panose="020B0604020202020204" pitchFamily="34" charset="0"/>
              </a:rPr>
              <a:t>across</a:t>
            </a:r>
            <a:r>
              <a:rPr spc="2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DML</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algorthims</a:t>
            </a:r>
            <a:r>
              <a:rPr spc="-10" dirty="0">
                <a:latin typeface="Arial" panose="020B0604020202020204" pitchFamily="34" charset="0"/>
                <a:cs typeface="Arial" panose="020B0604020202020204" pitchFamily="34" charset="0"/>
              </a:rPr>
              <a:t>.</a:t>
            </a:r>
            <a:endParaRPr lang="en-US" spc="-10" dirty="0">
              <a:latin typeface="Arial" panose="020B0604020202020204" pitchFamily="34" charset="0"/>
              <a:cs typeface="Arial" panose="020B0604020202020204" pitchFamily="34" charset="0"/>
            </a:endParaRPr>
          </a:p>
          <a:p>
            <a:pPr marL="184150" marR="5080" indent="-171450">
              <a:lnSpc>
                <a:spcPct val="125299"/>
              </a:lnSpc>
              <a:spcBef>
                <a:spcPts val="100"/>
              </a:spcBef>
              <a:buFont typeface="Arial" panose="020B0604020202020204" pitchFamily="34" charset="0"/>
              <a:buChar char="•"/>
            </a:pPr>
            <a:endParaRPr lang="en-US" spc="-10" dirty="0">
              <a:latin typeface="Arial" panose="020B0604020202020204" pitchFamily="34" charset="0"/>
              <a:cs typeface="Arial" panose="020B0604020202020204" pitchFamily="34" charset="0"/>
            </a:endParaRPr>
          </a:p>
          <a:p>
            <a:pPr marL="184150" marR="5080" indent="-171450">
              <a:lnSpc>
                <a:spcPct val="125299"/>
              </a:lnSpc>
              <a:spcBef>
                <a:spcPts val="100"/>
              </a:spcBef>
              <a:buFont typeface="Arial" panose="020B0604020202020204" pitchFamily="34" charset="0"/>
              <a:buChar char="•"/>
            </a:pPr>
            <a:r>
              <a:rPr lang="en-US" spc="-10" dirty="0">
                <a:latin typeface="Arial" panose="020B0604020202020204" pitchFamily="34" charset="0"/>
                <a:cs typeface="Arial" panose="020B0604020202020204" pitchFamily="34" charset="0"/>
              </a:rPr>
              <a:t>Use refutation methods available in </a:t>
            </a:r>
            <a:r>
              <a:rPr lang="en-US" spc="-10" dirty="0" err="1">
                <a:latin typeface="Arial" panose="020B0604020202020204" pitchFamily="34" charset="0"/>
                <a:cs typeface="Arial" panose="020B0604020202020204" pitchFamily="34" charset="0"/>
              </a:rPr>
              <a:t>DoWhy</a:t>
            </a:r>
            <a:r>
              <a:rPr lang="en-US" spc="-10" dirty="0">
                <a:latin typeface="Arial" panose="020B0604020202020204" pitchFamily="34" charset="0"/>
                <a:cs typeface="Arial" panose="020B0604020202020204" pitchFamily="34" charset="0"/>
              </a:rPr>
              <a:t> to ‘falsify’ the findings</a:t>
            </a:r>
          </a:p>
          <a:p>
            <a:pPr marL="341313" marR="5080" lvl="1" indent="-171450">
              <a:lnSpc>
                <a:spcPct val="125299"/>
              </a:lnSpc>
              <a:spcBef>
                <a:spcPts val="100"/>
              </a:spcBef>
              <a:buFont typeface="Wingdings" panose="05000000000000000000" pitchFamily="2" charset="2"/>
              <a:buChar char="ü"/>
            </a:pPr>
            <a:r>
              <a:rPr lang="en-US" sz="1000" spc="-10" dirty="0">
                <a:latin typeface="Arial" panose="020B0604020202020204" pitchFamily="34" charset="0"/>
                <a:cs typeface="Arial" panose="020B0604020202020204" pitchFamily="34" charset="0"/>
              </a:rPr>
              <a:t>Random Common Cause: Estimated ATE = 0.2031, p-value = 0.90</a:t>
            </a:r>
          </a:p>
          <a:p>
            <a:pPr marL="341313" marR="5080" lvl="1" indent="-171450">
              <a:lnSpc>
                <a:spcPct val="125299"/>
              </a:lnSpc>
              <a:spcBef>
                <a:spcPts val="100"/>
              </a:spcBef>
              <a:buFont typeface="Wingdings" panose="05000000000000000000" pitchFamily="2" charset="2"/>
              <a:buChar char="ü"/>
            </a:pPr>
            <a:r>
              <a:rPr lang="en-US" sz="1000" spc="-10" dirty="0">
                <a:latin typeface="Arial" panose="020B0604020202020204" pitchFamily="34" charset="0"/>
                <a:cs typeface="Arial" panose="020B0604020202020204" pitchFamily="34" charset="0"/>
              </a:rPr>
              <a:t>Data Subset Refuter: Estimated ATE = 0.2038, p-value = 0.92</a:t>
            </a:r>
          </a:p>
          <a:p>
            <a:pPr marL="341313" marR="5080" lvl="1" indent="-171450">
              <a:lnSpc>
                <a:spcPct val="125299"/>
              </a:lnSpc>
              <a:spcBef>
                <a:spcPts val="100"/>
              </a:spcBef>
              <a:buFont typeface="Wingdings" panose="05000000000000000000" pitchFamily="2" charset="2"/>
              <a:buChar char="ü"/>
            </a:pPr>
            <a:r>
              <a:rPr lang="en-US" sz="1000" spc="-10" dirty="0">
                <a:latin typeface="Arial" panose="020B0604020202020204" pitchFamily="34" charset="0"/>
                <a:cs typeface="Arial" panose="020B0604020202020204" pitchFamily="34" charset="0"/>
              </a:rPr>
              <a:t>Bootstrap Refuter: Estimated ATE = 0.2043, p-value = 0.90</a:t>
            </a:r>
          </a:p>
        </p:txBody>
      </p:sp>
      <p:sp>
        <p:nvSpPr>
          <p:cNvPr id="13" name="TextBox 12">
            <a:extLst>
              <a:ext uri="{FF2B5EF4-FFF2-40B4-BE49-F238E27FC236}">
                <a16:creationId xmlns:a16="http://schemas.microsoft.com/office/drawing/2014/main" id="{CDE38913-06A6-C556-25AC-EE293771C537}"/>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4" name="TextBox 13">
            <a:extLst>
              <a:ext uri="{FF2B5EF4-FFF2-40B4-BE49-F238E27FC236}">
                <a16:creationId xmlns:a16="http://schemas.microsoft.com/office/drawing/2014/main" id="{99837ED1-441A-758C-A6DD-62C631AC9F33}"/>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9C5EA57E-80F0-B4BD-4108-3793C40982B9}"/>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extLst>
      <p:ext uri="{BB962C8B-B14F-4D97-AF65-F5344CB8AC3E}">
        <p14:creationId xmlns:p14="http://schemas.microsoft.com/office/powerpoint/2010/main" val="237382015"/>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0" y="3211372"/>
            <a:ext cx="4608195" cy="245110"/>
            <a:chOff x="0" y="3211372"/>
            <a:chExt cx="4608195" cy="245110"/>
          </a:xfrm>
        </p:grpSpPr>
        <p:sp>
          <p:nvSpPr>
            <p:cNvPr id="9" name="object 9"/>
            <p:cNvSpPr/>
            <p:nvPr/>
          </p:nvSpPr>
          <p:spPr>
            <a:xfrm>
              <a:off x="0" y="3211372"/>
              <a:ext cx="4608195" cy="122555"/>
            </a:xfrm>
            <a:custGeom>
              <a:avLst/>
              <a:gdLst/>
              <a:ahLst/>
              <a:cxnLst/>
              <a:rect l="l" t="t" r="r" b="b"/>
              <a:pathLst>
                <a:path w="4608195" h="122554">
                  <a:moveTo>
                    <a:pt x="4608004" y="0"/>
                  </a:moveTo>
                  <a:lnTo>
                    <a:pt x="0" y="0"/>
                  </a:lnTo>
                  <a:lnTo>
                    <a:pt x="0" y="122313"/>
                  </a:lnTo>
                  <a:lnTo>
                    <a:pt x="4608004" y="122313"/>
                  </a:lnTo>
                  <a:lnTo>
                    <a:pt x="4608004" y="0"/>
                  </a:lnTo>
                  <a:close/>
                </a:path>
              </a:pathLst>
            </a:custGeom>
            <a:solidFill>
              <a:srgbClr val="EBEBEB"/>
            </a:solidFill>
          </p:spPr>
          <p:txBody>
            <a:bodyPr wrap="square" lIns="0" tIns="0" rIns="0" bIns="0" rtlCol="0"/>
            <a:lstStyle/>
            <a:p>
              <a:endParaRPr/>
            </a:p>
          </p:txBody>
        </p:sp>
        <p:sp>
          <p:nvSpPr>
            <p:cNvPr id="10" name="object 10"/>
            <p:cNvSpPr/>
            <p:nvPr/>
          </p:nvSpPr>
          <p:spPr>
            <a:xfrm>
              <a:off x="0" y="3333686"/>
              <a:ext cx="4608195" cy="122555"/>
            </a:xfrm>
            <a:custGeom>
              <a:avLst/>
              <a:gdLst/>
              <a:ahLst/>
              <a:cxnLst/>
              <a:rect l="l" t="t" r="r" b="b"/>
              <a:pathLst>
                <a:path w="4608195" h="122554">
                  <a:moveTo>
                    <a:pt x="4608004" y="0"/>
                  </a:moveTo>
                  <a:lnTo>
                    <a:pt x="0" y="0"/>
                  </a:lnTo>
                  <a:lnTo>
                    <a:pt x="0" y="122313"/>
                  </a:lnTo>
                  <a:lnTo>
                    <a:pt x="4608004" y="122313"/>
                  </a:lnTo>
                  <a:lnTo>
                    <a:pt x="4608004" y="0"/>
                  </a:lnTo>
                  <a:close/>
                </a:path>
              </a:pathLst>
            </a:custGeom>
            <a:solidFill>
              <a:srgbClr val="A30000"/>
            </a:solidFill>
          </p:spPr>
          <p:txBody>
            <a:bodyPr wrap="square" lIns="0" tIns="0" rIns="0" bIns="0" rtlCol="0"/>
            <a:lstStyle/>
            <a:p>
              <a:endParaRPr/>
            </a:p>
          </p:txBody>
        </p:sp>
      </p:grpSp>
      <p:sp>
        <p:nvSpPr>
          <p:cNvPr id="11" name="object 11"/>
          <p:cNvSpPr txBox="1"/>
          <p:nvPr/>
        </p:nvSpPr>
        <p:spPr>
          <a:xfrm>
            <a:off x="95300" y="3225267"/>
            <a:ext cx="1798955" cy="207749"/>
          </a:xfrm>
          <a:prstGeom prst="rect">
            <a:avLst/>
          </a:prstGeom>
        </p:spPr>
        <p:txBody>
          <a:bodyPr vert="horz" wrap="square" lIns="0" tIns="0" rIns="0" bIns="0" rtlCol="0">
            <a:spAutoFit/>
          </a:bodyPr>
          <a:lstStyle/>
          <a:p>
            <a:pPr marL="12700">
              <a:lnSpc>
                <a:spcPts val="675"/>
              </a:lnSpc>
            </a:pPr>
            <a:r>
              <a:rPr sz="600" dirty="0">
                <a:solidFill>
                  <a:srgbClr val="8E0000"/>
                </a:solidFill>
                <a:latin typeface="Tahoma"/>
                <a:cs typeface="Tahoma"/>
              </a:rPr>
              <a:t>Eitel</a:t>
            </a:r>
            <a:r>
              <a:rPr sz="600" spc="30" dirty="0">
                <a:solidFill>
                  <a:srgbClr val="8E0000"/>
                </a:solidFill>
                <a:latin typeface="Tahoma"/>
                <a:cs typeface="Tahoma"/>
              </a:rPr>
              <a:t> </a:t>
            </a:r>
            <a:r>
              <a:rPr lang="en-US" sz="600" spc="-30" dirty="0" err="1">
                <a:solidFill>
                  <a:srgbClr val="8E0000"/>
                </a:solidFill>
                <a:latin typeface="Tahoma"/>
                <a:cs typeface="Tahoma"/>
              </a:rPr>
              <a:t>Lauría</a:t>
            </a:r>
            <a:r>
              <a:rPr sz="600" spc="260" dirty="0">
                <a:solidFill>
                  <a:srgbClr val="8E0000"/>
                </a:solidFill>
                <a:latin typeface="Tahoma"/>
                <a:cs typeface="Tahoma"/>
              </a:rPr>
              <a:t> </a:t>
            </a:r>
            <a:r>
              <a:rPr sz="600" dirty="0">
                <a:solidFill>
                  <a:srgbClr val="8E0000"/>
                </a:solidFill>
                <a:latin typeface="Tahoma"/>
                <a:cs typeface="Tahoma"/>
              </a:rPr>
              <a:t>Marist</a:t>
            </a:r>
            <a:r>
              <a:rPr sz="600" spc="35" dirty="0">
                <a:solidFill>
                  <a:srgbClr val="8E0000"/>
                </a:solidFill>
                <a:latin typeface="Tahoma"/>
                <a:cs typeface="Tahoma"/>
              </a:rPr>
              <a:t> </a:t>
            </a:r>
            <a:r>
              <a:rPr sz="600" spc="-10" dirty="0">
                <a:solidFill>
                  <a:srgbClr val="8E0000"/>
                </a:solidFill>
                <a:latin typeface="Tahoma"/>
                <a:cs typeface="Tahoma"/>
              </a:rPr>
              <a:t>University</a:t>
            </a:r>
            <a:endParaRPr sz="600" dirty="0">
              <a:latin typeface="Tahoma"/>
              <a:cs typeface="Tahoma"/>
            </a:endParaRPr>
          </a:p>
          <a:p>
            <a:pPr marL="12700">
              <a:lnSpc>
                <a:spcPct val="100000"/>
              </a:lnSpc>
              <a:spcBef>
                <a:spcPts val="240"/>
              </a:spcBef>
            </a:pPr>
            <a:r>
              <a:rPr sz="600" dirty="0">
                <a:solidFill>
                  <a:srgbClr val="F2F2F2"/>
                </a:solidFill>
                <a:latin typeface="Tahoma"/>
                <a:cs typeface="Tahoma"/>
                <a:hlinkClick r:id="rId3" action="ppaction://hlinksldjump"/>
              </a:rPr>
              <a:t>Causal</a:t>
            </a:r>
            <a:r>
              <a:rPr sz="600" spc="15" dirty="0">
                <a:solidFill>
                  <a:srgbClr val="F2F2F2"/>
                </a:solidFill>
                <a:latin typeface="Tahoma"/>
                <a:cs typeface="Tahoma"/>
                <a:hlinkClick r:id="rId3" action="ppaction://hlinksldjump"/>
              </a:rPr>
              <a:t> </a:t>
            </a:r>
            <a:r>
              <a:rPr sz="600" spc="-20" dirty="0">
                <a:solidFill>
                  <a:srgbClr val="F2F2F2"/>
                </a:solidFill>
                <a:latin typeface="Tahoma"/>
                <a:cs typeface="Tahoma"/>
                <a:hlinkClick r:id="rId3" action="ppaction://hlinksldjump"/>
              </a:rPr>
              <a:t>Inference</a:t>
            </a:r>
            <a:r>
              <a:rPr sz="600" spc="20" dirty="0">
                <a:solidFill>
                  <a:srgbClr val="F2F2F2"/>
                </a:solidFill>
                <a:latin typeface="Tahoma"/>
                <a:cs typeface="Tahoma"/>
                <a:hlinkClick r:id="rId3" action="ppaction://hlinksldjump"/>
              </a:rPr>
              <a:t> </a:t>
            </a:r>
            <a:r>
              <a:rPr sz="600" dirty="0">
                <a:solidFill>
                  <a:srgbClr val="F2F2F2"/>
                </a:solidFill>
                <a:latin typeface="Tahoma"/>
                <a:cs typeface="Tahoma"/>
                <a:hlinkClick r:id="rId3" action="ppaction://hlinksldjump"/>
              </a:rPr>
              <a:t>and</a:t>
            </a:r>
            <a:r>
              <a:rPr sz="600" spc="20" dirty="0">
                <a:solidFill>
                  <a:srgbClr val="F2F2F2"/>
                </a:solidFill>
                <a:latin typeface="Tahoma"/>
                <a:cs typeface="Tahoma"/>
                <a:hlinkClick r:id="rId3" action="ppaction://hlinksldjump"/>
              </a:rPr>
              <a:t> </a:t>
            </a:r>
            <a:r>
              <a:rPr sz="600" dirty="0">
                <a:solidFill>
                  <a:srgbClr val="F2F2F2"/>
                </a:solidFill>
                <a:latin typeface="Tahoma"/>
                <a:cs typeface="Tahoma"/>
                <a:hlinkClick r:id="rId3" action="ppaction://hlinksldjump"/>
              </a:rPr>
              <a:t>Machine</a:t>
            </a:r>
            <a:r>
              <a:rPr sz="600" spc="20" dirty="0">
                <a:solidFill>
                  <a:srgbClr val="F2F2F2"/>
                </a:solidFill>
                <a:latin typeface="Tahoma"/>
                <a:cs typeface="Tahoma"/>
                <a:hlinkClick r:id="rId3" action="ppaction://hlinksldjump"/>
              </a:rPr>
              <a:t> </a:t>
            </a:r>
            <a:r>
              <a:rPr sz="600" dirty="0">
                <a:solidFill>
                  <a:srgbClr val="F2F2F2"/>
                </a:solidFill>
                <a:latin typeface="Tahoma"/>
                <a:cs typeface="Tahoma"/>
                <a:hlinkClick r:id="rId3" action="ppaction://hlinksldjump"/>
              </a:rPr>
              <a:t>Learning</a:t>
            </a:r>
            <a:r>
              <a:rPr sz="600" spc="20" dirty="0">
                <a:solidFill>
                  <a:srgbClr val="F2F2F2"/>
                </a:solidFill>
                <a:latin typeface="Tahoma"/>
                <a:cs typeface="Tahoma"/>
                <a:hlinkClick r:id="rId3" action="ppaction://hlinksldjump"/>
              </a:rPr>
              <a:t> </a:t>
            </a:r>
            <a:r>
              <a:rPr sz="600" dirty="0">
                <a:solidFill>
                  <a:srgbClr val="F2F2F2"/>
                </a:solidFill>
                <a:latin typeface="Tahoma"/>
                <a:cs typeface="Tahoma"/>
                <a:hlinkClick r:id="rId3" action="ppaction://hlinksldjump"/>
              </a:rPr>
              <a:t>in</a:t>
            </a:r>
            <a:r>
              <a:rPr sz="600" spc="20" dirty="0">
                <a:solidFill>
                  <a:srgbClr val="F2F2F2"/>
                </a:solidFill>
                <a:latin typeface="Tahoma"/>
                <a:cs typeface="Tahoma"/>
                <a:hlinkClick r:id="rId3" action="ppaction://hlinksldjump"/>
              </a:rPr>
              <a:t> </a:t>
            </a:r>
            <a:r>
              <a:rPr sz="600" spc="-10" dirty="0">
                <a:solidFill>
                  <a:srgbClr val="F2F2F2"/>
                </a:solidFill>
                <a:latin typeface="Tahoma"/>
                <a:cs typeface="Tahoma"/>
                <a:hlinkClick r:id="rId3" action="ppaction://hlinksldjump"/>
              </a:rPr>
              <a:t>Education</a:t>
            </a:r>
            <a:endParaRPr sz="600" dirty="0">
              <a:latin typeface="Tahoma"/>
              <a:cs typeface="Tahoma"/>
            </a:endParaRPr>
          </a:p>
        </p:txBody>
      </p:sp>
      <p:sp>
        <p:nvSpPr>
          <p:cNvPr id="3" name="TextBox 2">
            <a:extLst>
              <a:ext uri="{FF2B5EF4-FFF2-40B4-BE49-F238E27FC236}">
                <a16:creationId xmlns:a16="http://schemas.microsoft.com/office/drawing/2014/main" id="{DF42C036-3124-28E8-8DAF-54037CBA8800}"/>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
        <p:nvSpPr>
          <p:cNvPr id="4" name="object 2">
            <a:extLst>
              <a:ext uri="{FF2B5EF4-FFF2-40B4-BE49-F238E27FC236}">
                <a16:creationId xmlns:a16="http://schemas.microsoft.com/office/drawing/2014/main" id="{2C0C98FA-1FE7-6AC6-006E-E059077B8468}"/>
              </a:ext>
            </a:extLst>
          </p:cNvPr>
          <p:cNvSpPr txBox="1">
            <a:spLocks/>
          </p:cNvSpPr>
          <p:nvPr/>
        </p:nvSpPr>
        <p:spPr>
          <a:xfrm>
            <a:off x="0" y="269913"/>
            <a:ext cx="4608195" cy="293029"/>
          </a:xfrm>
          <a:prstGeom prst="rect">
            <a:avLst/>
          </a:prstGeom>
          <a:solidFill>
            <a:srgbClr val="F2F2F2"/>
          </a:solidFill>
        </p:spPr>
        <p:txBody>
          <a:bodyPr vert="horz" wrap="square" lIns="0" tIns="76835" rIns="0" bIns="0" rtlCol="0">
            <a:spAutoFit/>
          </a:bodyPr>
          <a:lstStyle>
            <a:lvl1pPr>
              <a:defRPr sz="1400" b="0" i="0">
                <a:solidFill>
                  <a:srgbClr val="CC0000"/>
                </a:solidFill>
                <a:latin typeface="Tahoma"/>
                <a:ea typeface="+mj-ea"/>
                <a:cs typeface="Tahoma"/>
              </a:defRPr>
            </a:lvl1pPr>
          </a:lstStyle>
          <a:p>
            <a:pPr marL="107950">
              <a:spcBef>
                <a:spcPts val="605"/>
              </a:spcBef>
            </a:pPr>
            <a:r>
              <a:rPr lang="en-US" spc="-10" dirty="0"/>
              <a:t>Estimating CATE with DML</a:t>
            </a:r>
          </a:p>
        </p:txBody>
      </p:sp>
      <p:pic>
        <p:nvPicPr>
          <p:cNvPr id="5" name="Picture 4">
            <a:extLst>
              <a:ext uri="{FF2B5EF4-FFF2-40B4-BE49-F238E27FC236}">
                <a16:creationId xmlns:a16="http://schemas.microsoft.com/office/drawing/2014/main" id="{8741BABB-8549-15DA-DFED-26DD89860207}"/>
              </a:ext>
            </a:extLst>
          </p:cNvPr>
          <p:cNvPicPr>
            <a:picLocks noChangeAspect="1"/>
          </p:cNvPicPr>
          <p:nvPr/>
        </p:nvPicPr>
        <p:blipFill>
          <a:blip r:embed="rId4"/>
          <a:stretch>
            <a:fillRect/>
          </a:stretch>
        </p:blipFill>
        <p:spPr>
          <a:xfrm>
            <a:off x="933450" y="627745"/>
            <a:ext cx="2942272" cy="2005593"/>
          </a:xfrm>
          <a:prstGeom prst="rect">
            <a:avLst/>
          </a:prstGeom>
        </p:spPr>
      </p:pic>
      <p:sp>
        <p:nvSpPr>
          <p:cNvPr id="6" name="TextBox 5">
            <a:extLst>
              <a:ext uri="{FF2B5EF4-FFF2-40B4-BE49-F238E27FC236}">
                <a16:creationId xmlns:a16="http://schemas.microsoft.com/office/drawing/2014/main" id="{6AEBCB88-4C1B-EDD9-7E3B-EC44F49B49CB}"/>
              </a:ext>
            </a:extLst>
          </p:cNvPr>
          <p:cNvSpPr txBox="1"/>
          <p:nvPr/>
        </p:nvSpPr>
        <p:spPr>
          <a:xfrm>
            <a:off x="323850" y="2633338"/>
            <a:ext cx="4144313" cy="415498"/>
          </a:xfrm>
          <a:prstGeom prst="rect">
            <a:avLst/>
          </a:prstGeom>
          <a:noFill/>
        </p:spPr>
        <p:txBody>
          <a:bodyPr wrap="square" rtlCol="0">
            <a:spAutoFit/>
          </a:bodyPr>
          <a:lstStyle/>
          <a:p>
            <a:pPr algn="ctr"/>
            <a:r>
              <a:rPr lang="en-US" sz="700" dirty="0"/>
              <a:t>CATEs) estimated by DML Logistic Regression + Lasso CV). </a:t>
            </a:r>
          </a:p>
          <a:p>
            <a:pPr algn="ctr"/>
            <a:r>
              <a:rPr lang="en-US" sz="700" dirty="0"/>
              <a:t>HSGPA is binned in quintiles: Q1 (2.88-3.44), Q2 (3.44-3.56), Q3 (3.56-</a:t>
            </a:r>
          </a:p>
          <a:p>
            <a:pPr algn="ctr"/>
            <a:r>
              <a:rPr lang="en-US" sz="700" dirty="0"/>
              <a:t>3.64), Q4 (3.64-3.76), Q5 (3.76-4.0)</a:t>
            </a:r>
          </a:p>
        </p:txBody>
      </p:sp>
    </p:spTree>
    <p:extLst>
      <p:ext uri="{BB962C8B-B14F-4D97-AF65-F5344CB8AC3E}">
        <p14:creationId xmlns:p14="http://schemas.microsoft.com/office/powerpoint/2010/main" val="2088300593"/>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spc="-45" dirty="0"/>
              <a:t>Bayesian </a:t>
            </a:r>
            <a:r>
              <a:rPr spc="-30" dirty="0"/>
              <a:t>Hierarchical</a:t>
            </a:r>
            <a:r>
              <a:rPr spc="-40" dirty="0"/>
              <a:t> </a:t>
            </a:r>
            <a:r>
              <a:rPr spc="-10" dirty="0"/>
              <a:t>Models</a:t>
            </a:r>
          </a:p>
        </p:txBody>
      </p:sp>
      <p:sp>
        <p:nvSpPr>
          <p:cNvPr id="4" name="object 4"/>
          <p:cNvSpPr txBox="1">
            <a:spLocks noGrp="1"/>
          </p:cNvSpPr>
          <p:nvPr>
            <p:ph type="body" idx="1"/>
          </p:nvPr>
        </p:nvSpPr>
        <p:spPr>
          <a:xfrm>
            <a:off x="323850" y="1044575"/>
            <a:ext cx="3657600" cy="1066959"/>
          </a:xfrm>
          <a:prstGeom prst="rect">
            <a:avLst/>
          </a:prstGeom>
        </p:spPr>
        <p:txBody>
          <a:bodyPr vert="horz" wrap="square" lIns="0" tIns="12700" rIns="0" bIns="0" rtlCol="0">
            <a:spAutoFit/>
          </a:bodyPr>
          <a:lstStyle/>
          <a:p>
            <a:pPr marL="184150" marR="358140" indent="-171450">
              <a:lnSpc>
                <a:spcPct val="125299"/>
              </a:lnSpc>
              <a:spcBef>
                <a:spcPts val="100"/>
              </a:spcBef>
              <a:buFont typeface="Arial" panose="020B0604020202020204" pitchFamily="34" charset="0"/>
              <a:buChar char="•"/>
            </a:pPr>
            <a:r>
              <a:rPr dirty="0"/>
              <a:t>Motivation:</a:t>
            </a:r>
            <a:r>
              <a:rPr spc="80" dirty="0"/>
              <a:t> </a:t>
            </a:r>
            <a:r>
              <a:rPr spc="-40" dirty="0"/>
              <a:t>students</a:t>
            </a:r>
            <a:r>
              <a:rPr spc="-10" dirty="0"/>
              <a:t> </a:t>
            </a:r>
            <a:r>
              <a:rPr spc="-60" dirty="0"/>
              <a:t>are</a:t>
            </a:r>
            <a:r>
              <a:rPr spc="-10" dirty="0"/>
              <a:t> </a:t>
            </a:r>
            <a:r>
              <a:rPr spc="-55" dirty="0"/>
              <a:t>nested</a:t>
            </a:r>
            <a:r>
              <a:rPr spc="-10" dirty="0"/>
              <a:t> </a:t>
            </a:r>
            <a:r>
              <a:rPr dirty="0"/>
              <a:t>within</a:t>
            </a:r>
            <a:r>
              <a:rPr spc="-15" dirty="0"/>
              <a:t> </a:t>
            </a:r>
            <a:r>
              <a:rPr spc="-10" dirty="0"/>
              <a:t>courses. </a:t>
            </a:r>
            <a:r>
              <a:rPr spc="-20" dirty="0"/>
              <a:t>Model </a:t>
            </a:r>
            <a:r>
              <a:rPr spc="-35" dirty="0"/>
              <a:t>random</a:t>
            </a:r>
            <a:r>
              <a:rPr spc="-5" dirty="0"/>
              <a:t> </a:t>
            </a:r>
            <a:r>
              <a:rPr spc="-35" dirty="0"/>
              <a:t>intercepts</a:t>
            </a:r>
            <a:r>
              <a:rPr spc="-10" dirty="0"/>
              <a:t> </a:t>
            </a:r>
            <a:r>
              <a:rPr spc="-45" dirty="0"/>
              <a:t>and</a:t>
            </a:r>
            <a:r>
              <a:rPr spc="-10" dirty="0"/>
              <a:t> </a:t>
            </a:r>
            <a:r>
              <a:rPr spc="-35" dirty="0"/>
              <a:t>random</a:t>
            </a:r>
            <a:r>
              <a:rPr spc="-5" dirty="0"/>
              <a:t> </a:t>
            </a:r>
            <a:r>
              <a:rPr spc="-75" dirty="0"/>
              <a:t>slopes</a:t>
            </a:r>
            <a:r>
              <a:rPr dirty="0"/>
              <a:t> for</a:t>
            </a:r>
            <a:r>
              <a:rPr spc="-10" dirty="0"/>
              <a:t> </a:t>
            </a:r>
            <a:r>
              <a:rPr spc="-25" dirty="0"/>
              <a:t>PT.</a:t>
            </a:r>
          </a:p>
          <a:p>
            <a:pPr marL="184150" marR="5080" indent="-171450">
              <a:lnSpc>
                <a:spcPct val="125299"/>
              </a:lnSpc>
              <a:buFont typeface="Arial" panose="020B0604020202020204" pitchFamily="34" charset="0"/>
              <a:buChar char="•"/>
            </a:pPr>
            <a:r>
              <a:rPr spc="-55" dirty="0"/>
              <a:t>Produces</a:t>
            </a:r>
            <a:r>
              <a:rPr spc="20" dirty="0"/>
              <a:t> </a:t>
            </a:r>
            <a:r>
              <a:rPr spc="-35" dirty="0"/>
              <a:t>posterior</a:t>
            </a:r>
            <a:r>
              <a:rPr spc="25" dirty="0"/>
              <a:t> </a:t>
            </a:r>
            <a:r>
              <a:rPr spc="-25" dirty="0"/>
              <a:t>distributions</a:t>
            </a:r>
            <a:r>
              <a:rPr spc="20" dirty="0"/>
              <a:t> </a:t>
            </a:r>
            <a:r>
              <a:rPr dirty="0"/>
              <a:t>(not</a:t>
            </a:r>
            <a:r>
              <a:rPr spc="25" dirty="0"/>
              <a:t> </a:t>
            </a:r>
            <a:r>
              <a:rPr dirty="0"/>
              <a:t>just</a:t>
            </a:r>
            <a:r>
              <a:rPr spc="20" dirty="0"/>
              <a:t> </a:t>
            </a:r>
            <a:r>
              <a:rPr dirty="0"/>
              <a:t>point</a:t>
            </a:r>
            <a:r>
              <a:rPr spc="25" dirty="0"/>
              <a:t> </a:t>
            </a:r>
            <a:r>
              <a:rPr spc="-30" dirty="0"/>
              <a:t>estimates). </a:t>
            </a:r>
            <a:r>
              <a:rPr spc="-90" dirty="0"/>
              <a:t>Reveals</a:t>
            </a:r>
            <a:r>
              <a:rPr spc="35" dirty="0"/>
              <a:t> </a:t>
            </a:r>
            <a:r>
              <a:rPr spc="-25" dirty="0"/>
              <a:t>variation</a:t>
            </a:r>
            <a:r>
              <a:rPr spc="40" dirty="0"/>
              <a:t> </a:t>
            </a:r>
            <a:r>
              <a:rPr spc="-80" dirty="0"/>
              <a:t>across</a:t>
            </a:r>
            <a:r>
              <a:rPr spc="40" dirty="0"/>
              <a:t> </a:t>
            </a:r>
            <a:r>
              <a:rPr spc="-10" dirty="0"/>
              <a:t>courses.</a:t>
            </a:r>
          </a:p>
          <a:p>
            <a:pPr marL="184150" indent="-171450">
              <a:lnSpc>
                <a:spcPct val="100000"/>
              </a:lnSpc>
              <a:spcBef>
                <a:spcPts val="335"/>
              </a:spcBef>
              <a:buFont typeface="Arial" panose="020B0604020202020204" pitchFamily="34" charset="0"/>
              <a:buChar char="•"/>
            </a:pPr>
            <a:r>
              <a:rPr spc="-45" dirty="0"/>
              <a:t>Example:</a:t>
            </a:r>
            <a:r>
              <a:rPr spc="95" dirty="0"/>
              <a:t> </a:t>
            </a:r>
            <a:r>
              <a:rPr spc="-25" dirty="0"/>
              <a:t>Biology</a:t>
            </a:r>
            <a:r>
              <a:rPr spc="5" dirty="0"/>
              <a:t> </a:t>
            </a:r>
            <a:r>
              <a:rPr dirty="0">
                <a:latin typeface="Cambria"/>
                <a:cs typeface="Cambria"/>
              </a:rPr>
              <a:t>↑</a:t>
            </a:r>
            <a:r>
              <a:rPr dirty="0"/>
              <a:t>, </a:t>
            </a:r>
            <a:r>
              <a:rPr spc="-45" dirty="0"/>
              <a:t>English</a:t>
            </a:r>
            <a:r>
              <a:rPr dirty="0"/>
              <a:t> </a:t>
            </a:r>
            <a:r>
              <a:rPr spc="-25" dirty="0">
                <a:latin typeface="Cambria"/>
                <a:cs typeface="Cambria"/>
              </a:rPr>
              <a:t>↓</a:t>
            </a:r>
            <a:r>
              <a:rPr spc="-25" dirty="0"/>
              <a:t>.</a:t>
            </a:r>
          </a:p>
        </p:txBody>
      </p:sp>
      <p:sp>
        <p:nvSpPr>
          <p:cNvPr id="13" name="TextBox 12">
            <a:extLst>
              <a:ext uri="{FF2B5EF4-FFF2-40B4-BE49-F238E27FC236}">
                <a16:creationId xmlns:a16="http://schemas.microsoft.com/office/drawing/2014/main" id="{12CB6B45-5F6C-BF52-C677-0CB6F9E82408}"/>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4" name="TextBox 13">
            <a:extLst>
              <a:ext uri="{FF2B5EF4-FFF2-40B4-BE49-F238E27FC236}">
                <a16:creationId xmlns:a16="http://schemas.microsoft.com/office/drawing/2014/main" id="{3376F96E-7B5C-2A39-4B5F-155E7FCE3E3B}"/>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E33A89C7-68F3-5993-C69A-D4A5565F817D}"/>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9311B-4C9E-EE2C-7AFE-58218DD3E6E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96CDCC-BABA-842D-7C16-23C56C0D8C6C}"/>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lang="en-US" spc="-10" dirty="0"/>
              <a:t>Estimating ATE with Bayesian Hierarchical Regression </a:t>
            </a:r>
            <a:endParaRPr spc="-10" dirty="0"/>
          </a:p>
        </p:txBody>
      </p:sp>
      <p:sp>
        <p:nvSpPr>
          <p:cNvPr id="4" name="object 4">
            <a:extLst>
              <a:ext uri="{FF2B5EF4-FFF2-40B4-BE49-F238E27FC236}">
                <a16:creationId xmlns:a16="http://schemas.microsoft.com/office/drawing/2014/main" id="{0884D9B7-319D-8B17-308C-7D67D0ADF84B}"/>
              </a:ext>
            </a:extLst>
          </p:cNvPr>
          <p:cNvSpPr txBox="1"/>
          <p:nvPr/>
        </p:nvSpPr>
        <p:spPr>
          <a:xfrm>
            <a:off x="95250" y="732433"/>
            <a:ext cx="1143001" cy="2133275"/>
          </a:xfrm>
          <a:prstGeom prst="rect">
            <a:avLst/>
          </a:prstGeom>
        </p:spPr>
        <p:txBody>
          <a:bodyPr vert="horz" wrap="square" lIns="0" tIns="55244" rIns="0" bIns="0" rtlCol="0">
            <a:spAutoFit/>
          </a:bodyPr>
          <a:lstStyle/>
          <a:p>
            <a:pPr marL="12700">
              <a:lnSpc>
                <a:spcPct val="100000"/>
              </a:lnSpc>
              <a:spcBef>
                <a:spcPts val="434"/>
              </a:spcBef>
            </a:pPr>
            <a:r>
              <a:rPr lang="en-US" sz="900" spc="-20" dirty="0">
                <a:latin typeface="Gill Sans MT"/>
                <a:cs typeface="Gill Sans MT"/>
              </a:rPr>
              <a:t>In the Bayesian setting, we allow for heterogeneity in baseline performance across courses by including random intercepts at the course level, while keeping a global slope for the treatment PT. This captures unobserved differences between courses while assuming the effect of part-time instruction is constant across them.</a:t>
            </a:r>
          </a:p>
        </p:txBody>
      </p:sp>
      <p:sp>
        <p:nvSpPr>
          <p:cNvPr id="12" name="TextBox 11">
            <a:extLst>
              <a:ext uri="{FF2B5EF4-FFF2-40B4-BE49-F238E27FC236}">
                <a16:creationId xmlns:a16="http://schemas.microsoft.com/office/drawing/2014/main" id="{C25E08DA-4EDA-BC8B-CC74-F108AD01426B}"/>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F2C4B3B8-18B7-005B-95B5-C3FD8D4EE04D}"/>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F71E9E55-EFA1-7CB6-95B0-2A9E4038BD9C}"/>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graphicFrame>
        <p:nvGraphicFramePr>
          <p:cNvPr id="30" name="Object 29">
            <a:extLst>
              <a:ext uri="{FF2B5EF4-FFF2-40B4-BE49-F238E27FC236}">
                <a16:creationId xmlns:a16="http://schemas.microsoft.com/office/drawing/2014/main" id="{A988FA1D-9C0E-7539-57C0-5FBEF091C9CF}"/>
              </a:ext>
            </a:extLst>
          </p:cNvPr>
          <p:cNvGraphicFramePr>
            <a:graphicFrameLocks noChangeAspect="1"/>
          </p:cNvGraphicFramePr>
          <p:nvPr>
            <p:extLst>
              <p:ext uri="{D42A27DB-BD31-4B8C-83A1-F6EECF244321}">
                <p14:modId xmlns:p14="http://schemas.microsoft.com/office/powerpoint/2010/main" val="3704525991"/>
              </p:ext>
            </p:extLst>
          </p:nvPr>
        </p:nvGraphicFramePr>
        <p:xfrm>
          <a:off x="1360170" y="784657"/>
          <a:ext cx="3248025" cy="2028825"/>
        </p:xfrm>
        <a:graphic>
          <a:graphicData uri="http://schemas.openxmlformats.org/presentationml/2006/ole">
            <mc:AlternateContent xmlns:mc="http://schemas.openxmlformats.org/markup-compatibility/2006">
              <mc:Choice xmlns:v="urn:schemas-microsoft-com:vml" Requires="v">
                <p:oleObj name="Equation" r:id="rId3" imgW="4940280" imgH="3085920" progId="Equation.DSMT4">
                  <p:embed/>
                </p:oleObj>
              </mc:Choice>
              <mc:Fallback>
                <p:oleObj name="Equation" r:id="rId3" imgW="4940280" imgH="3085920" progId="Equation.DSMT4">
                  <p:embed/>
                  <p:pic>
                    <p:nvPicPr>
                      <p:cNvPr id="30" name="Object 29">
                        <a:extLst>
                          <a:ext uri="{FF2B5EF4-FFF2-40B4-BE49-F238E27FC236}">
                            <a16:creationId xmlns:a16="http://schemas.microsoft.com/office/drawing/2014/main" id="{4A714B7B-D283-CF1E-ED10-450581BCDFFA}"/>
                          </a:ext>
                        </a:extLst>
                      </p:cNvPr>
                      <p:cNvPicPr/>
                      <p:nvPr/>
                    </p:nvPicPr>
                    <p:blipFill>
                      <a:blip r:embed="rId4"/>
                      <a:stretch>
                        <a:fillRect/>
                      </a:stretch>
                    </p:blipFill>
                    <p:spPr>
                      <a:xfrm>
                        <a:off x="1360170" y="784657"/>
                        <a:ext cx="3248025" cy="2028825"/>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7672C6AF-277B-7711-914F-36D565E7D716}"/>
              </a:ext>
            </a:extLst>
          </p:cNvPr>
          <p:cNvGraphicFramePr>
            <a:graphicFrameLocks noChangeAspect="1"/>
          </p:cNvGraphicFramePr>
          <p:nvPr/>
        </p:nvGraphicFramePr>
        <p:xfrm>
          <a:off x="6146800" y="3327400"/>
          <a:ext cx="914400" cy="180975"/>
        </p:xfrm>
        <a:graphic>
          <a:graphicData uri="http://schemas.openxmlformats.org/presentationml/2006/ole">
            <mc:AlternateContent xmlns:mc="http://schemas.openxmlformats.org/markup-compatibility/2006">
              <mc:Choice xmlns:v="urn:schemas-microsoft-com:vml" Requires="v">
                <p:oleObj name="Equation" r:id="rId5" imgW="914400" imgH="181440" progId="Equation.DSMT4">
                  <p:embed/>
                </p:oleObj>
              </mc:Choice>
              <mc:Fallback>
                <p:oleObj name="Equation" r:id="rId5" imgW="914400" imgH="181440" progId="Equation.DSMT4">
                  <p:embed/>
                  <p:pic>
                    <p:nvPicPr>
                      <p:cNvPr id="32" name="Object 31">
                        <a:extLst>
                          <a:ext uri="{FF2B5EF4-FFF2-40B4-BE49-F238E27FC236}">
                            <a16:creationId xmlns:a16="http://schemas.microsoft.com/office/drawing/2014/main" id="{C044E741-3262-A503-0877-F993A85A0B31}"/>
                          </a:ext>
                        </a:extLst>
                      </p:cNvPr>
                      <p:cNvPicPr/>
                      <p:nvPr/>
                    </p:nvPicPr>
                    <p:blipFill>
                      <a:blip r:embed="rId6"/>
                      <a:stretch>
                        <a:fillRect/>
                      </a:stretch>
                    </p:blipFill>
                    <p:spPr>
                      <a:xfrm>
                        <a:off x="6146800" y="3327400"/>
                        <a:ext cx="914400" cy="180975"/>
                      </a:xfrm>
                      <a:prstGeom prst="rect">
                        <a:avLst/>
                      </a:prstGeom>
                    </p:spPr>
                  </p:pic>
                </p:oleObj>
              </mc:Fallback>
            </mc:AlternateContent>
          </a:graphicData>
        </a:graphic>
      </p:graphicFrame>
    </p:spTree>
    <p:extLst>
      <p:ext uri="{BB962C8B-B14F-4D97-AF65-F5344CB8AC3E}">
        <p14:creationId xmlns:p14="http://schemas.microsoft.com/office/powerpoint/2010/main" val="2318195534"/>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C6653-2F1C-2EBF-33B1-E9EA9E14FF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71F131-FBA4-675F-23B9-CFF718DF59CA}"/>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lang="en-US" spc="-10" dirty="0"/>
              <a:t>Estimating ATE with Bayesian Hierarchical Regression </a:t>
            </a:r>
            <a:endParaRPr spc="-10" dirty="0"/>
          </a:p>
        </p:txBody>
      </p:sp>
      <p:sp>
        <p:nvSpPr>
          <p:cNvPr id="12" name="TextBox 11">
            <a:extLst>
              <a:ext uri="{FF2B5EF4-FFF2-40B4-BE49-F238E27FC236}">
                <a16:creationId xmlns:a16="http://schemas.microsoft.com/office/drawing/2014/main" id="{742BBC5B-2A69-590C-3570-4F40E08B2A94}"/>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0E7B941A-36E4-683E-9195-B9A140422E0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2415B6DA-AD7B-EA78-D4E4-FA74196A76B6}"/>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pic>
        <p:nvPicPr>
          <p:cNvPr id="5" name="Picture 4">
            <a:extLst>
              <a:ext uri="{FF2B5EF4-FFF2-40B4-BE49-F238E27FC236}">
                <a16:creationId xmlns:a16="http://schemas.microsoft.com/office/drawing/2014/main" id="{0F66EF9A-FBDA-40E3-D90B-815A07124DA1}"/>
              </a:ext>
            </a:extLst>
          </p:cNvPr>
          <p:cNvPicPr>
            <a:picLocks noChangeAspect="1"/>
          </p:cNvPicPr>
          <p:nvPr/>
        </p:nvPicPr>
        <p:blipFill>
          <a:blip r:embed="rId3"/>
          <a:stretch>
            <a:fillRect/>
          </a:stretch>
        </p:blipFill>
        <p:spPr>
          <a:xfrm>
            <a:off x="362327" y="856116"/>
            <a:ext cx="3792560" cy="1748518"/>
          </a:xfrm>
          <a:prstGeom prst="rect">
            <a:avLst/>
          </a:prstGeom>
        </p:spPr>
      </p:pic>
      <p:sp>
        <p:nvSpPr>
          <p:cNvPr id="4" name="Oval 3">
            <a:extLst>
              <a:ext uri="{FF2B5EF4-FFF2-40B4-BE49-F238E27FC236}">
                <a16:creationId xmlns:a16="http://schemas.microsoft.com/office/drawing/2014/main" id="{DFFE5F1D-2E2A-6EDB-F75A-961CB8C09E59}"/>
              </a:ext>
            </a:extLst>
          </p:cNvPr>
          <p:cNvSpPr/>
          <p:nvPr/>
        </p:nvSpPr>
        <p:spPr>
          <a:xfrm>
            <a:off x="1238250" y="1958975"/>
            <a:ext cx="381000" cy="152400"/>
          </a:xfrm>
          <a:prstGeom prst="ellipse">
            <a:avLst/>
          </a:prstGeom>
          <a:noFill/>
          <a:ln w="9525">
            <a:solidFill>
              <a:srgbClr val="C81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1316332"/>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3BC0B-35F9-1B33-4EB0-11B31E985B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4112E6-E07A-25E9-BED6-BDF259E8724A}"/>
              </a:ext>
            </a:extLst>
          </p:cNvPr>
          <p:cNvSpPr txBox="1">
            <a:spLocks noGrp="1"/>
          </p:cNvSpPr>
          <p:nvPr>
            <p:ph type="title"/>
          </p:nvPr>
        </p:nvSpPr>
        <p:spPr>
          <a:xfrm>
            <a:off x="0" y="269913"/>
            <a:ext cx="4608195" cy="293029"/>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lang="en-US" spc="-10" dirty="0"/>
              <a:t>Estimating CATE with Bayesian Hierarchical Regression </a:t>
            </a:r>
            <a:endParaRPr spc="-10" dirty="0"/>
          </a:p>
        </p:txBody>
      </p:sp>
      <p:sp>
        <p:nvSpPr>
          <p:cNvPr id="12" name="TextBox 11">
            <a:extLst>
              <a:ext uri="{FF2B5EF4-FFF2-40B4-BE49-F238E27FC236}">
                <a16:creationId xmlns:a16="http://schemas.microsoft.com/office/drawing/2014/main" id="{5AA5F809-BB42-33D5-ACA2-338C9F11772D}"/>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841CFC1D-5AD4-49E2-12E2-2286D8AE4FE3}"/>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96E0B616-55BD-6E9A-BB09-73623C9E977D}"/>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pic>
        <p:nvPicPr>
          <p:cNvPr id="8" name="Picture 7">
            <a:extLst>
              <a:ext uri="{FF2B5EF4-FFF2-40B4-BE49-F238E27FC236}">
                <a16:creationId xmlns:a16="http://schemas.microsoft.com/office/drawing/2014/main" id="{102A8F07-2E17-FBB3-A2A7-D217AAA4A92A}"/>
              </a:ext>
            </a:extLst>
          </p:cNvPr>
          <p:cNvPicPr>
            <a:picLocks noChangeAspect="1"/>
          </p:cNvPicPr>
          <p:nvPr/>
        </p:nvPicPr>
        <p:blipFill>
          <a:blip r:embed="rId3"/>
          <a:stretch>
            <a:fillRect/>
          </a:stretch>
        </p:blipFill>
        <p:spPr>
          <a:xfrm>
            <a:off x="0" y="741417"/>
            <a:ext cx="4435613" cy="2059391"/>
          </a:xfrm>
          <a:prstGeom prst="rect">
            <a:avLst/>
          </a:prstGeom>
        </p:spPr>
      </p:pic>
      <p:graphicFrame>
        <p:nvGraphicFramePr>
          <p:cNvPr id="9" name="Object 8">
            <a:extLst>
              <a:ext uri="{FF2B5EF4-FFF2-40B4-BE49-F238E27FC236}">
                <a16:creationId xmlns:a16="http://schemas.microsoft.com/office/drawing/2014/main" id="{BBDC27D9-1B5C-6D0A-4FD3-6D336321CF1B}"/>
              </a:ext>
            </a:extLst>
          </p:cNvPr>
          <p:cNvGraphicFramePr>
            <a:graphicFrameLocks noChangeAspect="1"/>
          </p:cNvGraphicFramePr>
          <p:nvPr>
            <p:extLst>
              <p:ext uri="{D42A27DB-BD31-4B8C-83A1-F6EECF244321}">
                <p14:modId xmlns:p14="http://schemas.microsoft.com/office/powerpoint/2010/main" val="122904180"/>
              </p:ext>
            </p:extLst>
          </p:nvPr>
        </p:nvGraphicFramePr>
        <p:xfrm>
          <a:off x="79535" y="2940931"/>
          <a:ext cx="4387760" cy="154160"/>
        </p:xfrm>
        <a:graphic>
          <a:graphicData uri="http://schemas.openxmlformats.org/presentationml/2006/ole">
            <mc:AlternateContent xmlns:mc="http://schemas.openxmlformats.org/markup-compatibility/2006">
              <mc:Choice xmlns:v="urn:schemas-microsoft-com:vml" Requires="v">
                <p:oleObj name="Equation" r:id="rId4" imgW="6464160" imgH="228600" progId="Equation.DSMT4">
                  <p:embed/>
                </p:oleObj>
              </mc:Choice>
              <mc:Fallback>
                <p:oleObj name="Equation" r:id="rId4" imgW="6464160" imgH="228600" progId="Equation.DSMT4">
                  <p:embed/>
                  <p:pic>
                    <p:nvPicPr>
                      <p:cNvPr id="8" name="Object 7">
                        <a:extLst>
                          <a:ext uri="{FF2B5EF4-FFF2-40B4-BE49-F238E27FC236}">
                            <a16:creationId xmlns:a16="http://schemas.microsoft.com/office/drawing/2014/main" id="{CC503D2F-B115-A1B3-2CB2-0DDAEEF566FB}"/>
                          </a:ext>
                        </a:extLst>
                      </p:cNvPr>
                      <p:cNvPicPr/>
                      <p:nvPr/>
                    </p:nvPicPr>
                    <p:blipFill>
                      <a:blip r:embed="rId5"/>
                      <a:stretch>
                        <a:fillRect/>
                      </a:stretch>
                    </p:blipFill>
                    <p:spPr>
                      <a:xfrm>
                        <a:off x="79535" y="2940931"/>
                        <a:ext cx="4387760" cy="154160"/>
                      </a:xfrm>
                      <a:prstGeom prst="rect">
                        <a:avLst/>
                      </a:prstGeom>
                    </p:spPr>
                  </p:pic>
                </p:oleObj>
              </mc:Fallback>
            </mc:AlternateContent>
          </a:graphicData>
        </a:graphic>
      </p:graphicFrame>
    </p:spTree>
    <p:extLst>
      <p:ext uri="{BB962C8B-B14F-4D97-AF65-F5344CB8AC3E}">
        <p14:creationId xmlns:p14="http://schemas.microsoft.com/office/powerpoint/2010/main" val="1338724962"/>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69913"/>
            <a:ext cx="4608195" cy="350520"/>
          </a:xfrm>
          <a:prstGeom prst="rect">
            <a:avLst/>
          </a:prstGeom>
          <a:solidFill>
            <a:srgbClr val="F2F2F2"/>
          </a:solidFill>
        </p:spPr>
        <p:txBody>
          <a:bodyPr vert="horz" wrap="square" lIns="0" tIns="76835" rIns="0" bIns="0" rtlCol="0">
            <a:spAutoFit/>
          </a:bodyPr>
          <a:lstStyle/>
          <a:p>
            <a:pPr marL="107950">
              <a:lnSpc>
                <a:spcPct val="100000"/>
              </a:lnSpc>
              <a:spcBef>
                <a:spcPts val="605"/>
              </a:spcBef>
            </a:pPr>
            <a:r>
              <a:rPr dirty="0"/>
              <a:t>Key</a:t>
            </a:r>
            <a:r>
              <a:rPr spc="-20" dirty="0"/>
              <a:t> </a:t>
            </a:r>
            <a:r>
              <a:rPr spc="-10" dirty="0"/>
              <a:t>Takeaways</a:t>
            </a:r>
          </a:p>
        </p:txBody>
      </p:sp>
      <p:sp>
        <p:nvSpPr>
          <p:cNvPr id="4" name="object 4"/>
          <p:cNvSpPr txBox="1">
            <a:spLocks noGrp="1"/>
          </p:cNvSpPr>
          <p:nvPr>
            <p:ph type="body" idx="1"/>
          </p:nvPr>
        </p:nvSpPr>
        <p:spPr>
          <a:xfrm>
            <a:off x="362327" y="936798"/>
            <a:ext cx="4077240" cy="1540230"/>
          </a:xfrm>
          <a:prstGeom prst="rect">
            <a:avLst/>
          </a:prstGeom>
        </p:spPr>
        <p:txBody>
          <a:bodyPr vert="horz" wrap="square" lIns="0" tIns="12700" rIns="0" bIns="0" rtlCol="0">
            <a:spAutoFit/>
          </a:bodyPr>
          <a:lstStyle/>
          <a:p>
            <a:pPr marL="184150" marR="5080" indent="-171450">
              <a:lnSpc>
                <a:spcPct val="125299"/>
              </a:lnSpc>
              <a:spcBef>
                <a:spcPts val="100"/>
              </a:spcBef>
              <a:buFont typeface="Arial" panose="020B0604020202020204" pitchFamily="34" charset="0"/>
              <a:buChar char="•"/>
            </a:pPr>
            <a:r>
              <a:rPr lang="en-US" spc="-80" dirty="0"/>
              <a:t>The study challenges</a:t>
            </a:r>
            <a:r>
              <a:rPr lang="en-US" spc="25" dirty="0"/>
              <a:t> </a:t>
            </a:r>
            <a:r>
              <a:rPr lang="en-US" spc="-50" dirty="0"/>
              <a:t>assumption</a:t>
            </a:r>
            <a:r>
              <a:rPr lang="en-US" spc="25" dirty="0"/>
              <a:t> </a:t>
            </a:r>
            <a:r>
              <a:rPr lang="en-US" dirty="0"/>
              <a:t>that</a:t>
            </a:r>
            <a:r>
              <a:rPr lang="en-US" spc="25" dirty="0"/>
              <a:t> </a:t>
            </a:r>
            <a:r>
              <a:rPr lang="en-US" dirty="0"/>
              <a:t>PT</a:t>
            </a:r>
            <a:r>
              <a:rPr lang="en-US" spc="25" dirty="0"/>
              <a:t> </a:t>
            </a:r>
            <a:r>
              <a:rPr lang="en-US" spc="-10" dirty="0"/>
              <a:t>faculty</a:t>
            </a:r>
            <a:r>
              <a:rPr lang="en-US" spc="30" dirty="0"/>
              <a:t> </a:t>
            </a:r>
            <a:r>
              <a:rPr lang="en-US" spc="-30" dirty="0"/>
              <a:t>harm</a:t>
            </a:r>
            <a:r>
              <a:rPr lang="en-US" spc="25" dirty="0"/>
              <a:t> </a:t>
            </a:r>
            <a:r>
              <a:rPr lang="en-US" spc="-25" dirty="0"/>
              <a:t>students.</a:t>
            </a:r>
          </a:p>
          <a:p>
            <a:pPr marR="5080" lvl="1" indent="-285750">
              <a:lnSpc>
                <a:spcPct val="125299"/>
              </a:lnSpc>
              <a:spcBef>
                <a:spcPts val="100"/>
              </a:spcBef>
              <a:buFont typeface="Courier New" panose="02070309020205020404" pitchFamily="49" charset="0"/>
              <a:buChar char="o"/>
            </a:pPr>
            <a:r>
              <a:rPr lang="en-US" sz="1100" dirty="0"/>
              <a:t>PT</a:t>
            </a:r>
            <a:r>
              <a:rPr lang="en-US" sz="1100" spc="10" dirty="0"/>
              <a:t> </a:t>
            </a:r>
            <a:r>
              <a:rPr lang="en-US" sz="1100" spc="-10" dirty="0"/>
              <a:t>instruction</a:t>
            </a:r>
            <a:r>
              <a:rPr lang="en-US" sz="1100" spc="15" dirty="0"/>
              <a:t> </a:t>
            </a:r>
            <a:r>
              <a:rPr lang="en-US" sz="1100" spc="155" dirty="0">
                <a:latin typeface="Cambria"/>
                <a:cs typeface="Cambria"/>
              </a:rPr>
              <a:t>→</a:t>
            </a:r>
            <a:r>
              <a:rPr lang="en-US" sz="1100" spc="75" dirty="0">
                <a:latin typeface="Cambria"/>
                <a:cs typeface="Cambria"/>
              </a:rPr>
              <a:t> </a:t>
            </a:r>
            <a:r>
              <a:rPr lang="en-US" sz="1100" spc="-40" dirty="0"/>
              <a:t>modest</a:t>
            </a:r>
            <a:r>
              <a:rPr lang="en-US" sz="1100" spc="15" dirty="0"/>
              <a:t> </a:t>
            </a:r>
            <a:r>
              <a:rPr lang="en-US" sz="1100" spc="-30" dirty="0"/>
              <a:t>positive</a:t>
            </a:r>
            <a:r>
              <a:rPr lang="en-US" sz="1100" spc="10" dirty="0"/>
              <a:t> </a:t>
            </a:r>
            <a:r>
              <a:rPr lang="en-US" sz="1100" spc="-70" dirty="0"/>
              <a:t>causal</a:t>
            </a:r>
            <a:r>
              <a:rPr lang="en-US" sz="1100" spc="15" dirty="0"/>
              <a:t> </a:t>
            </a:r>
            <a:r>
              <a:rPr lang="en-US" sz="1100" spc="-10" dirty="0"/>
              <a:t>effect.</a:t>
            </a:r>
          </a:p>
          <a:p>
            <a:pPr marL="171450" marR="5080" lvl="1">
              <a:lnSpc>
                <a:spcPct val="125299"/>
              </a:lnSpc>
              <a:spcBef>
                <a:spcPts val="100"/>
              </a:spcBef>
            </a:pPr>
            <a:endParaRPr lang="en-US" sz="1100" spc="-10" dirty="0"/>
          </a:p>
          <a:p>
            <a:pPr marL="184150" marR="5080" indent="-171450">
              <a:lnSpc>
                <a:spcPct val="125299"/>
              </a:lnSpc>
              <a:spcBef>
                <a:spcPts val="100"/>
              </a:spcBef>
              <a:buFont typeface="Arial" panose="020B0604020202020204" pitchFamily="34" charset="0"/>
              <a:buChar char="•"/>
            </a:pPr>
            <a:r>
              <a:rPr lang="en-US" spc="-50" dirty="0"/>
              <a:t>Demonstrates</a:t>
            </a:r>
            <a:r>
              <a:rPr lang="en-US" spc="30" dirty="0"/>
              <a:t> </a:t>
            </a:r>
            <a:r>
              <a:rPr lang="en-US" spc="-55" dirty="0"/>
              <a:t>value</a:t>
            </a:r>
            <a:r>
              <a:rPr lang="en-US" spc="30" dirty="0"/>
              <a:t> </a:t>
            </a:r>
            <a:r>
              <a:rPr lang="en-US" dirty="0"/>
              <a:t>of</a:t>
            </a:r>
            <a:r>
              <a:rPr lang="en-US" spc="30" dirty="0"/>
              <a:t> </a:t>
            </a:r>
            <a:r>
              <a:rPr lang="en-US" spc="-70" dirty="0"/>
              <a:t>causal</a:t>
            </a:r>
            <a:r>
              <a:rPr lang="en-US" spc="30" dirty="0"/>
              <a:t> </a:t>
            </a:r>
            <a:r>
              <a:rPr lang="en-US" spc="-50" dirty="0"/>
              <a:t>inference</a:t>
            </a:r>
            <a:r>
              <a:rPr lang="en-US" spc="35" dirty="0"/>
              <a:t> </a:t>
            </a:r>
            <a:r>
              <a:rPr lang="en-US" spc="200" dirty="0"/>
              <a:t>+</a:t>
            </a:r>
            <a:r>
              <a:rPr lang="en-US" spc="30" dirty="0"/>
              <a:t> </a:t>
            </a:r>
            <a:r>
              <a:rPr lang="en-US" dirty="0"/>
              <a:t>ML</a:t>
            </a:r>
            <a:r>
              <a:rPr lang="en-US" spc="30" dirty="0"/>
              <a:t> </a:t>
            </a:r>
            <a:r>
              <a:rPr lang="en-US" dirty="0"/>
              <a:t>in</a:t>
            </a:r>
            <a:r>
              <a:rPr lang="en-US" spc="30" dirty="0"/>
              <a:t> </a:t>
            </a:r>
            <a:r>
              <a:rPr lang="en-US" spc="-25" dirty="0"/>
              <a:t>education</a:t>
            </a:r>
            <a:endParaRPr lang="en-US" spc="-10" dirty="0"/>
          </a:p>
          <a:p>
            <a:pPr marL="344488" marR="5080" lvl="1" indent="-171450">
              <a:lnSpc>
                <a:spcPct val="125299"/>
              </a:lnSpc>
              <a:spcBef>
                <a:spcPts val="100"/>
              </a:spcBef>
              <a:buFont typeface="Courier New" panose="02070309020205020404" pitchFamily="49" charset="0"/>
              <a:buChar char="o"/>
            </a:pPr>
            <a:r>
              <a:rPr sz="1100" spc="-45" dirty="0"/>
              <a:t>Pearl’s</a:t>
            </a:r>
            <a:r>
              <a:rPr sz="1100" spc="-15" dirty="0"/>
              <a:t> </a:t>
            </a:r>
            <a:r>
              <a:rPr sz="1100" spc="-40" dirty="0"/>
              <a:t>framework</a:t>
            </a:r>
            <a:r>
              <a:rPr sz="1100" spc="-10" dirty="0"/>
              <a:t> </a:t>
            </a:r>
            <a:r>
              <a:rPr sz="1100" spc="-55" dirty="0"/>
              <a:t>provides</a:t>
            </a:r>
            <a:r>
              <a:rPr sz="1100" spc="-5" dirty="0"/>
              <a:t> </a:t>
            </a:r>
            <a:r>
              <a:rPr sz="1100" spc="-45" dirty="0"/>
              <a:t>credible</a:t>
            </a:r>
            <a:r>
              <a:rPr sz="1100" spc="-10" dirty="0"/>
              <a:t> </a:t>
            </a:r>
            <a:r>
              <a:rPr sz="1100" spc="-70" dirty="0"/>
              <a:t>causal</a:t>
            </a:r>
            <a:r>
              <a:rPr sz="1100" spc="-5" dirty="0"/>
              <a:t> </a:t>
            </a:r>
            <a:r>
              <a:rPr sz="1100" spc="-10" dirty="0"/>
              <a:t>identification</a:t>
            </a:r>
            <a:r>
              <a:rPr sz="1100" spc="-10"/>
              <a:t>. </a:t>
            </a:r>
            <a:endParaRPr lang="en-US" sz="1100" spc="-10"/>
          </a:p>
          <a:p>
            <a:pPr marL="344488" marR="5080" lvl="1" indent="-171450">
              <a:lnSpc>
                <a:spcPct val="125299"/>
              </a:lnSpc>
              <a:spcBef>
                <a:spcPts val="100"/>
              </a:spcBef>
              <a:buFont typeface="Courier New" panose="02070309020205020404" pitchFamily="49" charset="0"/>
              <a:buChar char="o"/>
            </a:pPr>
            <a:r>
              <a:rPr sz="1100"/>
              <a:t>DML</a:t>
            </a:r>
            <a:r>
              <a:rPr sz="1100" dirty="0"/>
              <a:t>:</a:t>
            </a:r>
            <a:r>
              <a:rPr sz="1100" spc="10" dirty="0"/>
              <a:t> </a:t>
            </a:r>
            <a:r>
              <a:rPr sz="1100" spc="-25" dirty="0"/>
              <a:t>flexible,</a:t>
            </a:r>
            <a:r>
              <a:rPr sz="1100" spc="10" dirty="0"/>
              <a:t> </a:t>
            </a:r>
            <a:r>
              <a:rPr sz="1100" spc="-20" dirty="0"/>
              <a:t>robust</a:t>
            </a:r>
            <a:r>
              <a:rPr sz="1100" spc="10" dirty="0"/>
              <a:t> </a:t>
            </a:r>
            <a:r>
              <a:rPr sz="1100" spc="-70" dirty="0"/>
              <a:t>causal</a:t>
            </a:r>
            <a:r>
              <a:rPr sz="1100" spc="10" dirty="0"/>
              <a:t> </a:t>
            </a:r>
            <a:r>
              <a:rPr sz="1100" spc="-30" dirty="0"/>
              <a:t>estimation</a:t>
            </a:r>
            <a:r>
              <a:rPr sz="1100" spc="10" dirty="0"/>
              <a:t> </a:t>
            </a:r>
            <a:r>
              <a:rPr sz="1100" dirty="0"/>
              <a:t>with</a:t>
            </a:r>
            <a:r>
              <a:rPr sz="1100" spc="15" dirty="0"/>
              <a:t> </a:t>
            </a:r>
            <a:r>
              <a:rPr sz="1100" spc="-25" dirty="0"/>
              <a:t>ML.</a:t>
            </a:r>
          </a:p>
          <a:p>
            <a:pPr marL="344488" marR="272415" lvl="1" indent="-171450">
              <a:lnSpc>
                <a:spcPct val="102600"/>
              </a:lnSpc>
              <a:spcBef>
                <a:spcPts val="300"/>
              </a:spcBef>
              <a:buFont typeface="Courier New" panose="02070309020205020404" pitchFamily="49" charset="0"/>
              <a:buChar char="o"/>
            </a:pPr>
            <a:r>
              <a:rPr sz="1100" spc="-70" dirty="0"/>
              <a:t>Bayesian</a:t>
            </a:r>
            <a:r>
              <a:rPr sz="1100" spc="-5" dirty="0"/>
              <a:t> </a:t>
            </a:r>
            <a:r>
              <a:rPr sz="1100" spc="-40" dirty="0"/>
              <a:t>models:</a:t>
            </a:r>
            <a:r>
              <a:rPr sz="1100" spc="100" dirty="0"/>
              <a:t> </a:t>
            </a:r>
            <a:r>
              <a:rPr sz="1100" spc="-30" dirty="0"/>
              <a:t>capture</a:t>
            </a:r>
            <a:r>
              <a:rPr sz="1100" dirty="0"/>
              <a:t> </a:t>
            </a:r>
            <a:r>
              <a:rPr sz="1100" spc="-75" dirty="0"/>
              <a:t>course-</a:t>
            </a:r>
            <a:r>
              <a:rPr sz="1100" spc="-50" dirty="0"/>
              <a:t>level</a:t>
            </a:r>
            <a:r>
              <a:rPr sz="1100" dirty="0"/>
              <a:t> </a:t>
            </a:r>
            <a:r>
              <a:rPr sz="1100" spc="-25" dirty="0"/>
              <a:t>variation</a:t>
            </a:r>
            <a:r>
              <a:rPr sz="1100" dirty="0"/>
              <a:t> </a:t>
            </a:r>
            <a:r>
              <a:rPr sz="1100" spc="-25" dirty="0"/>
              <a:t>and </a:t>
            </a:r>
            <a:r>
              <a:rPr sz="1100" spc="-10" dirty="0"/>
              <a:t>uncertainty.</a:t>
            </a:r>
            <a:endParaRPr lang="en-US" sz="1100" spc="-10" dirty="0"/>
          </a:p>
        </p:txBody>
      </p:sp>
      <p:sp>
        <p:nvSpPr>
          <p:cNvPr id="12" name="TextBox 11">
            <a:extLst>
              <a:ext uri="{FF2B5EF4-FFF2-40B4-BE49-F238E27FC236}">
                <a16:creationId xmlns:a16="http://schemas.microsoft.com/office/drawing/2014/main" id="{01FEE883-586F-2981-C5ED-4FC350B92B47}"/>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3" name="TextBox 12">
            <a:extLst>
              <a:ext uri="{FF2B5EF4-FFF2-40B4-BE49-F238E27FC236}">
                <a16:creationId xmlns:a16="http://schemas.microsoft.com/office/drawing/2014/main" id="{C1F78EA2-7823-7771-F3C3-FE283CD7970C}"/>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3" name="TextBox 2">
            <a:extLst>
              <a:ext uri="{FF2B5EF4-FFF2-40B4-BE49-F238E27FC236}">
                <a16:creationId xmlns:a16="http://schemas.microsoft.com/office/drawing/2014/main" id="{3524677C-2B04-B173-8CDB-877B74DD9F1E}"/>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2480" y="1204517"/>
            <a:ext cx="1483360" cy="403225"/>
          </a:xfrm>
          <a:prstGeom prst="rect">
            <a:avLst/>
          </a:prstGeom>
        </p:spPr>
        <p:txBody>
          <a:bodyPr vert="horz" wrap="square" lIns="0" tIns="15875" rIns="0" bIns="0" rtlCol="0">
            <a:spAutoFit/>
          </a:bodyPr>
          <a:lstStyle/>
          <a:p>
            <a:pPr marL="12700">
              <a:lnSpc>
                <a:spcPct val="100000"/>
              </a:lnSpc>
              <a:spcBef>
                <a:spcPts val="125"/>
              </a:spcBef>
            </a:pPr>
            <a:r>
              <a:rPr lang="en-US" sz="2450" dirty="0">
                <a:latin typeface="Gill Sans MT"/>
                <a:cs typeface="Gill Sans MT"/>
              </a:rPr>
              <a:t>Questions?</a:t>
            </a:r>
            <a:endParaRPr sz="2450" dirty="0">
              <a:latin typeface="Gill Sans MT"/>
              <a:cs typeface="Gill Sans MT"/>
            </a:endParaRPr>
          </a:p>
        </p:txBody>
      </p:sp>
      <p:sp>
        <p:nvSpPr>
          <p:cNvPr id="9" name="TextBox 8">
            <a:extLst>
              <a:ext uri="{FF2B5EF4-FFF2-40B4-BE49-F238E27FC236}">
                <a16:creationId xmlns:a16="http://schemas.microsoft.com/office/drawing/2014/main" id="{75AA0810-E3C5-9F2F-48D6-98712FD2C328}"/>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0" name="TextBox 9">
            <a:extLst>
              <a:ext uri="{FF2B5EF4-FFF2-40B4-BE49-F238E27FC236}">
                <a16:creationId xmlns:a16="http://schemas.microsoft.com/office/drawing/2014/main" id="{5FC4B02B-B11B-E61D-FA07-DAE91BC7A1C6}"/>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5" name="TextBox 4">
            <a:extLst>
              <a:ext uri="{FF2B5EF4-FFF2-40B4-BE49-F238E27FC236}">
                <a16:creationId xmlns:a16="http://schemas.microsoft.com/office/drawing/2014/main" id="{2C2AD511-6B9A-F846-8C59-4A8CD7C0BDAF}"/>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28422-C812-1ED0-486C-5EB4CA449C6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51A6E5D-8F03-CFBD-70F7-F53A8A07C75E}"/>
              </a:ext>
            </a:extLst>
          </p:cNvPr>
          <p:cNvSpPr txBox="1"/>
          <p:nvPr/>
        </p:nvSpPr>
        <p:spPr>
          <a:xfrm>
            <a:off x="1562480" y="1204517"/>
            <a:ext cx="1483360" cy="403225"/>
          </a:xfrm>
          <a:prstGeom prst="rect">
            <a:avLst/>
          </a:prstGeom>
        </p:spPr>
        <p:txBody>
          <a:bodyPr vert="horz" wrap="square" lIns="0" tIns="15875" rIns="0" bIns="0" rtlCol="0">
            <a:spAutoFit/>
          </a:bodyPr>
          <a:lstStyle/>
          <a:p>
            <a:pPr marL="12700">
              <a:lnSpc>
                <a:spcPct val="100000"/>
              </a:lnSpc>
              <a:spcBef>
                <a:spcPts val="125"/>
              </a:spcBef>
            </a:pPr>
            <a:r>
              <a:rPr sz="2450" dirty="0">
                <a:latin typeface="Gill Sans MT"/>
                <a:cs typeface="Gill Sans MT"/>
              </a:rPr>
              <a:t>Thank</a:t>
            </a:r>
            <a:r>
              <a:rPr sz="2450" spc="155" dirty="0">
                <a:latin typeface="Gill Sans MT"/>
                <a:cs typeface="Gill Sans MT"/>
              </a:rPr>
              <a:t> </a:t>
            </a:r>
            <a:r>
              <a:rPr sz="2450" spc="-50" dirty="0">
                <a:latin typeface="Gill Sans MT"/>
                <a:cs typeface="Gill Sans MT"/>
              </a:rPr>
              <a:t>You!</a:t>
            </a:r>
            <a:endParaRPr sz="2450">
              <a:latin typeface="Gill Sans MT"/>
              <a:cs typeface="Gill Sans MT"/>
            </a:endParaRPr>
          </a:p>
        </p:txBody>
      </p:sp>
      <p:sp>
        <p:nvSpPr>
          <p:cNvPr id="9" name="TextBox 8">
            <a:extLst>
              <a:ext uri="{FF2B5EF4-FFF2-40B4-BE49-F238E27FC236}">
                <a16:creationId xmlns:a16="http://schemas.microsoft.com/office/drawing/2014/main" id="{FDA99F02-2AB9-EF9A-72D1-5D5C6CCA56F4}"/>
              </a:ext>
            </a:extLst>
          </p:cNvPr>
          <p:cNvSpPr txBox="1"/>
          <p:nvPr/>
        </p:nvSpPr>
        <p:spPr>
          <a:xfrm>
            <a:off x="-18546" y="3175131"/>
            <a:ext cx="761747" cy="184666"/>
          </a:xfrm>
          <a:prstGeom prst="rect">
            <a:avLst/>
          </a:prstGeom>
          <a:noFill/>
        </p:spPr>
        <p:txBody>
          <a:bodyPr wrap="none" rtlCol="0">
            <a:spAutoFit/>
          </a:bodyPr>
          <a:lstStyle/>
          <a:p>
            <a:pPr algn="l"/>
            <a:r>
              <a:rPr lang="en-US" sz="600" dirty="0"/>
              <a:t> Eitel J.M. </a:t>
            </a:r>
            <a:r>
              <a:rPr lang="en-US" sz="600" dirty="0" err="1"/>
              <a:t>Lauría</a:t>
            </a:r>
            <a:endParaRPr lang="en-US" sz="600" dirty="0"/>
          </a:p>
        </p:txBody>
      </p:sp>
      <p:sp>
        <p:nvSpPr>
          <p:cNvPr id="10" name="TextBox 9">
            <a:extLst>
              <a:ext uri="{FF2B5EF4-FFF2-40B4-BE49-F238E27FC236}">
                <a16:creationId xmlns:a16="http://schemas.microsoft.com/office/drawing/2014/main" id="{789E21B1-AD8C-51B6-1C27-5A1BCFAE3398}"/>
              </a:ext>
            </a:extLst>
          </p:cNvPr>
          <p:cNvSpPr txBox="1"/>
          <p:nvPr/>
        </p:nvSpPr>
        <p:spPr>
          <a:xfrm>
            <a:off x="0" y="3291840"/>
            <a:ext cx="4610100" cy="184666"/>
          </a:xfrm>
          <a:prstGeom prst="rect">
            <a:avLst/>
          </a:prstGeom>
          <a:noFill/>
        </p:spPr>
        <p:txBody>
          <a:bodyPr wrap="square" rtlCol="0">
            <a:spAutoFit/>
          </a:bodyPr>
          <a:lstStyle/>
          <a:p>
            <a:pPr algn="l"/>
            <a:r>
              <a:rPr lang="en-US" sz="600" dirty="0">
                <a:solidFill>
                  <a:schemeClr val="bg1"/>
                </a:solidFill>
                <a:latin typeface="Tahoma"/>
                <a:cs typeface="Tahoma"/>
              </a:rPr>
              <a:t>Causal Inference and Machine Learning in Education                                                                                       MCC – 11/7/2025                                                                </a:t>
            </a:r>
          </a:p>
        </p:txBody>
      </p:sp>
      <p:sp>
        <p:nvSpPr>
          <p:cNvPr id="5" name="TextBox 4">
            <a:extLst>
              <a:ext uri="{FF2B5EF4-FFF2-40B4-BE49-F238E27FC236}">
                <a16:creationId xmlns:a16="http://schemas.microsoft.com/office/drawing/2014/main" id="{14C1D5AD-B09D-5096-70ED-04200B44608E}"/>
              </a:ext>
            </a:extLst>
          </p:cNvPr>
          <p:cNvSpPr txBox="1"/>
          <p:nvPr/>
        </p:nvSpPr>
        <p:spPr>
          <a:xfrm>
            <a:off x="0" y="-42213"/>
            <a:ext cx="4610100" cy="230832"/>
          </a:xfrm>
          <a:prstGeom prst="rect">
            <a:avLst/>
          </a:prstGeom>
          <a:noFill/>
        </p:spPr>
        <p:txBody>
          <a:bodyPr wrap="square">
            <a:spAutoFit/>
          </a:bodyPr>
          <a:lstStyle/>
          <a:p>
            <a:pPr algn="l">
              <a:defRPr sz="1600" b="1">
                <a:solidFill>
                  <a:srgbClr val="BA0C2F"/>
                </a:solidFill>
              </a:defRPr>
            </a:pPr>
            <a:r>
              <a:rPr lang="en-US" sz="900" b="1" dirty="0">
                <a:solidFill>
                  <a:schemeClr val="bg1"/>
                </a:solidFill>
              </a:rPr>
              <a:t>Marist Computing Conference</a:t>
            </a:r>
          </a:p>
        </p:txBody>
      </p:sp>
    </p:spTree>
    <p:extLst>
      <p:ext uri="{BB962C8B-B14F-4D97-AF65-F5344CB8AC3E}">
        <p14:creationId xmlns:p14="http://schemas.microsoft.com/office/powerpoint/2010/main" val="905260390"/>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2F2F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2060</TotalTime>
  <Words>2836</Words>
  <Application>Microsoft Office PowerPoint</Application>
  <PresentationFormat>Custom</PresentationFormat>
  <Paragraphs>253</Paragraphs>
  <Slides>22</Slides>
  <Notes>22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4" baseType="lpstr">
      <vt:lpstr>Aptos</vt:lpstr>
      <vt:lpstr>Arial</vt:lpstr>
      <vt:lpstr>Cambria</vt:lpstr>
      <vt:lpstr>Cambria Math</vt:lpstr>
      <vt:lpstr>Courier New</vt:lpstr>
      <vt:lpstr>Gill Sans MT</vt:lpstr>
      <vt:lpstr>Montserrat</vt:lpstr>
      <vt:lpstr>Tahoma</vt:lpstr>
      <vt:lpstr>Times New Roman</vt:lpstr>
      <vt:lpstr>Wingdings</vt:lpstr>
      <vt:lpstr>Office Theme</vt:lpstr>
      <vt:lpstr>Equation</vt:lpstr>
      <vt:lpstr>PowerPoint Presentation</vt:lpstr>
      <vt:lpstr>Motivation</vt:lpstr>
      <vt:lpstr>Why Causal Inference?</vt:lpstr>
      <vt:lpstr>Counterfactuals</vt:lpstr>
      <vt:lpstr>Pearl’s Framework (and the risks of having ice cream)</vt:lpstr>
      <vt:lpstr>Pearl’s Framework (and the risks of having ice cream)</vt:lpstr>
      <vt:lpstr>Pearl’s Framework</vt:lpstr>
      <vt:lpstr>   Data and Context</vt:lpstr>
      <vt:lpstr>Identification &amp; Adjustment Set</vt:lpstr>
      <vt:lpstr>General Causal Estimand</vt:lpstr>
      <vt:lpstr>Estimation Methods Overview</vt:lpstr>
      <vt:lpstr>  </vt:lpstr>
      <vt:lpstr>Estimating ATE with DML</vt:lpstr>
      <vt:lpstr>Estimating ATE with DML</vt:lpstr>
      <vt:lpstr>PowerPoint Presentation</vt:lpstr>
      <vt:lpstr>Bayesian Hierarchical Models</vt:lpstr>
      <vt:lpstr>Estimating ATE with Bayesian Hierarchical Regression </vt:lpstr>
      <vt:lpstr>Estimating ATE with Bayesian Hierarchical Regression </vt:lpstr>
      <vt:lpstr>Estimating CATE with Bayesian Hierarchical Regression </vt:lpstr>
      <vt:lpstr>Key Takeaways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Inference and Machine Learning in Education - Part-Time Instruction and First-Semester Freshmen</dc:title>
  <dc:creator>Eitel Lauría  Marist University</dc:creator>
  <cp:lastModifiedBy>Eitel Lauria</cp:lastModifiedBy>
  <cp:revision>20</cp:revision>
  <cp:lastPrinted>2025-11-03T20:04:58Z</cp:lastPrinted>
  <dcterms:created xsi:type="dcterms:W3CDTF">2025-10-02T16:56:25Z</dcterms:created>
  <dcterms:modified xsi:type="dcterms:W3CDTF">2025-11-06T18:17:23Z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2025-10-02T00:00:00Z</vt:filetime>
  </property>
  <property fmtid="{D5CDD505-2E9C-101B-9397-08002B2CF9AE}" pid="3" name="Creator">
    <vt:lpwstr>LaTeX with Beamer class</vt:lpwstr>
  </property>
  <property fmtid="{D5CDD505-2E9C-101B-9397-08002B2CF9AE}" pid="4" name="LastSaved">
    <vt:filetime>2025-10-02T00:00:00Z</vt:filetime>
  </property>
  <property fmtid="{D5CDD505-2E9C-101B-9397-08002B2CF9AE}" pid="5" name="PTEX.Fullbanner">
    <vt:lpwstr>This is pdfTeX, Version 3.141592653-2.6-1.40.27 (TeX Live 2025) kpathsea version 6.4.1</vt:lpwstr>
  </property>
  <property fmtid="{D5CDD505-2E9C-101B-9397-08002B2CF9AE}" pid="6" name="Producer">
    <vt:lpwstr>pdfTeX-1.40.27</vt:lpwstr>
  </property>
</Properties>
</file>