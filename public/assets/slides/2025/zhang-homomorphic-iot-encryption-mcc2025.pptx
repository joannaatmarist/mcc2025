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72" r:id="rId4"/>
    <p:sldId id="258" r:id="rId5"/>
    <p:sldId id="273" r:id="rId6"/>
    <p:sldId id="259" r:id="rId7"/>
    <p:sldId id="277" r:id="rId8"/>
    <p:sldId id="260" r:id="rId9"/>
    <p:sldId id="274" r:id="rId10"/>
    <p:sldId id="262" r:id="rId11"/>
    <p:sldId id="263" r:id="rId12"/>
    <p:sldId id="264" r:id="rId13"/>
    <p:sldId id="265" r:id="rId14"/>
    <p:sldId id="275" r:id="rId15"/>
    <p:sldId id="268" r:id="rId16"/>
    <p:sldId id="276" r:id="rId17"/>
    <p:sldId id="269" r:id="rId18"/>
    <p:sldId id="270"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00C706-BA23-4B5F-92A6-EAFC2033CC04}" v="2" dt="2025-11-06T05:08:00.4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1" autoAdjust="0"/>
    <p:restoredTop sz="69830" autoAdjust="0"/>
  </p:normalViewPr>
  <p:slideViewPr>
    <p:cSldViewPr snapToGrid="0">
      <p:cViewPr varScale="1">
        <p:scale>
          <a:sx n="51" d="100"/>
          <a:sy n="51" d="100"/>
        </p:scale>
        <p:origin x="122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wu Zhang" userId="e38fc1ab-23d0-4bb7-a8bf-c1feb8120d35" providerId="ADAL" clId="{071D9F6D-A780-4A70-BC5E-9729CAFE28D3}"/>
    <pc:docChg chg="undo custSel addSld modSld">
      <pc:chgData name="Bowu Zhang" userId="e38fc1ab-23d0-4bb7-a8bf-c1feb8120d35" providerId="ADAL" clId="{071D9F6D-A780-4A70-BC5E-9729CAFE28D3}" dt="2025-11-06T05:09:10.472" v="276" actId="20577"/>
      <pc:docMkLst>
        <pc:docMk/>
      </pc:docMkLst>
      <pc:sldChg chg="addSp delSp modSp mod">
        <pc:chgData name="Bowu Zhang" userId="e38fc1ab-23d0-4bb7-a8bf-c1feb8120d35" providerId="ADAL" clId="{071D9F6D-A780-4A70-BC5E-9729CAFE28D3}" dt="2025-11-03T02:11:49.297" v="24"/>
        <pc:sldMkLst>
          <pc:docMk/>
          <pc:sldMk cId="0" sldId="256"/>
        </pc:sldMkLst>
        <pc:spChg chg="add del mod">
          <ac:chgData name="Bowu Zhang" userId="e38fc1ab-23d0-4bb7-a8bf-c1feb8120d35" providerId="ADAL" clId="{071D9F6D-A780-4A70-BC5E-9729CAFE28D3}" dt="2025-11-03T02:11:49.297" v="24"/>
          <ac:spMkLst>
            <pc:docMk/>
            <pc:sldMk cId="0" sldId="256"/>
            <ac:spMk id="2" creationId="{00000000-0000-0000-0000-000000000000}"/>
          </ac:spMkLst>
        </pc:spChg>
      </pc:sldChg>
      <pc:sldChg chg="modSp mod">
        <pc:chgData name="Bowu Zhang" userId="e38fc1ab-23d0-4bb7-a8bf-c1feb8120d35" providerId="ADAL" clId="{071D9F6D-A780-4A70-BC5E-9729CAFE28D3}" dt="2025-11-06T02:57:39.760" v="214" actId="20577"/>
        <pc:sldMkLst>
          <pc:docMk/>
          <pc:sldMk cId="0" sldId="258"/>
        </pc:sldMkLst>
        <pc:spChg chg="mod">
          <ac:chgData name="Bowu Zhang" userId="e38fc1ab-23d0-4bb7-a8bf-c1feb8120d35" providerId="ADAL" clId="{071D9F6D-A780-4A70-BC5E-9729CAFE28D3}" dt="2025-11-03T02:11:43.769" v="18" actId="27636"/>
          <ac:spMkLst>
            <pc:docMk/>
            <pc:sldMk cId="0" sldId="258"/>
            <ac:spMk id="2" creationId="{00000000-0000-0000-0000-000000000000}"/>
          </ac:spMkLst>
        </pc:spChg>
        <pc:spChg chg="mod">
          <ac:chgData name="Bowu Zhang" userId="e38fc1ab-23d0-4bb7-a8bf-c1feb8120d35" providerId="ADAL" clId="{071D9F6D-A780-4A70-BC5E-9729CAFE28D3}" dt="2025-11-06T02:57:39.760" v="214" actId="20577"/>
          <ac:spMkLst>
            <pc:docMk/>
            <pc:sldMk cId="0" sldId="258"/>
            <ac:spMk id="3" creationId="{00000000-0000-0000-0000-000000000000}"/>
          </ac:spMkLst>
        </pc:spChg>
      </pc:sldChg>
      <pc:sldChg chg="modSp mod modNotesTx">
        <pc:chgData name="Bowu Zhang" userId="e38fc1ab-23d0-4bb7-a8bf-c1feb8120d35" providerId="ADAL" clId="{071D9F6D-A780-4A70-BC5E-9729CAFE28D3}" dt="2025-11-06T05:08:00.453" v="263"/>
        <pc:sldMkLst>
          <pc:docMk/>
          <pc:sldMk cId="0" sldId="259"/>
        </pc:sldMkLst>
        <pc:spChg chg="mod">
          <ac:chgData name="Bowu Zhang" userId="e38fc1ab-23d0-4bb7-a8bf-c1feb8120d35" providerId="ADAL" clId="{071D9F6D-A780-4A70-BC5E-9729CAFE28D3}" dt="2025-11-03T02:37:52.212" v="62" actId="20577"/>
          <ac:spMkLst>
            <pc:docMk/>
            <pc:sldMk cId="0" sldId="259"/>
            <ac:spMk id="2" creationId="{00000000-0000-0000-0000-000000000000}"/>
          </ac:spMkLst>
        </pc:spChg>
        <pc:spChg chg="mod">
          <ac:chgData name="Bowu Zhang" userId="e38fc1ab-23d0-4bb7-a8bf-c1feb8120d35" providerId="ADAL" clId="{071D9F6D-A780-4A70-BC5E-9729CAFE28D3}" dt="2025-11-06T05:08:00.453" v="263"/>
          <ac:spMkLst>
            <pc:docMk/>
            <pc:sldMk cId="0" sldId="259"/>
            <ac:spMk id="3" creationId="{00000000-0000-0000-0000-000000000000}"/>
          </ac:spMkLst>
        </pc:spChg>
      </pc:sldChg>
      <pc:sldChg chg="modSp mod">
        <pc:chgData name="Bowu Zhang" userId="e38fc1ab-23d0-4bb7-a8bf-c1feb8120d35" providerId="ADAL" clId="{071D9F6D-A780-4A70-BC5E-9729CAFE28D3}" dt="2025-11-06T05:09:10.472" v="276" actId="20577"/>
        <pc:sldMkLst>
          <pc:docMk/>
          <pc:sldMk cId="0" sldId="260"/>
        </pc:sldMkLst>
        <pc:spChg chg="mod">
          <ac:chgData name="Bowu Zhang" userId="e38fc1ab-23d0-4bb7-a8bf-c1feb8120d35" providerId="ADAL" clId="{071D9F6D-A780-4A70-BC5E-9729CAFE28D3}" dt="2025-11-06T05:09:10.472" v="276" actId="20577"/>
          <ac:spMkLst>
            <pc:docMk/>
            <pc:sldMk cId="0" sldId="260"/>
            <ac:spMk id="3" creationId="{00000000-0000-0000-0000-000000000000}"/>
          </ac:spMkLst>
        </pc:spChg>
      </pc:sldChg>
      <pc:sldChg chg="modSp mod">
        <pc:chgData name="Bowu Zhang" userId="e38fc1ab-23d0-4bb7-a8bf-c1feb8120d35" providerId="ADAL" clId="{071D9F6D-A780-4A70-BC5E-9729CAFE28D3}" dt="2025-11-03T02:11:43.787" v="20" actId="27636"/>
        <pc:sldMkLst>
          <pc:docMk/>
          <pc:sldMk cId="0" sldId="262"/>
        </pc:sldMkLst>
        <pc:spChg chg="mod">
          <ac:chgData name="Bowu Zhang" userId="e38fc1ab-23d0-4bb7-a8bf-c1feb8120d35" providerId="ADAL" clId="{071D9F6D-A780-4A70-BC5E-9729CAFE28D3}" dt="2025-11-03T02:11:43.787" v="20" actId="27636"/>
          <ac:spMkLst>
            <pc:docMk/>
            <pc:sldMk cId="0" sldId="262"/>
            <ac:spMk id="3" creationId="{00000000-0000-0000-0000-000000000000}"/>
          </ac:spMkLst>
        </pc:spChg>
      </pc:sldChg>
      <pc:sldChg chg="modSp mod">
        <pc:chgData name="Bowu Zhang" userId="e38fc1ab-23d0-4bb7-a8bf-c1feb8120d35" providerId="ADAL" clId="{071D9F6D-A780-4A70-BC5E-9729CAFE28D3}" dt="2025-11-03T02:11:43.794" v="21" actId="27636"/>
        <pc:sldMkLst>
          <pc:docMk/>
          <pc:sldMk cId="0" sldId="265"/>
        </pc:sldMkLst>
        <pc:spChg chg="mod">
          <ac:chgData name="Bowu Zhang" userId="e38fc1ab-23d0-4bb7-a8bf-c1feb8120d35" providerId="ADAL" clId="{071D9F6D-A780-4A70-BC5E-9729CAFE28D3}" dt="2025-11-03T02:11:43.794" v="21" actId="27636"/>
          <ac:spMkLst>
            <pc:docMk/>
            <pc:sldMk cId="0" sldId="265"/>
            <ac:spMk id="3" creationId="{00000000-0000-0000-0000-000000000000}"/>
          </ac:spMkLst>
        </pc:spChg>
      </pc:sldChg>
      <pc:sldChg chg="modSp mod">
        <pc:chgData name="Bowu Zhang" userId="e38fc1ab-23d0-4bb7-a8bf-c1feb8120d35" providerId="ADAL" clId="{071D9F6D-A780-4A70-BC5E-9729CAFE28D3}" dt="2025-11-03T02:11:43.799" v="22" actId="27636"/>
        <pc:sldMkLst>
          <pc:docMk/>
          <pc:sldMk cId="0" sldId="268"/>
        </pc:sldMkLst>
        <pc:spChg chg="mod">
          <ac:chgData name="Bowu Zhang" userId="e38fc1ab-23d0-4bb7-a8bf-c1feb8120d35" providerId="ADAL" clId="{071D9F6D-A780-4A70-BC5E-9729CAFE28D3}" dt="2025-11-03T02:11:43.799" v="22" actId="27636"/>
          <ac:spMkLst>
            <pc:docMk/>
            <pc:sldMk cId="0" sldId="268"/>
            <ac:spMk id="3" creationId="{00000000-0000-0000-0000-000000000000}"/>
          </ac:spMkLst>
        </pc:spChg>
      </pc:sldChg>
      <pc:sldChg chg="modSp mod">
        <pc:chgData name="Bowu Zhang" userId="e38fc1ab-23d0-4bb7-a8bf-c1feb8120d35" providerId="ADAL" clId="{071D9F6D-A780-4A70-BC5E-9729CAFE28D3}" dt="2025-11-03T02:11:43.759" v="17" actId="27636"/>
        <pc:sldMkLst>
          <pc:docMk/>
          <pc:sldMk cId="0" sldId="272"/>
        </pc:sldMkLst>
        <pc:spChg chg="mod">
          <ac:chgData name="Bowu Zhang" userId="e38fc1ab-23d0-4bb7-a8bf-c1feb8120d35" providerId="ADAL" clId="{071D9F6D-A780-4A70-BC5E-9729CAFE28D3}" dt="2025-11-03T02:11:43.759" v="17" actId="27636"/>
          <ac:spMkLst>
            <pc:docMk/>
            <pc:sldMk cId="0" sldId="272"/>
            <ac:spMk id="3" creationId="{00000000-0000-0000-0000-000000000000}"/>
          </ac:spMkLst>
        </pc:spChg>
      </pc:sldChg>
      <pc:sldChg chg="modSp new mod">
        <pc:chgData name="Bowu Zhang" userId="e38fc1ab-23d0-4bb7-a8bf-c1feb8120d35" providerId="ADAL" clId="{071D9F6D-A780-4A70-BC5E-9729CAFE28D3}" dt="2025-11-03T02:40:50.950" v="124" actId="21"/>
        <pc:sldMkLst>
          <pc:docMk/>
          <pc:sldMk cId="3068571579" sldId="277"/>
        </pc:sldMkLst>
        <pc:spChg chg="mod">
          <ac:chgData name="Bowu Zhang" userId="e38fc1ab-23d0-4bb7-a8bf-c1feb8120d35" providerId="ADAL" clId="{071D9F6D-A780-4A70-BC5E-9729CAFE28D3}" dt="2025-11-03T02:40:41.907" v="120" actId="20577"/>
          <ac:spMkLst>
            <pc:docMk/>
            <pc:sldMk cId="3068571579" sldId="277"/>
            <ac:spMk id="2" creationId="{503E8A50-0B2B-5B58-D65F-3DAC3801C6B1}"/>
          </ac:spMkLst>
        </pc:spChg>
        <pc:spChg chg="mod">
          <ac:chgData name="Bowu Zhang" userId="e38fc1ab-23d0-4bb7-a8bf-c1feb8120d35" providerId="ADAL" clId="{071D9F6D-A780-4A70-BC5E-9729CAFE28D3}" dt="2025-11-03T02:40:50.950" v="124" actId="21"/>
          <ac:spMkLst>
            <pc:docMk/>
            <pc:sldMk cId="3068571579" sldId="277"/>
            <ac:spMk id="3" creationId="{F5CABEC2-D631-2330-A1A5-40B5068C9E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IoT is growing rapidly, but security remains a major concern. </a:t>
            </a:r>
          </a:p>
          <a:p>
            <a:r>
              <a:rPr lang="en-US" altLang="en-US"/>
              <a:t>IoT devices collect a wide range of data depending on their application. Here are some common types of data they gather:</a:t>
            </a:r>
          </a:p>
          <a:p>
            <a:r>
              <a:rPr lang="en-US" altLang="en-US"/>
              <a:t>1. Environmental Data</a:t>
            </a:r>
          </a:p>
          <a:p>
            <a:r>
              <a:rPr lang="en-US" altLang="en-US"/>
              <a:t>Temperature, humidity, air quality</a:t>
            </a:r>
          </a:p>
          <a:p>
            <a:r>
              <a:rPr lang="en-US" altLang="en-US"/>
              <a:t>Light levels, sound levels, radiation levels</a:t>
            </a:r>
          </a:p>
          <a:p>
            <a:r>
              <a:rPr lang="en-US" altLang="en-US"/>
              <a:t>2. Location &amp; Movement Data</a:t>
            </a:r>
          </a:p>
          <a:p>
            <a:r>
              <a:rPr lang="en-US" altLang="en-US"/>
              <a:t>GPS coordinates, geofencing data</a:t>
            </a:r>
          </a:p>
          <a:p>
            <a:r>
              <a:rPr lang="en-US" altLang="en-US"/>
              <a:t>Motion sensors, accelerometers, gyroscopes</a:t>
            </a:r>
          </a:p>
          <a:p>
            <a:r>
              <a:rPr lang="en-US" altLang="en-US"/>
              <a:t>3. Biometric &amp; Health Data</a:t>
            </a:r>
          </a:p>
          <a:p>
            <a:r>
              <a:rPr lang="en-US" altLang="en-US"/>
              <a:t>Heart rate, blood pressure, oxygen levels</a:t>
            </a:r>
          </a:p>
          <a:p>
            <a:r>
              <a:rPr lang="en-US" altLang="en-US"/>
              <a:t>ECG, EEG, body temperature, activity tracking</a:t>
            </a:r>
          </a:p>
          <a:p>
            <a:r>
              <a:rPr lang="en-US" altLang="en-US"/>
              <a:t>4. Device Performance &amp; Usage Data</a:t>
            </a:r>
          </a:p>
          <a:p>
            <a:r>
              <a:rPr lang="en-US" altLang="en-US"/>
              <a:t>Battery levels, operational status, error logs</a:t>
            </a:r>
          </a:p>
          <a:p>
            <a:r>
              <a:rPr lang="en-US" altLang="en-US"/>
              <a:t>Usage patterns, software updates, device connectivity</a:t>
            </a:r>
          </a:p>
          <a:p>
            <a:r>
              <a:rPr lang="en-US" altLang="en-US"/>
              <a:t>5. Smart Home &amp; Security Data</a:t>
            </a:r>
          </a:p>
          <a:p>
            <a:r>
              <a:rPr lang="en-US" altLang="en-US"/>
              <a:t>Camera feeds, door lock status, alarm triggers</a:t>
            </a:r>
          </a:p>
          <a:p>
            <a:r>
              <a:rPr lang="en-US" altLang="en-US"/>
              <a:t>Energy consumption, appliance usage</a:t>
            </a:r>
          </a:p>
          <a:p>
            <a:r>
              <a:rPr lang="en-US" altLang="en-US"/>
              <a:t>6. Industrial &amp; Manufacturing Data</a:t>
            </a:r>
          </a:p>
          <a:p>
            <a:r>
              <a:rPr lang="en-US" altLang="en-US"/>
              <a:t>Machine health, predictive maintenance</a:t>
            </a:r>
          </a:p>
          <a:p>
            <a:r>
              <a:rPr lang="en-US" altLang="en-US"/>
              <a:t>Production rates, supply chain monitoring</a:t>
            </a:r>
          </a:p>
          <a:p>
            <a:r>
              <a:rPr lang="en-US" altLang="en-US"/>
              <a:t>7. Financial &amp; Transactional Data</a:t>
            </a:r>
          </a:p>
          <a:p>
            <a:r>
              <a:rPr lang="en-US" altLang="en-US"/>
              <a:t>Contactless payments, transaction logs</a:t>
            </a:r>
          </a:p>
          <a:p>
            <a:r>
              <a:rPr lang="en-US" altLang="en-US"/>
              <a:t>Smart contracts, blockchain-based data</a:t>
            </a:r>
          </a:p>
          <a:p>
            <a:r>
              <a:rPr lang="en-US" altLang="en-US"/>
              <a:t>8. Communication &amp; Behavioral Data</a:t>
            </a:r>
          </a:p>
          <a:p>
            <a:r>
              <a:rPr lang="en-US" altLang="en-US"/>
              <a:t>Voice commands, text inputs, facial recognition</a:t>
            </a:r>
          </a:p>
          <a:p>
            <a:r>
              <a:rPr lang="en-US" altLang="en-US"/>
              <a:t>App usage, browsing behavior</a:t>
            </a:r>
          </a:p>
          <a:p>
            <a:r>
              <a:rPr lang="en-US" altLang="en-US"/>
              <a:t>Because IoT devices collect vast amounts of sensitive data, encryption (like homomorphic encryption) is critical to protect privacy and security. </a:t>
            </a:r>
          </a:p>
          <a:p>
            <a:r>
              <a:rPr lang="en-US" altLang="en-US"/>
              <a:t>Traditional encryption methods often fail due to computational limits on IoT devices.</a:t>
            </a:r>
          </a:p>
          <a:p>
            <a:endParaRPr lang="en-US" altLang="en-US"/>
          </a:p>
          <a:p>
            <a:r>
              <a:rPr lang="en-US" altLang="en-US"/>
              <a:t>The data collected by IoT devices can be highly valuable across various domains when properly utilized. Here are some key applications:</a:t>
            </a:r>
          </a:p>
          <a:p>
            <a:endParaRPr lang="en-US" altLang="en-US"/>
          </a:p>
          <a:p>
            <a:r>
              <a:rPr lang="en-US" altLang="en-US"/>
              <a:t>1. Medical Research &amp; Healthcare</a:t>
            </a:r>
          </a:p>
          <a:p>
            <a:r>
              <a:rPr lang="en-US" altLang="en-US"/>
              <a:t>Remote Patient Monitoring: Wearables track heart rate, blood pressure, and glucose levels to help doctors monitor chronic diseases.</a:t>
            </a:r>
          </a:p>
          <a:p>
            <a:r>
              <a:rPr lang="en-US" altLang="en-US"/>
              <a:t>Disease Prediction &amp; Prevention: AI analyzes IoT health data to detect patterns for early disease diagnosis (e.g., predicting heart attacks).</a:t>
            </a:r>
          </a:p>
          <a:p>
            <a:r>
              <a:rPr lang="en-US" altLang="en-US"/>
              <a:t>Drug Development: Large-scale health data from IoT devices can improve clinical trials and personalized medicine.</a:t>
            </a:r>
          </a:p>
          <a:p>
            <a:r>
              <a:rPr lang="en-US" altLang="en-US"/>
              <a:t>2. Customer Service &amp; User Experience</a:t>
            </a:r>
          </a:p>
          <a:p>
            <a:r>
              <a:rPr lang="en-US" altLang="en-US"/>
              <a:t>Personalized Recommendations: Smart home assistants (Alexa, Google Home) learn user preferences to offer better suggestions.</a:t>
            </a:r>
          </a:p>
          <a:p>
            <a:r>
              <a:rPr lang="en-US" altLang="en-US"/>
              <a:t>Retail Analytics: Smart shelves and cameras track customer behavior to optimize store layouts and product placements.</a:t>
            </a:r>
          </a:p>
          <a:p>
            <a:r>
              <a:rPr lang="en-US" altLang="en-US"/>
              <a:t>Predictive Maintenance: IoT devices in cars or home appliances detect issues before they fail, improving customer support.</a:t>
            </a:r>
          </a:p>
          <a:p>
            <a:r>
              <a:rPr lang="en-US" altLang="en-US"/>
              <a:t>3. Personal Security &amp; Smart Homes</a:t>
            </a:r>
          </a:p>
          <a:p>
            <a:r>
              <a:rPr lang="en-US" altLang="en-US"/>
              <a:t>Intrusion Detection: Smart security cameras and motion sensors alert users to potential threats.</a:t>
            </a:r>
          </a:p>
          <a:p>
            <a:r>
              <a:rPr lang="en-US" altLang="en-US"/>
              <a:t>Automated Emergency Response: Wearable IoT devices can detect falls or heart attacks and automatically call emergency services.</a:t>
            </a:r>
          </a:p>
          <a:p>
            <a:r>
              <a:rPr lang="en-US" altLang="en-US"/>
              <a:t>Location-Based Safety: GPS-enabled wearables help track children, elderly individuals, or pets.</a:t>
            </a:r>
          </a:p>
          <a:p>
            <a:r>
              <a:rPr lang="en-US" altLang="en-US"/>
              <a:t>4. Smart Cities &amp; Infrastructure</a:t>
            </a:r>
          </a:p>
          <a:p>
            <a:r>
              <a:rPr lang="en-US" altLang="en-US"/>
              <a:t>Traffic Management: IoT sensors optimize traffic signals and reduce congestion.</a:t>
            </a:r>
          </a:p>
          <a:p>
            <a:r>
              <a:rPr lang="en-US" altLang="en-US"/>
              <a:t>Energy Efficiency: Smart meters help reduce electricity consumption by analyzing usage patterns.</a:t>
            </a:r>
          </a:p>
          <a:p>
            <a:r>
              <a:rPr lang="en-US" altLang="en-US"/>
              <a:t>Disaster Response: IoT-enabled weather stations provide early warnings for natural disasters.</a:t>
            </a:r>
          </a:p>
          <a:p>
            <a:r>
              <a:rPr lang="en-US" altLang="en-US"/>
              <a:t>5. Financial Services &amp; Fraud Detection</a:t>
            </a:r>
          </a:p>
          <a:p>
            <a:r>
              <a:rPr lang="en-US" altLang="en-US"/>
              <a:t>Secure Transactions: IoT devices like smartwatches facilitate contactless payments securely.</a:t>
            </a:r>
          </a:p>
          <a:p>
            <a:r>
              <a:rPr lang="en-US" altLang="en-US"/>
              <a:t>Fraud Prevention: AI analyzes transaction patterns to detect fraudulent activity.</a:t>
            </a:r>
          </a:p>
          <a:p>
            <a:r>
              <a:rPr lang="en-US" altLang="en-US"/>
              <a:t>Ethical Considerations</a:t>
            </a:r>
          </a:p>
          <a:p>
            <a:r>
              <a:rPr lang="en-US" altLang="en-US"/>
              <a:t>While IoT data is powerful, it also raises concerns about privacy, security, and data ownership. Techniques like homomorphic encryption allow data to be analyzed while keeping it encrypted, ensuring both utility and security.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IoT data sharing creates a connected ecosystem where devices work together for improved efficiency, safety, and decision-making.</a:t>
            </a:r>
          </a:p>
          <a:p>
            <a:r>
              <a:rPr lang="en-US" altLang="en-US">
                <a:sym typeface="+mn-ea"/>
              </a:rPr>
              <a:t>is useful for full utilization</a:t>
            </a:r>
          </a:p>
          <a:p>
            <a:r>
              <a:rPr lang="en-US" altLang="en-US">
                <a:sym typeface="+mn-ea"/>
              </a:rPr>
              <a:t>Improved Decision-Making – IoT devices collect real-time data and share it to optimize performance.</a:t>
            </a:r>
          </a:p>
          <a:p>
            <a:r>
              <a:rPr lang="en-US" altLang="en-US">
                <a:sym typeface="+mn-ea"/>
              </a:rPr>
              <a:t>Automation &amp; Efficiency – Devices work together to reduce manual intervention.</a:t>
            </a:r>
          </a:p>
          <a:p>
            <a:r>
              <a:rPr lang="en-US" altLang="en-US">
                <a:sym typeface="+mn-ea"/>
              </a:rPr>
              <a:t>Resource Optimization – Shared data helps balance workloads and reduce waste.</a:t>
            </a:r>
          </a:p>
          <a:p>
            <a:r>
              <a:rPr lang="en-US" altLang="en-US">
                <a:sym typeface="+mn-ea"/>
              </a:rPr>
              <a:t>Enhanced Security &amp; Safety – IoT networks detect and respond to threats faster.</a:t>
            </a:r>
          </a:p>
          <a:p>
            <a:r>
              <a:rPr lang="en-US" altLang="en-US">
                <a:sym typeface="+mn-ea"/>
              </a:rPr>
              <a:t>Personalization &amp; User Experience – Shared insights improve user interactions</a:t>
            </a:r>
          </a:p>
          <a:p>
            <a:endParaRPr lang="en-US" altLang="en-US">
              <a:sym typeface="+mn-ea"/>
            </a:endParaRPr>
          </a:p>
          <a:p>
            <a:r>
              <a:rPr lang="en-US" altLang="en-US">
                <a:sym typeface="+mn-ea"/>
              </a:rPr>
              <a:t>1. Smart Homes </a:t>
            </a:r>
            <a:r>
              <a:rPr lang="zh-CN" altLang="en-US">
                <a:sym typeface="+mn-ea"/>
              </a:rPr>
              <a:t>🏠</a:t>
            </a:r>
          </a:p>
          <a:p>
            <a:r>
              <a:rPr lang="en-US" altLang="en-US">
                <a:sym typeface="+mn-ea"/>
              </a:rPr>
              <a:t>Example: A smart thermostat shares temperature data with smart blinds to optimize room cooling.</a:t>
            </a:r>
          </a:p>
          <a:p>
            <a:r>
              <a:rPr lang="en-US" altLang="en-US">
                <a:sym typeface="+mn-ea"/>
              </a:rPr>
              <a:t>Benefit: Reduces energy consumption and enhances comfort.</a:t>
            </a:r>
          </a:p>
          <a:p>
            <a:r>
              <a:rPr lang="en-US" altLang="en-US">
                <a:sym typeface="+mn-ea"/>
              </a:rPr>
              <a:t>2. Connected Healthcare </a:t>
            </a:r>
            <a:r>
              <a:rPr lang="zh-CN" altLang="en-US">
                <a:sym typeface="+mn-ea"/>
              </a:rPr>
              <a:t>🏥</a:t>
            </a:r>
          </a:p>
          <a:p>
            <a:r>
              <a:rPr lang="en-US" altLang="en-US">
                <a:sym typeface="+mn-ea"/>
              </a:rPr>
              <a:t>Example: A wearable heart monitor shares patient vitals with a hospital system. If irregularities are detected, an ambulance is dispatched.</a:t>
            </a:r>
          </a:p>
          <a:p>
            <a:r>
              <a:rPr lang="en-US" altLang="en-US">
                <a:sym typeface="+mn-ea"/>
              </a:rPr>
              <a:t>Benefit: Enables real-time health monitoring and faster emergency response.</a:t>
            </a:r>
          </a:p>
          <a:p>
            <a:r>
              <a:rPr lang="en-US" altLang="en-US">
                <a:sym typeface="+mn-ea"/>
              </a:rPr>
              <a:t>3. Smart Traffic Management </a:t>
            </a:r>
            <a:r>
              <a:rPr lang="zh-CN" altLang="en-US">
                <a:sym typeface="+mn-ea"/>
              </a:rPr>
              <a:t>🚦</a:t>
            </a:r>
          </a:p>
          <a:p>
            <a:r>
              <a:rPr lang="en-US" altLang="en-US">
                <a:sym typeface="+mn-ea"/>
              </a:rPr>
              <a:t>Example: Traffic sensors share congestion data with navigation apps like Google Maps to suggest alternative routes.</a:t>
            </a:r>
          </a:p>
          <a:p>
            <a:r>
              <a:rPr lang="en-US" altLang="en-US">
                <a:sym typeface="+mn-ea"/>
              </a:rPr>
              <a:t>Benefit: Reduces traffic jams and improves commuting efficiency.</a:t>
            </a:r>
          </a:p>
          <a:p>
            <a:r>
              <a:rPr lang="en-US" altLang="en-US">
                <a:sym typeface="+mn-ea"/>
              </a:rPr>
              <a:t>4. Industrial IoT (IIoT) &amp; Predictive Maintenance </a:t>
            </a:r>
            <a:r>
              <a:rPr lang="zh-CN" altLang="en-US">
                <a:sym typeface="+mn-ea"/>
              </a:rPr>
              <a:t>🏭</a:t>
            </a:r>
          </a:p>
          <a:p>
            <a:r>
              <a:rPr lang="en-US" altLang="en-US">
                <a:sym typeface="+mn-ea"/>
              </a:rPr>
              <a:t>Example: Factory machines share vibration and temperature data with AI systems to predict failures.</a:t>
            </a:r>
          </a:p>
          <a:p>
            <a:r>
              <a:rPr lang="en-US" altLang="en-US">
                <a:sym typeface="+mn-ea"/>
              </a:rPr>
              <a:t>Benefit: Prevents unexpected breakdowns and reduces downtime.</a:t>
            </a:r>
          </a:p>
          <a:p>
            <a:r>
              <a:rPr lang="en-US" altLang="en-US">
                <a:sym typeface="+mn-ea"/>
              </a:rPr>
              <a:t>5. Smart Agriculture </a:t>
            </a:r>
            <a:r>
              <a:rPr lang="zh-CN" altLang="en-US">
                <a:sym typeface="+mn-ea"/>
              </a:rPr>
              <a:t>🌾</a:t>
            </a:r>
          </a:p>
          <a:p>
            <a:r>
              <a:rPr lang="en-US" altLang="en-US">
                <a:sym typeface="+mn-ea"/>
              </a:rPr>
              <a:t>Example: Soil moisture sensors share data with an automated irrigation system to water crops only when necessary.</a:t>
            </a:r>
          </a:p>
          <a:p>
            <a:r>
              <a:rPr lang="en-US" altLang="en-US">
                <a:sym typeface="+mn-ea"/>
              </a:rPr>
              <a:t>Benefit: Saves water and improves crop yields.</a:t>
            </a:r>
          </a:p>
          <a:p>
            <a:r>
              <a:rPr lang="en-US" altLang="en-US">
                <a:sym typeface="+mn-ea"/>
              </a:rPr>
              <a:t>6. Smart Retail </a:t>
            </a:r>
            <a:r>
              <a:rPr lang="zh-CN" altLang="en-US">
                <a:sym typeface="+mn-ea"/>
              </a:rPr>
              <a:t>🛒</a:t>
            </a:r>
          </a:p>
          <a:p>
            <a:r>
              <a:rPr lang="en-US" altLang="en-US">
                <a:sym typeface="+mn-ea"/>
              </a:rPr>
              <a:t>Example: IoT-enabled shelves detect low stock levels and share the data with warehouse systems to trigger automatic restocking.</a:t>
            </a:r>
          </a:p>
          <a:p>
            <a:r>
              <a:rPr lang="en-US" altLang="en-US">
                <a:sym typeface="+mn-ea"/>
              </a:rPr>
              <a:t>Benefit: Improves inventory management and prevents stockouts.</a:t>
            </a:r>
          </a:p>
          <a:p>
            <a:endParaRPr lang="en-US" altLang="en-US">
              <a:sym typeface="+mn-ea"/>
            </a:endParaRPr>
          </a:p>
          <a:p>
            <a:r>
              <a:rPr lang="en-US" altLang="en-US">
                <a:sym typeface="+mn-ea"/>
              </a:rPr>
              <a:t>While IoT data sharing offers many benefits, it also introduces serious security and privacy risks.</a:t>
            </a:r>
          </a:p>
          <a:p>
            <a:r>
              <a:rPr lang="en-US" altLang="en-US">
                <a:sym typeface="+mn-ea"/>
              </a:rPr>
              <a:t>IoT devices collect personal data (health, location, habits). If shared improperly, it could be misused.</a:t>
            </a:r>
          </a:p>
          <a:p>
            <a:r>
              <a:rPr lang="en-US" altLang="en-US">
                <a:sym typeface="+mn-ea"/>
              </a:rPr>
              <a:t>Smart home assistants (Alexa, Google Home) record conversations. If compromised, private talks could be leaked.</a:t>
            </a:r>
          </a:p>
          <a:p>
            <a:r>
              <a:rPr lang="en-US" altLang="en-US">
                <a:sym typeface="+mn-ea"/>
              </a:rPr>
              <a:t>A hacker breaches a smart security camera system, gaining access to live video feeds.</a:t>
            </a:r>
          </a:p>
          <a:p>
            <a:r>
              <a:rPr lang="en-US" altLang="en-US">
                <a:sym typeface="+mn-ea"/>
              </a:rPr>
              <a:t>A smart fridge with a default password gets hacked, giving attackers access to the home Wi-Fi network.</a:t>
            </a:r>
          </a:p>
          <a:p>
            <a:r>
              <a:rPr lang="en-US" altLang="en-US">
                <a:sym typeface="+mn-ea"/>
              </a:rPr>
              <a:t>A hacker manipulates traffic sensors, causing congestion or rerouting vehicles for criminal activities.</a:t>
            </a:r>
          </a:p>
          <a:p>
            <a:endParaRPr lang="en-US" altLang="en-US">
              <a:sym typeface="+mn-ea"/>
            </a:endParaRPr>
          </a:p>
          <a:p>
            <a:endParaRPr lang="en-US" altLang="en-US">
              <a:sym typeface="+mn-ea"/>
            </a:endParaRPr>
          </a:p>
          <a:p>
            <a:endParaRPr lang="en-US" altLang="en-US">
              <a:sym typeface="+mn-ea"/>
            </a:endParaRPr>
          </a:p>
          <a:p>
            <a:endParaRPr lang="en-US" altLang="en-U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IoT devices collect personal and sensitive data, making them attractive targets for cyber threats. </a:t>
            </a:r>
          </a:p>
          <a:p>
            <a:r>
              <a:rPr lang="en-US" altLang="en-US"/>
              <a:t>While encryption and security protocols exist, protecting IoT data sharing still faces several challenges due to the unique nature of IoT networks.</a:t>
            </a:r>
          </a:p>
          <a:p>
            <a:endParaRPr lang="en-US" altLang="en-US"/>
          </a:p>
          <a:p>
            <a:r>
              <a:rPr lang="en-US" altLang="en-US"/>
              <a:t>Limited Computational Power on IoT Devices </a:t>
            </a:r>
            <a:r>
              <a:rPr lang="zh-CN" altLang="en-US"/>
              <a:t>🔋</a:t>
            </a:r>
          </a:p>
          <a:p>
            <a:r>
              <a:rPr lang="zh-CN" altLang="en-US"/>
              <a:t>📌</a:t>
            </a:r>
            <a:r>
              <a:rPr lang="en-US" altLang="en-US"/>
              <a:t> Challenge: Many IoT devices (e.g., sensors, wearables) have low processing power, making it difficult to implement strong encryption methods.</a:t>
            </a:r>
          </a:p>
          <a:p>
            <a:r>
              <a:rPr lang="zh-CN" altLang="en-US"/>
              <a:t>📌</a:t>
            </a:r>
            <a:r>
              <a:rPr lang="en-US" altLang="en-US"/>
              <a:t> Impact: Traditional encryption (AES, RSA, Fully Homomorphic Encryption) can drain battery life and slow down operations.</a:t>
            </a:r>
          </a:p>
          <a:p>
            <a:r>
              <a:rPr lang="en-US" altLang="en-US">
                <a:sym typeface="+mn-ea"/>
              </a:rPr>
              <a:t>Traditional encryption methods struggle with resource-constrained IoT devices</a:t>
            </a:r>
            <a:endParaRPr lang="en-US" altLang="en-US"/>
          </a:p>
          <a:p>
            <a:endParaRPr lang="en-US" altLang="en-US"/>
          </a:p>
          <a:p>
            <a:endParaRPr lang="en-US" altLang="en-US"/>
          </a:p>
          <a:p>
            <a:r>
              <a:rPr lang="zh-CN" altLang="en-US"/>
              <a:t>🔹</a:t>
            </a:r>
            <a:r>
              <a:rPr lang="en-US" altLang="en-US"/>
              <a:t> Example:</a:t>
            </a:r>
          </a:p>
          <a:p>
            <a:endParaRPr lang="en-US" altLang="en-US"/>
          </a:p>
          <a:p>
            <a:r>
              <a:rPr lang="en-US" altLang="en-US"/>
              <a:t>A smart thermostat may not have enough power to encrypt all data before sending it to the cloud.</a:t>
            </a:r>
          </a:p>
          <a:p>
            <a:endParaRPr lang="en-US" altLang="en-US"/>
          </a:p>
          <a:p>
            <a:r>
              <a:rPr lang="en-US" altLang="en-US"/>
              <a:t>3. Scalability &amp; Dynamic IoT Networks </a:t>
            </a:r>
            <a:r>
              <a:rPr lang="zh-CN" altLang="en-US"/>
              <a:t>🌍</a:t>
            </a:r>
          </a:p>
          <a:p>
            <a:r>
              <a:rPr lang="zh-CN" altLang="en-US"/>
              <a:t>📌</a:t>
            </a:r>
            <a:r>
              <a:rPr lang="en-US" altLang="en-US"/>
              <a:t> Challenge: IoT networks are constantly changing, with new devices joining and leaving.</a:t>
            </a:r>
          </a:p>
          <a:p>
            <a:r>
              <a:rPr lang="zh-CN" altLang="en-US"/>
              <a:t>📌</a:t>
            </a:r>
            <a:r>
              <a:rPr lang="en-US" altLang="en-US"/>
              <a:t> Impact: Secure key management becomes difficult, leading to vulnerabilities in group data sharing.</a:t>
            </a:r>
          </a:p>
          <a:p>
            <a:endParaRPr lang="en-US" altLang="en-US"/>
          </a:p>
          <a:p>
            <a:r>
              <a:rPr lang="zh-CN" altLang="en-US"/>
              <a:t>🔹</a:t>
            </a:r>
            <a:r>
              <a:rPr lang="en-US" altLang="en-US"/>
              <a:t> Example:</a:t>
            </a:r>
          </a:p>
          <a:p>
            <a:endParaRPr lang="en-US" altLang="en-US"/>
          </a:p>
          <a:p>
            <a:r>
              <a:rPr lang="en-US" altLang="en-US"/>
              <a:t>In a smart office, devices like printers and laptops join and leave frequently, making traditional encryption-based group key management inefficient.</a:t>
            </a:r>
          </a:p>
          <a:p>
            <a:r>
              <a:rPr lang="en-US" altLang="en-US"/>
              <a:t>4. Weak Authentication &amp; Default Credentials </a:t>
            </a:r>
            <a:r>
              <a:rPr lang="zh-CN" altLang="en-US"/>
              <a:t>🔑</a:t>
            </a:r>
          </a:p>
          <a:p>
            <a:r>
              <a:rPr lang="zh-CN" altLang="en-US"/>
              <a:t>📌</a:t>
            </a:r>
            <a:r>
              <a:rPr lang="en-US" altLang="en-US"/>
              <a:t> Challenge: Many IoT devices still use default usernames and passwords, making them easy targets.</a:t>
            </a:r>
          </a:p>
          <a:p>
            <a:r>
              <a:rPr lang="zh-CN" altLang="en-US"/>
              <a:t>📌</a:t>
            </a:r>
            <a:r>
              <a:rPr lang="en-US" altLang="en-US"/>
              <a:t> Impact: Hackers can gain control over an entire IoT network by breaking into one weak device.</a:t>
            </a:r>
          </a:p>
          <a:p>
            <a:endParaRPr lang="en-US" altLang="en-US"/>
          </a:p>
          <a:p>
            <a:endParaRPr lang="en-US" altLang="en-US"/>
          </a:p>
          <a:p>
            <a:r>
              <a:rPr lang="en-US" altLang="en-US"/>
              <a:t>7. High Communication &amp; Computation Costs </a:t>
            </a:r>
            <a:r>
              <a:rPr lang="zh-CN" altLang="en-US"/>
              <a:t>💰</a:t>
            </a:r>
          </a:p>
          <a:p>
            <a:r>
              <a:rPr lang="zh-CN" altLang="en-US"/>
              <a:t>📌</a:t>
            </a:r>
            <a:r>
              <a:rPr lang="en-US" altLang="en-US"/>
              <a:t> Challenge: Encrypting and securely sharing IoT data requires extra bandwidth, storage, and processing power.</a:t>
            </a:r>
          </a:p>
          <a:p>
            <a:r>
              <a:rPr lang="zh-CN" altLang="en-US"/>
              <a:t>📌</a:t>
            </a:r>
            <a:r>
              <a:rPr lang="en-US" altLang="en-US"/>
              <a:t> Impact: This increases operational costs and may lead to latency issues in real-time applications.</a:t>
            </a:r>
          </a:p>
          <a:p>
            <a:endParaRPr lang="en-US" altLang="en-US"/>
          </a:p>
          <a:p>
            <a:r>
              <a:rPr lang="zh-CN" altLang="en-US"/>
              <a:t>🔹</a:t>
            </a:r>
            <a:r>
              <a:rPr lang="en-US" altLang="en-US"/>
              <a:t> Example:</a:t>
            </a:r>
          </a:p>
          <a:p>
            <a:endParaRPr lang="en-US" altLang="en-US"/>
          </a:p>
          <a:p>
            <a:r>
              <a:rPr lang="en-US" altLang="en-US"/>
              <a:t>Self-driving cars generate large amounts of sensor data. Encrypting and transmitting this data without delay is extremely challenging.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Use Lightweight Encryption</a:t>
            </a:r>
            <a:r>
              <a:rPr lang="en-US" altLang="en-US"/>
              <a:t> </a:t>
            </a:r>
            <a:r>
              <a:rPr lang="en-US" altLang="en-US">
                <a:sym typeface="+mn-ea"/>
              </a:rPr>
              <a:t>Partially Homomorphic Encryption (PHE) balance security and performance </a:t>
            </a:r>
          </a:p>
          <a:p>
            <a:r>
              <a:rPr lang="en-US" altLang="en-US"/>
              <a:t>apply homomorphic encryption to both messages and selected historical data. </a:t>
            </a:r>
          </a:p>
          <a:p>
            <a:r>
              <a:rPr lang="en-US" altLang="en-US"/>
              <a:t>This joint encryption approach introduces significant complexity and randomness, thereby strengthening data security.</a:t>
            </a:r>
          </a:p>
          <a:p>
            <a:endParaRPr lang="en-US" altLang="en-US"/>
          </a:p>
          <a:p>
            <a:r>
              <a:rPr lang="en-US" altLang="en-US">
                <a:sym typeface="+mn-ea"/>
              </a:rPr>
              <a:t>Automated Key Management – Use re-encryption methods to handle dynamic IoT groups securely.</a:t>
            </a:r>
          </a:p>
          <a:p>
            <a:r>
              <a:rPr lang="en-US" altLang="en-US"/>
              <a:t>Inspired by the observation of frequent membership changes in IoT groups,</a:t>
            </a:r>
          </a:p>
          <a:p>
            <a:r>
              <a:rPr lang="en-US" altLang="en-US"/>
              <a:t>we introduce re-encryption to accommodate dynamic memberships of users. </a:t>
            </a:r>
          </a:p>
          <a:p>
            <a:r>
              <a:rPr lang="en-US" altLang="en-US"/>
              <a:t>Specifically, we classify members into short-term and long-term based on the time that a member expects to stay in a group. </a:t>
            </a:r>
          </a:p>
          <a:p>
            <a:r>
              <a:rPr lang="en-US" altLang="en-US"/>
              <a:t>When a short-term member want to participate in data sharing, we create a re-encryption key </a:t>
            </a:r>
          </a:p>
          <a:p>
            <a:r>
              <a:rPr lang="en-US" altLang="en-US"/>
              <a:t>instead of generating a new group key, </a:t>
            </a:r>
          </a:p>
          <a:p>
            <a:r>
              <a:rPr lang="en-US" altLang="en-US"/>
              <a:t>significantly reduce the communication and computation cost in group data exchange.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dirty="0"/>
              <a:t>Homomorphic encryption schemes allow for performing computations on ciphertexts such that the output</a:t>
            </a:r>
          </a:p>
          <a:p>
            <a:r>
              <a:rPr lang="en-US" altLang="en-US" dirty="0"/>
              <a:t>ciphertext will decrypt to the same plaintext output as if one had operated directly on the underlying plaintexts.</a:t>
            </a:r>
          </a:p>
          <a:p>
            <a:endParaRPr lang="en-US" altLang="en-US" dirty="0"/>
          </a:p>
          <a:p>
            <a:endParaRPr lang="en-US" altLang="en-US" dirty="0"/>
          </a:p>
          <a:p>
            <a:r>
              <a:rPr lang="en-US" altLang="en-US" dirty="0"/>
              <a:t>is useful in scenarios where sensitive data needs to be processed by a third party without exposing the underlying data. </a:t>
            </a:r>
          </a:p>
          <a:p>
            <a:r>
              <a:rPr lang="en-US" altLang="en-US" dirty="0"/>
              <a:t>Banks or financial institutions can perform risk assessments, fraud detection, or credit scoring on encrypted financial data without accessing clients' raw financial information, ensuring compliance with privacy regulations.</a:t>
            </a:r>
          </a:p>
          <a:p>
            <a:r>
              <a:rPr lang="en-US" altLang="en-US" dirty="0"/>
              <a:t>Homomorphic encryption allows voters to encrypt their votes before submitting them. The election authority can compute the final sum on encrypted votes without ever decrypting individual ballots, ensuring privacy and verifiability.</a:t>
            </a:r>
          </a:p>
          <a:p>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Due to computation complexity and massive ciphertext size,</a:t>
            </a:r>
          </a:p>
          <a:p>
            <a:r>
              <a:rPr lang="en-US" altLang="en-US"/>
              <a:t>fully homomorphic encryption (FHE) schemes have been considered impractical for IoT devices. </a:t>
            </a:r>
          </a:p>
          <a:p>
            <a:r>
              <a:rPr lang="en-US" altLang="en-US"/>
              <a:t>Compared with FHE,</a:t>
            </a:r>
          </a:p>
          <a:p>
            <a:r>
              <a:rPr lang="en-US" altLang="en-US"/>
              <a:t>Partially Homomorphic Encryption(PHE) only allows specific operations on ciphertexts, either addition or multiplication,</a:t>
            </a:r>
          </a:p>
          <a:p>
            <a:r>
              <a:rPr lang="en-US" altLang="en-US"/>
              <a:t>but with much less computation overhead.</a:t>
            </a:r>
          </a:p>
          <a:p>
            <a:r>
              <a:rPr lang="en-US" altLang="en-US"/>
              <a:t>Commonly used PHE methods include RSA (multiplicative), ElGamal[21] (multiplicative), and Paillier[22] (additive). </a:t>
            </a:r>
          </a:p>
          <a:p>
            <a:r>
              <a:rPr lang="en-US" altLang="en-US"/>
              <a:t>We use Paillier for data encryption so that given two plaintexts x1 and x2, </a:t>
            </a:r>
          </a:p>
          <a:p>
            <a:r>
              <a:rPr lang="en-US" altLang="en-US"/>
              <a:t>the multiplication of their ciphertexts E(x1) · E(x2) will be decrypted to the addition</a:t>
            </a:r>
          </a:p>
          <a:p>
            <a:r>
              <a:rPr lang="en-US" altLang="en-US"/>
              <a:t>of the plaintexts x1 + x2. </a:t>
            </a:r>
          </a:p>
          <a:p>
            <a:r>
              <a:rPr lang="en-US" altLang="en-US"/>
              <a:t>We perform Paillier on data to be collected jointly with history messages.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Consider the following parties involved in IoT data collection and sharing: </a:t>
            </a:r>
          </a:p>
          <a:p>
            <a:r>
              <a:rPr lang="en-US" altLang="en-US"/>
              <a:t>1) network-connected mobile devices with built-in sensors that can measure data </a:t>
            </a:r>
          </a:p>
          <a:p>
            <a:r>
              <a:rPr lang="en-US" altLang="en-US"/>
              <a:t>2) a third party, </a:t>
            </a:r>
            <a:r>
              <a:rPr lang="en-US" altLang="zh-CN">
                <a:sym typeface="+mn-ea"/>
              </a:rPr>
              <a:t>Cloud servers, Financial bodies or individuals</a:t>
            </a:r>
            <a:r>
              <a:rPr lang="en-US" altLang="en-US"/>
              <a:t> that collects data from mobile devices and processes their data requests; </a:t>
            </a:r>
          </a:p>
          <a:p>
            <a:endParaRPr lang="en-US" altLang="en-US"/>
          </a:p>
          <a:p>
            <a:r>
              <a:rPr lang="en-US" altLang="en-US"/>
              <a:t>To secure the interactions between the mobile devices and the cloud server, </a:t>
            </a:r>
          </a:p>
          <a:p>
            <a:r>
              <a:rPr lang="en-US" altLang="en-US"/>
              <a:t>we propose an encryption approach based on the partially homomorphic encryption (PHE). </a:t>
            </a:r>
          </a:p>
          <a:p>
            <a:r>
              <a:rPr lang="en-US" altLang="en-US"/>
              <a:t>To enhance the strength of security, we will do a joint encryption of message and history data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By combining new data with previously encrypted messages, this method enhances security while enabling data analysis.</a:t>
            </a:r>
          </a:p>
          <a:p>
            <a:endParaRPr lang="en-US" altLang="en-US"/>
          </a:p>
          <a:p>
            <a:r>
              <a:rPr lang="en-US" altLang="en-US"/>
              <a:t>Alice wants to send mi to Bob</a:t>
            </a:r>
          </a:p>
          <a:p>
            <a:r>
              <a:rPr lang="en-US" altLang="en-US"/>
              <a:t>She would first encrypt mi to obtain E (mi), </a:t>
            </a:r>
          </a:p>
          <a:p>
            <a:r>
              <a:rPr lang="en-US" altLang="en-US"/>
              <a:t>then randomly select a history message mj and encrypt it as well.</a:t>
            </a:r>
          </a:p>
          <a:p>
            <a:r>
              <a:rPr lang="en-US" altLang="en-US"/>
              <a:t>When transmitting the data to the receiver, instead of sending</a:t>
            </a:r>
          </a:p>
          <a:p>
            <a:r>
              <a:rPr lang="en-US" altLang="en-US"/>
              <a:t>just E (mi), Alice sends (j, E (mi) * E (mj )), </a:t>
            </a:r>
          </a:p>
          <a:p>
            <a:r>
              <a:rPr lang="en-US" altLang="en-US"/>
              <a:t>where Alice includes the message ID j so that </a:t>
            </a:r>
          </a:p>
          <a:p>
            <a:r>
              <a:rPr lang="en-US" altLang="en-US"/>
              <a:t>Bob knows which history message has been used for joint encryption. </a:t>
            </a:r>
          </a:p>
          <a:p>
            <a:r>
              <a:rPr lang="en-US" altLang="en-US"/>
              <a:t>Later Bob can decrypt the received data and obtain mi +mj , </a:t>
            </a:r>
          </a:p>
          <a:p>
            <a:r>
              <a:rPr lang="en-US" altLang="en-US"/>
              <a:t>the addition of the messages mi and mj .</a:t>
            </a:r>
          </a:p>
          <a:p>
            <a:r>
              <a:rPr lang="en-US" altLang="en-US"/>
              <a:t>Finally, Bob can recover mi by subtracting mj, from the decryption result.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Even if an adversary intercepts the communication, assume somehow </a:t>
            </a:r>
          </a:p>
          <a:p>
            <a:r>
              <a:rPr lang="en-US" altLang="en-US"/>
              <a:t>he is able to decrypt the ciphertext, what he can obtain is mi + mj .</a:t>
            </a:r>
          </a:p>
          <a:p>
            <a:r>
              <a:rPr lang="en-US" altLang="en-US"/>
              <a:t>Unless the adversary has access to all the messages sent between the sender and the receiver, </a:t>
            </a:r>
          </a:p>
          <a:p>
            <a:r>
              <a:rPr lang="en-US" altLang="en-US"/>
              <a:t>and all the communication keys used, it is extremely challenging for him to recover mi</a:t>
            </a:r>
          </a:p>
          <a:p>
            <a:endParaRPr lang="en-US"/>
          </a:p>
          <a:p>
            <a:r>
              <a:rPr lang="en-US" altLang="en-US">
                <a:sym typeface="+mn-ea"/>
              </a:rPr>
              <a:t>Protects against replay attacks. </a:t>
            </a:r>
          </a:p>
          <a:p>
            <a:r>
              <a:rPr lang="en-US" altLang="en-US">
                <a:sym typeface="+mn-ea"/>
              </a:rPr>
              <a:t>the ciphertext transmitted is a joint encryption of mi and mj</a:t>
            </a:r>
          </a:p>
          <a:p>
            <a:r>
              <a:rPr lang="en-US" altLang="en-US">
                <a:sym typeface="+mn-ea"/>
              </a:rPr>
              <a:t>E</a:t>
            </a:r>
            <a:r>
              <a:rPr lang="en-US" altLang="en-US"/>
              <a:t>ven if someone sends the same message mi and </a:t>
            </a:r>
          </a:p>
          <a:p>
            <a:r>
              <a:rPr lang="en-US" altLang="en-US"/>
              <a:t>even if he selects the same encryption key, the ciphertext should be different </a:t>
            </a:r>
          </a:p>
          <a:p>
            <a:r>
              <a:rPr lang="en-US" altLang="en-US"/>
              <a:t>unless he selects the same history message mj for encryption.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Now we consider data sharing between devices in a group, beyond just Alice and Bob, two people</a:t>
            </a:r>
          </a:p>
          <a:p>
            <a:r>
              <a:rPr lang="en-US" altLang="en-US"/>
              <a:t>Imagine that we have a bunch of IoT devices, for example, smart home, they want to share data with each other,</a:t>
            </a:r>
          </a:p>
          <a:p>
            <a:r>
              <a:rPr lang="en-US" altLang="en-US"/>
              <a:t>or </a:t>
            </a:r>
            <a:r>
              <a:rPr lang="en-US" altLang="en-US">
                <a:sym typeface="+mn-ea"/>
              </a:rPr>
              <a:t>smart transportation system, cars nearby want to talk to each other through multicast/broadcast. </a:t>
            </a:r>
          </a:p>
          <a:p>
            <a:r>
              <a:rPr lang="en-US" altLang="en-US">
                <a:sym typeface="+mn-ea"/>
              </a:rPr>
              <a:t>To secure group communications, we can set up a  group key for data encryption/decryption. </a:t>
            </a:r>
          </a:p>
          <a:p>
            <a:endParaRPr lang="en-US" altLang="en-US"/>
          </a:p>
          <a:p>
            <a:r>
              <a:rPr lang="en-US" altLang="en-US"/>
              <a:t>In IoT applications, devices move around physically and switch on and off frequently, </a:t>
            </a:r>
          </a:p>
          <a:p>
            <a:r>
              <a:rPr lang="en-US" altLang="en-US"/>
              <a:t>resulting in constant membership changes in groups. </a:t>
            </a:r>
          </a:p>
          <a:p>
            <a:endParaRPr lang="en-US" altLang="en-US"/>
          </a:p>
          <a:p>
            <a:r>
              <a:rPr lang="en-US" altLang="en-US"/>
              <a:t>Vehicles in smart transportation systems communicate with each other on the road, </a:t>
            </a:r>
          </a:p>
          <a:p>
            <a:r>
              <a:rPr lang="en-US" altLang="en-US"/>
              <a:t>but their membership in a specific communication group constantly changes as they move between locations.</a:t>
            </a:r>
          </a:p>
          <a:p>
            <a:endParaRPr lang="en-US" altLang="en-US"/>
          </a:p>
          <a:p>
            <a:r>
              <a:rPr lang="en-US" altLang="en-US">
                <a:sym typeface="+mn-ea"/>
              </a:rPr>
              <a:t>Traditional group key management like</a:t>
            </a:r>
            <a:r>
              <a:rPr lang="en-US" altLang="en-US"/>
              <a:t> Diffie-Hellman require all members to participate in the generation of a shared key,</a:t>
            </a:r>
          </a:p>
          <a:p>
            <a:r>
              <a:rPr lang="en-US" altLang="en-US"/>
              <a:t>new-member joining or existing-member quitting will lead to a complete re-execution of the key generation algorithm.</a:t>
            </a:r>
          </a:p>
          <a:p>
            <a:endParaRPr lang="en-US" altLang="en-US"/>
          </a:p>
          <a:p>
            <a:r>
              <a:rPr lang="en-US" altLang="en-US"/>
              <a:t>Due to limited battery and memory capability, it is challenging for IoT devices to deal with</a:t>
            </a:r>
          </a:p>
          <a:p>
            <a:r>
              <a:rPr lang="en-US" altLang="en-US"/>
              <a:t>frequent re-executions of the group key generation.</a:t>
            </a:r>
          </a:p>
          <a:p>
            <a:endParaRPr lang="en-US" altLang="en-US"/>
          </a:p>
          <a:p>
            <a:r>
              <a:rPr lang="en-US" altLang="en-US">
                <a:sym typeface="+mn-ea"/>
              </a:rPr>
              <a:t>Managing encryption keys in dynamic IoT environments is difficult. We need efficient solutions for seamless data sharing.</a:t>
            </a:r>
            <a:endParaRPr lang="en-US" altLang="en-US"/>
          </a:p>
          <a:p>
            <a:endParaRPr lang="en-US" altLang="en-US"/>
          </a:p>
          <a:p>
            <a:endParaRPr lang="en-US" altLang="en-US"/>
          </a:p>
          <a:p>
            <a:endParaRPr lang="en-US" altLang="en-US"/>
          </a:p>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sym typeface="+mn-ea"/>
              </a:rPr>
              <a:t>We observe that the duration an IoT device remains in a group varies from a few minutes to several hours or days. </a:t>
            </a:r>
          </a:p>
          <a:p>
            <a:r>
              <a:rPr lang="en-US" altLang="en-US">
                <a:sym typeface="+mn-ea"/>
              </a:rPr>
              <a:t>In many scenarios, devices do not stay in the group for long and often leave after only a few rounds of information exchange. </a:t>
            </a:r>
          </a:p>
          <a:p>
            <a:r>
              <a:rPr lang="en-US" altLang="en-US">
                <a:sym typeface="+mn-ea"/>
              </a:rPr>
              <a:t>Based on this observation, we classify group devices into long-term members and short-term members based on their expected membership duration. </a:t>
            </a:r>
          </a:p>
          <a:p>
            <a:r>
              <a:rPr lang="en-US" altLang="en-US">
                <a:sym typeface="+mn-ea"/>
              </a:rPr>
              <a:t>When a long-term member joins or leaves the group, we re-run the key generation algorithm to establish a new shared key.</a:t>
            </a:r>
          </a:p>
          <a:p>
            <a:endParaRPr lang="en-US" altLang="en-US">
              <a:sym typeface="+mn-ea"/>
            </a:endParaRPr>
          </a:p>
          <a:p>
            <a:r>
              <a:rPr lang="en-US" altLang="en-US">
                <a:sym typeface="+mn-ea"/>
              </a:rPr>
              <a:t>When a short-term member joins the group, we use re-encryption to generate a unique key just for the new member,</a:t>
            </a:r>
          </a:p>
          <a:p>
            <a:r>
              <a:rPr lang="en-US" altLang="en-US">
                <a:sym typeface="+mn-ea"/>
              </a:rPr>
              <a:t>instead of re-runing the group key generation algorithm to create a new group key for all members. </a:t>
            </a:r>
          </a:p>
          <a:p>
            <a:r>
              <a:rPr lang="en-US" altLang="en-US">
                <a:sym typeface="+mn-ea"/>
              </a:rPr>
              <a:t>This process does not affect communications of existing group members.</a:t>
            </a:r>
          </a:p>
          <a:p>
            <a:r>
              <a:rPr lang="en-US" altLang="en-US">
                <a:sym typeface="+mn-ea"/>
              </a:rPr>
              <a:t>By leveraging re-encryption, short-term members can participate in group communication </a:t>
            </a:r>
          </a:p>
          <a:p>
            <a:r>
              <a:rPr lang="en-US" altLang="en-US">
                <a:sym typeface="+mn-ea"/>
              </a:rPr>
              <a:t>without repeatedly executing the group key generation algorithm, </a:t>
            </a:r>
          </a:p>
          <a:p>
            <a:r>
              <a:rPr lang="en-US" altLang="en-US">
                <a:sym typeface="+mn-ea"/>
              </a:rPr>
              <a:t>significantly reducing computational and communication overhead.</a:t>
            </a:r>
          </a:p>
          <a:p>
            <a:endParaRPr lang="en-US" altLang="en-US">
              <a:sym typeface="+mn-ea"/>
            </a:endParaRPr>
          </a:p>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Fig presents an example of the ECDH key generation for a group of three members: Alice, Bob, and Carol.</a:t>
            </a:r>
          </a:p>
          <a:p>
            <a:r>
              <a:rPr lang="en-US" altLang="en-US"/>
              <a:t>We observe that to agree on a final shared key S, all members are involved in the key generation. </a:t>
            </a:r>
          </a:p>
          <a:p>
            <a:r>
              <a:rPr lang="en-US" altLang="en-US"/>
              <a:t>They need to talk to each other, exchange some parameters, finally decide a group key. </a:t>
            </a:r>
          </a:p>
          <a:p>
            <a:r>
              <a:rPr lang="en-US" altLang="en-US"/>
              <a:t>In addition, the shared key S should be updated every time a member</a:t>
            </a:r>
          </a:p>
          <a:p>
            <a:r>
              <a:rPr lang="en-US" altLang="en-US"/>
              <a:t>joins/leaves the group, resulting in a complete re-execution of</a:t>
            </a:r>
          </a:p>
          <a:p>
            <a:r>
              <a:rPr lang="en-US" altLang="en-US"/>
              <a:t>the key generation algorithm.</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Here comes a new short-term member. </a:t>
            </a:r>
          </a:p>
          <a:p>
            <a:r>
              <a:rPr lang="en-US" altLang="en-US"/>
              <a:t>The re-encryption key is built upon the group’s private key and the short-member’s public key.</a:t>
            </a:r>
          </a:p>
          <a:p>
            <a:endParaRPr lang="en-US" altLang="en-US"/>
          </a:p>
          <a:p>
            <a:r>
              <a:rPr lang="en-US" altLang="en-US"/>
              <a:t>When a short-term member has data to be shared with the group, </a:t>
            </a:r>
          </a:p>
          <a:p>
            <a:r>
              <a:rPr lang="en-US" altLang="en-US"/>
              <a:t>he encrypts the data with the group’s public key, and sends the encrypted message to other members.</a:t>
            </a:r>
          </a:p>
          <a:p>
            <a:endParaRPr lang="en-US" altLang="en-US"/>
          </a:p>
          <a:p>
            <a:r>
              <a:rPr lang="en-US" altLang="en-US"/>
              <a:t>On the other hand, when someone in the group wants to send a message to the short-term member, </a:t>
            </a:r>
          </a:p>
          <a:p>
            <a:r>
              <a:rPr lang="en-US" altLang="en-US"/>
              <a:t>they would first forward the message to the proxy, </a:t>
            </a:r>
          </a:p>
          <a:p>
            <a:r>
              <a:rPr lang="en-US" altLang="en-US"/>
              <a:t>proxy could be the server or a randomly selected long-term member who acts as the point of connection to the short-term member,</a:t>
            </a:r>
          </a:p>
          <a:p>
            <a:r>
              <a:rPr lang="en-US" altLang="en-US"/>
              <a:t>the proxy performs re-encryption.</a:t>
            </a:r>
            <a:endParaRPr lang="en-US" altLang="en-US">
              <a:sym typeface="+mn-ea"/>
            </a:endParaRPr>
          </a:p>
          <a:p>
            <a:r>
              <a:rPr lang="en-US" altLang="en-US">
                <a:sym typeface="+mn-ea"/>
              </a:rPr>
              <a:t>The proxy simply encrypts the message a 2nd-time, and they would not learn the contents of the message.</a:t>
            </a:r>
          </a:p>
          <a:p>
            <a:r>
              <a:rPr lang="en-US" altLang="en-US"/>
              <a:t>The proxy can forward the message to the short-term member.</a:t>
            </a:r>
          </a:p>
          <a:p>
            <a:r>
              <a:rPr lang="en-US" altLang="en-US"/>
              <a:t>The short-term member can decrypt using their public key. </a:t>
            </a:r>
          </a:p>
          <a:p>
            <a:endParaRPr lang="en-US" altLang="en-US"/>
          </a:p>
          <a:p>
            <a:r>
              <a:rPr lang="en-US" altLang="en-US"/>
              <a:t>This is a very smart way to reduce workload at the same time keep information confidential. </a:t>
            </a:r>
          </a:p>
          <a:p>
            <a:r>
              <a:rPr lang="en-US" altLang="en-US"/>
              <a:t>This method prevents frequent key regeneration, reducing communication and processing overhead.</a:t>
            </a:r>
          </a:p>
          <a:p>
            <a:r>
              <a:rPr lang="en-US" altLang="en-US"/>
              <a:t>Once a short-term member leaves the group, </a:t>
            </a:r>
          </a:p>
          <a:p>
            <a:r>
              <a:rPr lang="en-US" altLang="en-US"/>
              <a:t>all we need to do is to disable his re-encryption key in the proxy, </a:t>
            </a:r>
          </a:p>
          <a:p>
            <a:r>
              <a:rPr lang="en-US" altLang="en-US"/>
              <a:t>which significantly alleviate the workload of individual devices.</a:t>
            </a:r>
          </a:p>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The encryption algorithms used in the proposed data sharing scheme including PHE and re-encryption </a:t>
            </a:r>
          </a:p>
          <a:p>
            <a:r>
              <a:rPr lang="en-US" altLang="en-US"/>
              <a:t>are standard and lightweight.</a:t>
            </a:r>
          </a:p>
          <a:p>
            <a:r>
              <a:rPr lang="en-US" altLang="en-US"/>
              <a:t>When it is between 2 devices, we rely on PHE.</a:t>
            </a:r>
          </a:p>
          <a:p>
            <a:r>
              <a:rPr lang="en-US" altLang="en-US"/>
              <a:t>This provides strong cryptographic guarantees </a:t>
            </a:r>
          </a:p>
          <a:p>
            <a:r>
              <a:rPr lang="en-US" altLang="en-US"/>
              <a:t>by exploiting homomorphic operations over data and history records with efficient computations.</a:t>
            </a:r>
          </a:p>
          <a:p>
            <a:r>
              <a:rPr lang="en-US" altLang="en-US"/>
              <a:t>The joint encryption based on PHE and history messages can</a:t>
            </a:r>
          </a:p>
          <a:p>
            <a:r>
              <a:rPr lang="en-US" altLang="en-US"/>
              <a:t>significantly enhance the strength of data security by adding complexity and randomness.</a:t>
            </a:r>
          </a:p>
          <a:p>
            <a:endParaRPr lang="en-US" altLang="en-US"/>
          </a:p>
          <a:p>
            <a:r>
              <a:rPr lang="en-US" altLang="en-US"/>
              <a:t>As for group sharing, we introduce this concept of short-term member and long-term members, </a:t>
            </a:r>
          </a:p>
          <a:p>
            <a:r>
              <a:rPr lang="en-US" altLang="en-US"/>
              <a:t>by the dynamic nature of IoT groups. </a:t>
            </a:r>
          </a:p>
          <a:p>
            <a:r>
              <a:rPr lang="en-US" altLang="en-US"/>
              <a:t>For short-term member, we design a re-encryption scheme </a:t>
            </a:r>
          </a:p>
          <a:p>
            <a:r>
              <a:rPr lang="en-US" altLang="en-US"/>
              <a:t>instead of getting all members involved and generating a new shared key for every membership change, </a:t>
            </a:r>
          </a:p>
          <a:p>
            <a:r>
              <a:rPr lang="en-US" altLang="en-US"/>
              <a:t>the group can share data with short-term member with a simple re-encryption key. </a:t>
            </a:r>
          </a:p>
          <a:p>
            <a:r>
              <a:rPr lang="en-US" altLang="en-US"/>
              <a:t>This group sharing scheme can significantly reduce the communication</a:t>
            </a:r>
          </a:p>
          <a:p>
            <a:r>
              <a:rPr lang="en-US" altLang="en-US"/>
              <a:t>and computation cost.</a:t>
            </a:r>
          </a:p>
          <a:p>
            <a:endParaRPr lang="en-US" altLang="en-US"/>
          </a:p>
          <a:p>
            <a:r>
              <a:rPr lang="en-US" altLang="en-US"/>
              <a:t>The approach ensures confidentiality and minimizes risks, even if certain devices or servers are compromised.</a:t>
            </a:r>
          </a:p>
          <a:p>
            <a:r>
              <a:rPr lang="en-US" altLang="en-US"/>
              <a:t>Performance testing shows that this approach significantly outperforms traditional group key management techniques.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While this method improves security and efficiency, further optimizations are needed to address power and memory constraints.</a:t>
            </a:r>
          </a:p>
          <a:p>
            <a:r>
              <a:rPr lang="en-US" altLang="en-US"/>
              <a:t>The PHE based encryption may increase the memory usage and interactions between IoT devices and the cloud, </a:t>
            </a:r>
          </a:p>
          <a:p>
            <a:r>
              <a:rPr lang="en-US" altLang="en-US"/>
              <a:t>because history messages need to be retrieved and compared for encryption. </a:t>
            </a:r>
          </a:p>
          <a:p>
            <a:r>
              <a:rPr lang="en-US" altLang="en-US"/>
              <a:t>In addition, to allow re-encryption, we need to select a proxy, </a:t>
            </a:r>
          </a:p>
          <a:p>
            <a:r>
              <a:rPr lang="en-US" altLang="en-US"/>
              <a:t>and the proxy needs to establish and maintain key generation parameters with short-term members, </a:t>
            </a:r>
          </a:p>
          <a:p>
            <a:r>
              <a:rPr lang="en-US" altLang="en-US"/>
              <a:t>while operating communications with other group members, </a:t>
            </a:r>
          </a:p>
          <a:p>
            <a:r>
              <a:rPr lang="en-US" altLang="en-US"/>
              <a:t>demanding stronger security implementaion and higher power needs. </a:t>
            </a:r>
          </a:p>
          <a:p>
            <a:r>
              <a:rPr lang="en-US" altLang="en-US"/>
              <a:t>We will target these concerns in our future work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en-US"/>
              <a:t>Open the floor for questions and discussions.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en-US" dirty="0"/>
              <a:t>Partially Homomorphic Encryption for the Internet of Things</a:t>
            </a:r>
          </a:p>
        </p:txBody>
      </p:sp>
      <p:sp>
        <p:nvSpPr>
          <p:cNvPr id="3" name="Subtitle 2"/>
          <p:cNvSpPr>
            <a:spLocks noGrp="1"/>
          </p:cNvSpPr>
          <p:nvPr>
            <p:ph type="subTitle" idx="1"/>
          </p:nvPr>
        </p:nvSpPr>
        <p:spPr/>
        <p:txBody>
          <a:bodyPr/>
          <a:lstStyle/>
          <a:p>
            <a:r>
              <a:rPr lang="en-US" b="1"/>
              <a:t>Bowu Zhang</a:t>
            </a:r>
          </a:p>
          <a:p>
            <a:r>
              <a:rPr lang="en-US" b="1"/>
              <a:t>Associate Professor of Computer Science</a:t>
            </a:r>
          </a:p>
          <a:p>
            <a:r>
              <a:rPr lang="en-US" b="1"/>
              <a:t>Marist University</a:t>
            </a:r>
          </a:p>
        </p:txBody>
      </p:sp>
      <p:pic>
        <p:nvPicPr>
          <p:cNvPr id="4" name="Picture 3"/>
          <p:cNvPicPr/>
          <p:nvPr/>
        </p:nvPicPr>
        <p:blipFill>
          <a:blip r:embed="rId2"/>
          <a:stretch>
            <a:fillRect/>
          </a:stretch>
        </p:blipFill>
        <p:spPr>
          <a:xfrm>
            <a:off x="3171190" y="5073650"/>
            <a:ext cx="5715000" cy="1473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Motivation</a:t>
            </a:r>
          </a:p>
        </p:txBody>
      </p:sp>
      <p:sp>
        <p:nvSpPr>
          <p:cNvPr id="3" name="Content Placeholder 2"/>
          <p:cNvSpPr>
            <a:spLocks noGrp="1"/>
          </p:cNvSpPr>
          <p:nvPr>
            <p:ph idx="1"/>
          </p:nvPr>
        </p:nvSpPr>
        <p:spPr/>
        <p:txBody>
          <a:bodyPr>
            <a:normAutofit/>
          </a:bodyPr>
          <a:lstStyle/>
          <a:p>
            <a:r>
              <a:rPr lang="en-US" altLang="en-US"/>
              <a:t>IoT devices generate vast amounts of sensitive data</a:t>
            </a:r>
          </a:p>
          <a:p>
            <a:pPr lvl="1"/>
            <a:r>
              <a:rPr lang="en-US" altLang="en-US"/>
              <a:t>Location and Movement data</a:t>
            </a:r>
          </a:p>
          <a:p>
            <a:pPr lvl="1"/>
            <a:r>
              <a:rPr lang="en-US" altLang="en-US"/>
              <a:t>Health data</a:t>
            </a:r>
          </a:p>
          <a:p>
            <a:pPr lvl="1"/>
            <a:r>
              <a:rPr lang="en-US" altLang="en-US"/>
              <a:t>Smart Home data</a:t>
            </a:r>
          </a:p>
          <a:p>
            <a:pPr lvl="1"/>
            <a:r>
              <a:rPr lang="en-US" altLang="en-US"/>
              <a:t>Communication data</a:t>
            </a:r>
          </a:p>
          <a:p>
            <a:pPr lvl="1"/>
            <a:r>
              <a:rPr lang="en-US" altLang="en-US"/>
              <a:t>Financial &amp; Transactional Data</a:t>
            </a:r>
          </a:p>
          <a:p>
            <a:pPr marL="457200" lvl="1" indent="0">
              <a:buNone/>
            </a:pPr>
            <a:endParaRPr lang="en-US" altLang="en-US"/>
          </a:p>
          <a:p>
            <a:r>
              <a:rPr lang="en-US" altLang="en-US">
                <a:sym typeface="+mn-ea"/>
              </a:rPr>
              <a:t>Can these data be utilized?</a:t>
            </a: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Data Gathering and Sharing in IoT</a:t>
            </a:r>
          </a:p>
        </p:txBody>
      </p:sp>
      <p:sp>
        <p:nvSpPr>
          <p:cNvPr id="3" name="Content Placeholder 2"/>
          <p:cNvSpPr>
            <a:spLocks noGrp="1"/>
          </p:cNvSpPr>
          <p:nvPr>
            <p:ph idx="1"/>
          </p:nvPr>
        </p:nvSpPr>
        <p:spPr/>
        <p:txBody>
          <a:bodyPr>
            <a:normAutofit fontScale="90000" lnSpcReduction="10000"/>
          </a:bodyPr>
          <a:lstStyle/>
          <a:p>
            <a:pPr>
              <a:lnSpc>
                <a:spcPct val="90000"/>
              </a:lnSpc>
            </a:pPr>
            <a:r>
              <a:rPr lang="en-US" altLang="en-US" sz="3110">
                <a:sym typeface="+mn-ea"/>
              </a:rPr>
              <a:t>Collaboration, Better efficiency, Automation, Smarter decision-making.  </a:t>
            </a:r>
          </a:p>
          <a:p>
            <a:pPr lvl="1">
              <a:lnSpc>
                <a:spcPct val="90000"/>
              </a:lnSpc>
            </a:pPr>
            <a:r>
              <a:rPr lang="en-US" altLang="zh-CN" sz="2780">
                <a:sym typeface="+mn-ea"/>
              </a:rPr>
              <a:t>Pooling traffic data</a:t>
            </a:r>
            <a:r>
              <a:rPr lang="en-US" altLang="en-US" sz="2780"/>
              <a:t> through traffic sensors can reduce traffic jams </a:t>
            </a:r>
          </a:p>
          <a:p>
            <a:pPr lvl="1">
              <a:lnSpc>
                <a:spcPct val="90000"/>
              </a:lnSpc>
            </a:pPr>
            <a:r>
              <a:rPr lang="en-US" altLang="en-US" sz="2780">
                <a:sym typeface="+mn-ea"/>
              </a:rPr>
              <a:t>IoT-enabled shelves detect low stock levels and share with warehouse systems to trigger automatic restocking</a:t>
            </a:r>
          </a:p>
          <a:p>
            <a:pPr lvl="1">
              <a:lnSpc>
                <a:spcPct val="90000"/>
              </a:lnSpc>
            </a:pPr>
            <a:endParaRPr lang="en-US" altLang="zh-CN" sz="2780">
              <a:sym typeface="+mn-ea"/>
            </a:endParaRPr>
          </a:p>
          <a:p>
            <a:pPr lvl="0">
              <a:lnSpc>
                <a:spcPct val="90000"/>
              </a:lnSpc>
            </a:pPr>
            <a:r>
              <a:rPr lang="en-US" altLang="en-US" sz="3110">
                <a:sym typeface="+mn-ea"/>
              </a:rPr>
              <a:t>Security and Privacy risks: Possible to learn a lot of information from the data</a:t>
            </a:r>
            <a:endParaRPr lang="en-US" altLang="en-US" sz="3110"/>
          </a:p>
          <a:p>
            <a:pPr lvl="1" algn="l">
              <a:buClrTx/>
              <a:buSzTx/>
            </a:pPr>
            <a:r>
              <a:rPr lang="en-US" altLang="zh-CN" sz="2800">
                <a:sym typeface="+mn-ea"/>
              </a:rPr>
              <a:t>Personal conversation</a:t>
            </a:r>
            <a:endParaRPr lang="en-US" altLang="zh-CN" sz="2800"/>
          </a:p>
          <a:p>
            <a:pPr lvl="1" algn="l">
              <a:buClrTx/>
              <a:buSzTx/>
            </a:pPr>
            <a:r>
              <a:rPr lang="en-US" altLang="zh-CN" sz="2800">
                <a:sym typeface="+mn-ea"/>
              </a:rPr>
              <a:t>Medical data</a:t>
            </a:r>
          </a:p>
          <a:p>
            <a:pPr lvl="1" algn="l">
              <a:buClrTx/>
              <a:buSzTx/>
            </a:pPr>
            <a:r>
              <a:rPr lang="en-US" altLang="zh-CN" sz="2800">
                <a:sym typeface="+mn-ea"/>
              </a:rPr>
              <a:t>...</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Challenges Remain to Protect IoT Data Sharing</a:t>
            </a:r>
          </a:p>
        </p:txBody>
      </p:sp>
      <p:sp>
        <p:nvSpPr>
          <p:cNvPr id="3" name="Content Placeholder 2"/>
          <p:cNvSpPr>
            <a:spLocks noGrp="1"/>
          </p:cNvSpPr>
          <p:nvPr>
            <p:ph idx="1"/>
          </p:nvPr>
        </p:nvSpPr>
        <p:spPr/>
        <p:txBody>
          <a:bodyPr>
            <a:normAutofit/>
          </a:bodyPr>
          <a:lstStyle/>
          <a:p>
            <a:r>
              <a:rPr lang="en-US" altLang="en-US" dirty="0"/>
              <a:t>Limited Computational Power on IoT Devices</a:t>
            </a:r>
          </a:p>
          <a:p>
            <a:endParaRPr lang="en-US" altLang="en-US" dirty="0"/>
          </a:p>
          <a:p>
            <a:r>
              <a:rPr lang="en-US" altLang="en-US" dirty="0"/>
              <a:t>Scalability &amp; Dynamic IoT Networks</a:t>
            </a:r>
          </a:p>
          <a:p>
            <a:pPr lvl="1"/>
            <a:r>
              <a:rPr lang="en-US" altLang="en-US" sz="2500" dirty="0">
                <a:sym typeface="+mn-ea"/>
              </a:rPr>
              <a:t>IoT networks constantly changing: new devices joining and leaving</a:t>
            </a:r>
            <a:endParaRPr lang="en-US" altLang="en-US" sz="2500" dirty="0"/>
          </a:p>
          <a:p>
            <a:pPr lvl="1"/>
            <a:r>
              <a:rPr lang="en-US" altLang="en-US" sz="2500" dirty="0">
                <a:sym typeface="+mn-ea"/>
              </a:rPr>
              <a:t>Secure group key management becomes difficult</a:t>
            </a:r>
            <a:endParaRPr lang="en-US" altLang="en-US" dirty="0"/>
          </a:p>
          <a:p>
            <a:endParaRPr lang="en-US" altLang="en-US" dirty="0"/>
          </a:p>
          <a:p>
            <a:r>
              <a:rPr lang="en-US" altLang="en-US" dirty="0"/>
              <a:t>High Communication &amp; Computation Costs</a:t>
            </a:r>
          </a:p>
          <a:p>
            <a:r>
              <a:rPr lang="en-US" altLang="en-US" dirty="0"/>
              <a:t>Latency</a:t>
            </a:r>
          </a:p>
          <a:p>
            <a:endParaRPr lang="en-US" altLang="en-US" dirty="0"/>
          </a:p>
          <a:p>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Our Solution</a:t>
            </a:r>
          </a:p>
        </p:txBody>
      </p:sp>
      <p:sp>
        <p:nvSpPr>
          <p:cNvPr id="3" name="Content Placeholder 2"/>
          <p:cNvSpPr>
            <a:spLocks noGrp="1"/>
          </p:cNvSpPr>
          <p:nvPr>
            <p:ph idx="1"/>
          </p:nvPr>
        </p:nvSpPr>
        <p:spPr/>
        <p:txBody>
          <a:bodyPr/>
          <a:lstStyle/>
          <a:p>
            <a:r>
              <a:rPr lang="en-US" altLang="en-US"/>
              <a:t>Use Lightweight Encryption – Partially Homomorphic Encryption (PHE) </a:t>
            </a:r>
          </a:p>
          <a:p>
            <a:pPr lvl="1"/>
            <a:r>
              <a:rPr lang="en-US" altLang="en-US"/>
              <a:t>Extra encryption strength</a:t>
            </a:r>
          </a:p>
          <a:p>
            <a:pPr lvl="1"/>
            <a:r>
              <a:rPr lang="en-US" altLang="en-US"/>
              <a:t>Faster operation</a:t>
            </a:r>
          </a:p>
          <a:p>
            <a:endParaRPr lang="en-US" altLang="en-US"/>
          </a:p>
          <a:p>
            <a:r>
              <a:rPr lang="en-US" altLang="en-US"/>
              <a:t>Automated Key Management – Re-encryption</a:t>
            </a:r>
          </a:p>
          <a:p>
            <a:pPr lvl="1"/>
            <a:r>
              <a:rPr lang="en-US" altLang="en-US"/>
              <a:t>Dynamic IoT groups</a:t>
            </a:r>
          </a:p>
          <a:p>
            <a:pPr lvl="1"/>
            <a:r>
              <a:rPr lang="en-US" altLang="en-US"/>
              <a:t>Secure group communication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t>What is Homomorphic Encryption?</a:t>
            </a:r>
          </a:p>
        </p:txBody>
      </p:sp>
      <p:sp>
        <p:nvSpPr>
          <p:cNvPr id="3" name="Content Placeholder 2"/>
          <p:cNvSpPr>
            <a:spLocks noGrp="1"/>
          </p:cNvSpPr>
          <p:nvPr>
            <p:ph idx="1"/>
          </p:nvPr>
        </p:nvSpPr>
        <p:spPr/>
        <p:txBody>
          <a:bodyPr>
            <a:normAutofit lnSpcReduction="10000"/>
          </a:bodyPr>
          <a:lstStyle/>
          <a:p>
            <a:pPr marL="0" indent="0">
              <a:buNone/>
            </a:pPr>
            <a:endParaRPr lang="en-US" altLang="en-US" dirty="0"/>
          </a:p>
          <a:p>
            <a:pPr marL="0" indent="0">
              <a:buNone/>
            </a:pPr>
            <a:endParaRPr lang="en-US" altLang="zh-CN" dirty="0">
              <a:sym typeface="+mn-ea"/>
            </a:endParaRPr>
          </a:p>
          <a:p>
            <a:pPr marL="0" indent="0">
              <a:buNone/>
            </a:pPr>
            <a:r>
              <a:rPr lang="en-US" altLang="zh-CN" dirty="0">
                <a:sym typeface="+mn-ea"/>
              </a:rPr>
              <a:t>where </a:t>
            </a:r>
            <a:r>
              <a:rPr lang="en-US" altLang="en-US" dirty="0">
                <a:sym typeface="Symbol" panose="05050102010706020507" pitchFamily="18" charset="2"/>
              </a:rPr>
              <a:t>, </a:t>
            </a:r>
            <a:r>
              <a:rPr lang="en-US" altLang="zh-CN" dirty="0">
                <a:sym typeface="+mn-ea"/>
              </a:rPr>
              <a:t> is either addition or multiplication</a:t>
            </a:r>
            <a:endParaRPr lang="en-US" altLang="en-US" dirty="0">
              <a:sym typeface="+mn-ea"/>
            </a:endParaRPr>
          </a:p>
          <a:p>
            <a:pPr marL="0" indent="0">
              <a:buNone/>
            </a:pPr>
            <a:r>
              <a:rPr lang="en-US" altLang="en-US" dirty="0">
                <a:sym typeface="+mn-ea"/>
              </a:rPr>
              <a:t>E</a:t>
            </a:r>
            <a:r>
              <a:rPr lang="en-US" altLang="en-US" baseline="-25000" dirty="0">
                <a:sym typeface="+mn-ea"/>
              </a:rPr>
              <a:t>k</a:t>
            </a:r>
            <a:r>
              <a:rPr lang="en-US" altLang="en-US" dirty="0">
                <a:sym typeface="+mn-ea"/>
              </a:rPr>
              <a:t>[m</a:t>
            </a:r>
            <a:r>
              <a:rPr lang="en-US" altLang="en-US" baseline="-25000" dirty="0">
                <a:sym typeface="+mn-ea"/>
              </a:rPr>
              <a:t>1</a:t>
            </a:r>
            <a:r>
              <a:rPr lang="en-US" altLang="en-US" dirty="0">
                <a:sym typeface="+mn-ea"/>
              </a:rPr>
              <a:t>]</a:t>
            </a:r>
            <a:r>
              <a:rPr lang="en-US" dirty="0"/>
              <a:t>: a ciphertext of m1</a:t>
            </a:r>
          </a:p>
          <a:p>
            <a:pPr marL="0" indent="0">
              <a:buNone/>
            </a:pPr>
            <a:r>
              <a:rPr lang="en-US" altLang="en-US" dirty="0">
                <a:sym typeface="+mn-ea"/>
              </a:rPr>
              <a:t>E</a:t>
            </a:r>
            <a:r>
              <a:rPr lang="en-US" altLang="en-US" baseline="-25000" dirty="0">
                <a:sym typeface="+mn-ea"/>
              </a:rPr>
              <a:t>k</a:t>
            </a:r>
            <a:r>
              <a:rPr lang="en-US" altLang="en-US" dirty="0">
                <a:sym typeface="+mn-ea"/>
              </a:rPr>
              <a:t>[m</a:t>
            </a:r>
            <a:r>
              <a:rPr lang="en-US" altLang="en-US" baseline="-25000" dirty="0">
                <a:sym typeface="+mn-ea"/>
              </a:rPr>
              <a:t>2</a:t>
            </a:r>
            <a:r>
              <a:rPr lang="en-US" altLang="en-US" dirty="0">
                <a:sym typeface="+mn-ea"/>
              </a:rPr>
              <a:t>]:</a:t>
            </a:r>
            <a:r>
              <a:rPr lang="en-US" dirty="0"/>
              <a:t> a ciphertext of m2</a:t>
            </a:r>
          </a:p>
          <a:p>
            <a:endParaRPr lang="en-US" dirty="0"/>
          </a:p>
          <a:p>
            <a:r>
              <a:rPr lang="en-US" altLang="en-US" dirty="0">
                <a:sym typeface="+mn-ea"/>
              </a:rPr>
              <a:t>Addition: Example: E</a:t>
            </a:r>
            <a:r>
              <a:rPr lang="en-US" altLang="en-US" baseline="-25000" dirty="0">
                <a:sym typeface="+mn-ea"/>
              </a:rPr>
              <a:t>k</a:t>
            </a:r>
            <a:r>
              <a:rPr lang="en-US" altLang="en-US" dirty="0">
                <a:sym typeface="+mn-ea"/>
              </a:rPr>
              <a:t>[m</a:t>
            </a:r>
            <a:r>
              <a:rPr lang="en-US" altLang="en-US" baseline="-25000" dirty="0">
                <a:sym typeface="+mn-ea"/>
              </a:rPr>
              <a:t>1</a:t>
            </a:r>
            <a:r>
              <a:rPr lang="en-US" altLang="en-US" dirty="0">
                <a:sym typeface="+mn-ea"/>
              </a:rPr>
              <a:t>]</a:t>
            </a:r>
            <a:r>
              <a:rPr lang="en-US" dirty="0"/>
              <a:t> + </a:t>
            </a:r>
            <a:r>
              <a:rPr lang="en-US" altLang="en-US" dirty="0">
                <a:sym typeface="+mn-ea"/>
              </a:rPr>
              <a:t>E</a:t>
            </a:r>
            <a:r>
              <a:rPr lang="en-US" altLang="en-US" baseline="-25000" dirty="0">
                <a:sym typeface="+mn-ea"/>
              </a:rPr>
              <a:t>k</a:t>
            </a:r>
            <a:r>
              <a:rPr lang="en-US" altLang="en-US" dirty="0">
                <a:sym typeface="+mn-ea"/>
              </a:rPr>
              <a:t>[m</a:t>
            </a:r>
            <a:r>
              <a:rPr lang="en-US" altLang="en-US" baseline="-25000" dirty="0">
                <a:sym typeface="+mn-ea"/>
              </a:rPr>
              <a:t>2</a:t>
            </a:r>
            <a:r>
              <a:rPr lang="en-US" altLang="en-US" dirty="0">
                <a:sym typeface="+mn-ea"/>
              </a:rPr>
              <a:t>]</a:t>
            </a:r>
            <a:r>
              <a:rPr lang="en-US" dirty="0"/>
              <a:t> = </a:t>
            </a:r>
            <a:r>
              <a:rPr lang="en-US" altLang="en-US" dirty="0">
                <a:sym typeface="+mn-ea"/>
              </a:rPr>
              <a:t>E</a:t>
            </a:r>
            <a:r>
              <a:rPr lang="en-US" altLang="en-US" baseline="-25000" dirty="0">
                <a:sym typeface="+mn-ea"/>
              </a:rPr>
              <a:t>k</a:t>
            </a:r>
            <a:r>
              <a:rPr lang="en-US" altLang="en-US" dirty="0">
                <a:sym typeface="+mn-ea"/>
              </a:rPr>
              <a:t>[</a:t>
            </a:r>
            <a:r>
              <a:rPr lang="en-US" dirty="0"/>
              <a:t>m1 + m2]</a:t>
            </a:r>
          </a:p>
          <a:p>
            <a:r>
              <a:rPr lang="en-US" dirty="0"/>
              <a:t>Multiplication: </a:t>
            </a:r>
            <a:r>
              <a:rPr lang="en-US" altLang="en-US" dirty="0">
                <a:sym typeface="+mn-ea"/>
              </a:rPr>
              <a:t>Example: E</a:t>
            </a:r>
            <a:r>
              <a:rPr lang="en-US" altLang="en-US" baseline="-25000" dirty="0">
                <a:sym typeface="+mn-ea"/>
              </a:rPr>
              <a:t>k</a:t>
            </a:r>
            <a:r>
              <a:rPr lang="en-US" altLang="en-US" dirty="0">
                <a:sym typeface="+mn-ea"/>
              </a:rPr>
              <a:t>[m</a:t>
            </a:r>
            <a:r>
              <a:rPr lang="en-US" altLang="en-US" baseline="-25000" dirty="0">
                <a:sym typeface="+mn-ea"/>
              </a:rPr>
              <a:t>1</a:t>
            </a:r>
            <a:r>
              <a:rPr lang="en-US" altLang="en-US" dirty="0">
                <a:sym typeface="+mn-ea"/>
              </a:rPr>
              <a:t>]</a:t>
            </a:r>
            <a:r>
              <a:rPr lang="en-US" dirty="0"/>
              <a:t> * </a:t>
            </a:r>
            <a:r>
              <a:rPr lang="en-US" altLang="en-US" dirty="0">
                <a:sym typeface="+mn-ea"/>
              </a:rPr>
              <a:t>E</a:t>
            </a:r>
            <a:r>
              <a:rPr lang="en-US" altLang="en-US" baseline="-25000" dirty="0">
                <a:sym typeface="+mn-ea"/>
              </a:rPr>
              <a:t>k</a:t>
            </a:r>
            <a:r>
              <a:rPr lang="en-US" altLang="en-US" dirty="0">
                <a:sym typeface="+mn-ea"/>
              </a:rPr>
              <a:t>[m</a:t>
            </a:r>
            <a:r>
              <a:rPr lang="en-US" altLang="en-US" baseline="-25000" dirty="0">
                <a:sym typeface="+mn-ea"/>
              </a:rPr>
              <a:t>2</a:t>
            </a:r>
            <a:r>
              <a:rPr lang="en-US" altLang="en-US" dirty="0">
                <a:sym typeface="+mn-ea"/>
              </a:rPr>
              <a:t>]</a:t>
            </a:r>
            <a:r>
              <a:rPr lang="en-US" dirty="0"/>
              <a:t> = </a:t>
            </a:r>
            <a:r>
              <a:rPr lang="en-US" altLang="en-US" dirty="0">
                <a:sym typeface="+mn-ea"/>
              </a:rPr>
              <a:t>E</a:t>
            </a:r>
            <a:r>
              <a:rPr lang="en-US" altLang="en-US" baseline="-25000" dirty="0">
                <a:sym typeface="+mn-ea"/>
              </a:rPr>
              <a:t>k</a:t>
            </a:r>
            <a:r>
              <a:rPr lang="en-US" altLang="en-US" dirty="0">
                <a:sym typeface="+mn-ea"/>
              </a:rPr>
              <a:t>[</a:t>
            </a:r>
            <a:r>
              <a:rPr lang="en-US" dirty="0"/>
              <a:t>m1 * m2]</a:t>
            </a:r>
          </a:p>
          <a:p>
            <a:pPr marL="0" indent="0">
              <a:buNone/>
            </a:pPr>
            <a:r>
              <a:rPr lang="en-US" altLang="zh-CN" dirty="0">
                <a:sym typeface="+mn-ea"/>
              </a:rPr>
              <a:t> </a:t>
            </a:r>
            <a:endParaRPr lang="en-US" altLang="en-US" dirty="0"/>
          </a:p>
        </p:txBody>
      </p:sp>
      <p:sp>
        <p:nvSpPr>
          <p:cNvPr id="5" name="Text Box 4"/>
          <p:cNvSpPr txBox="1"/>
          <p:nvPr/>
        </p:nvSpPr>
        <p:spPr>
          <a:xfrm>
            <a:off x="2122170" y="1825625"/>
            <a:ext cx="6096000" cy="645160"/>
          </a:xfrm>
          <a:prstGeom prst="rect">
            <a:avLst/>
          </a:prstGeom>
          <a:noFill/>
        </p:spPr>
        <p:txBody>
          <a:bodyPr wrap="square" rtlCol="0" anchor="t">
            <a:spAutoFit/>
          </a:bodyPr>
          <a:lstStyle/>
          <a:p>
            <a:pPr lvl="1"/>
            <a:r>
              <a:rPr lang="en-US" altLang="en-US" sz="3600" dirty="0">
                <a:sym typeface="+mn-ea"/>
              </a:rPr>
              <a:t>E</a:t>
            </a:r>
            <a:r>
              <a:rPr lang="en-US" altLang="en-US" sz="3600" baseline="-25000" dirty="0">
                <a:sym typeface="+mn-ea"/>
              </a:rPr>
              <a:t>k</a:t>
            </a:r>
            <a:r>
              <a:rPr lang="en-US" altLang="en-US" sz="3600" dirty="0">
                <a:sym typeface="+mn-ea"/>
              </a:rPr>
              <a:t>[m</a:t>
            </a:r>
            <a:r>
              <a:rPr lang="en-US" altLang="en-US" sz="3600" baseline="-25000" dirty="0">
                <a:sym typeface="+mn-ea"/>
              </a:rPr>
              <a:t>1</a:t>
            </a:r>
            <a:r>
              <a:rPr lang="en-US" altLang="en-US" sz="3600" dirty="0">
                <a:sym typeface="+mn-ea"/>
              </a:rPr>
              <a:t>]</a:t>
            </a:r>
            <a:r>
              <a:rPr lang="en-US" altLang="en-US" sz="3600" dirty="0">
                <a:sym typeface="Symbol" panose="05050102010706020507" pitchFamily="18" charset="2"/>
              </a:rPr>
              <a:t></a:t>
            </a:r>
            <a:r>
              <a:rPr lang="en-US" altLang="en-US" sz="3600" dirty="0">
                <a:sym typeface="+mn-ea"/>
              </a:rPr>
              <a:t> E</a:t>
            </a:r>
            <a:r>
              <a:rPr lang="en-US" altLang="en-US" sz="3600" baseline="-25000" dirty="0">
                <a:sym typeface="+mn-ea"/>
              </a:rPr>
              <a:t>k</a:t>
            </a:r>
            <a:r>
              <a:rPr lang="en-US" altLang="en-US" sz="3600" dirty="0">
                <a:sym typeface="+mn-ea"/>
              </a:rPr>
              <a:t>[m</a:t>
            </a:r>
            <a:r>
              <a:rPr lang="en-US" altLang="en-US" sz="3600" baseline="-25000" dirty="0">
                <a:sym typeface="+mn-ea"/>
              </a:rPr>
              <a:t>2</a:t>
            </a:r>
            <a:r>
              <a:rPr lang="en-US" altLang="en-US" sz="3600" dirty="0">
                <a:sym typeface="+mn-ea"/>
              </a:rPr>
              <a:t>]</a:t>
            </a:r>
            <a:r>
              <a:rPr lang="en-US" altLang="en-US" sz="3600" dirty="0">
                <a:sym typeface="Symbol" panose="05050102010706020507" pitchFamily="18" charset="2"/>
              </a:rPr>
              <a:t> = </a:t>
            </a:r>
            <a:r>
              <a:rPr lang="en-US" altLang="en-US" sz="3600" dirty="0">
                <a:sym typeface="+mn-ea"/>
              </a:rPr>
              <a:t>E</a:t>
            </a:r>
            <a:r>
              <a:rPr lang="en-US" altLang="en-US" sz="3600" baseline="-25000" dirty="0">
                <a:sym typeface="+mn-ea"/>
              </a:rPr>
              <a:t>k</a:t>
            </a:r>
            <a:r>
              <a:rPr lang="en-US" altLang="en-US" sz="3600" dirty="0">
                <a:sym typeface="+mn-ea"/>
              </a:rPr>
              <a:t>[m</a:t>
            </a:r>
            <a:r>
              <a:rPr lang="en-US" altLang="en-US" sz="3600" baseline="-25000" dirty="0">
                <a:sym typeface="+mn-ea"/>
              </a:rPr>
              <a:t>1</a:t>
            </a:r>
            <a:r>
              <a:rPr lang="en-US" altLang="en-US" sz="3600" dirty="0">
                <a:sym typeface="Symbol" panose="05050102010706020507" pitchFamily="18" charset="2"/>
              </a:rPr>
              <a:t></a:t>
            </a:r>
            <a:r>
              <a:rPr lang="en-US" altLang="en-US" sz="3600" dirty="0">
                <a:sym typeface="+mn-ea"/>
              </a:rPr>
              <a:t>m</a:t>
            </a:r>
            <a:r>
              <a:rPr lang="en-US" altLang="en-US" sz="3600" baseline="-25000" dirty="0">
                <a:sym typeface="+mn-ea"/>
              </a:rPr>
              <a:t>2</a:t>
            </a:r>
            <a:r>
              <a:rPr lang="en-US" altLang="en-US" sz="3600" dirty="0">
                <a:sym typeface="+mn-ea"/>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E8A50-0B2B-5B58-D65F-3DAC3801C6B1}"/>
              </a:ext>
            </a:extLst>
          </p:cNvPr>
          <p:cNvSpPr>
            <a:spLocks noGrp="1"/>
          </p:cNvSpPr>
          <p:nvPr>
            <p:ph type="title"/>
          </p:nvPr>
        </p:nvSpPr>
        <p:spPr/>
        <p:txBody>
          <a:bodyPr/>
          <a:lstStyle/>
          <a:p>
            <a:r>
              <a:rPr lang="en-US" dirty="0"/>
              <a:t>Why Homomorphic Encryption?</a:t>
            </a:r>
          </a:p>
        </p:txBody>
      </p:sp>
      <p:sp>
        <p:nvSpPr>
          <p:cNvPr id="3" name="Content Placeholder 2">
            <a:extLst>
              <a:ext uri="{FF2B5EF4-FFF2-40B4-BE49-F238E27FC236}">
                <a16:creationId xmlns:a16="http://schemas.microsoft.com/office/drawing/2014/main" id="{F5CABEC2-D631-2330-A1A5-40B5068C9E50}"/>
              </a:ext>
            </a:extLst>
          </p:cNvPr>
          <p:cNvSpPr>
            <a:spLocks noGrp="1"/>
          </p:cNvSpPr>
          <p:nvPr>
            <p:ph idx="1"/>
          </p:nvPr>
        </p:nvSpPr>
        <p:spPr/>
        <p:txBody>
          <a:bodyPr/>
          <a:lstStyle/>
          <a:p>
            <a:r>
              <a:rPr lang="en-US" dirty="0">
                <a:sym typeface="+mn-ea"/>
              </a:rPr>
              <a:t>Allows processing of encrypted data without ever decrypting it</a:t>
            </a:r>
            <a:endParaRPr lang="en-US" altLang="en-US" dirty="0"/>
          </a:p>
          <a:p>
            <a:r>
              <a:rPr lang="en-US" altLang="en-US" dirty="0"/>
              <a:t>Ensures privacy while allowing data processing</a:t>
            </a:r>
          </a:p>
          <a:p>
            <a:r>
              <a:rPr lang="en-US" altLang="en-US" dirty="0">
                <a:sym typeface="+mn-ea"/>
              </a:rPr>
              <a:t>Application: E-voting, Financial Services, Cloud data processing</a:t>
            </a:r>
            <a:endParaRPr lang="en-US" altLang="en-US" dirty="0"/>
          </a:p>
          <a:p>
            <a:pPr marL="0" indent="0">
              <a:buNone/>
            </a:pPr>
            <a:endParaRPr lang="en-US" dirty="0"/>
          </a:p>
        </p:txBody>
      </p:sp>
    </p:spTree>
    <p:extLst>
      <p:ext uri="{BB962C8B-B14F-4D97-AF65-F5344CB8AC3E}">
        <p14:creationId xmlns:p14="http://schemas.microsoft.com/office/powerpoint/2010/main" val="3068571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Types of Homomorphic Encryption</a:t>
            </a:r>
          </a:p>
        </p:txBody>
      </p:sp>
      <p:sp>
        <p:nvSpPr>
          <p:cNvPr id="3" name="Content Placeholder 2"/>
          <p:cNvSpPr>
            <a:spLocks noGrp="1"/>
          </p:cNvSpPr>
          <p:nvPr>
            <p:ph idx="1"/>
          </p:nvPr>
        </p:nvSpPr>
        <p:spPr/>
        <p:txBody>
          <a:bodyPr/>
          <a:lstStyle/>
          <a:p>
            <a:r>
              <a:rPr lang="en-US" altLang="en-US" dirty="0"/>
              <a:t>Fully Homomorphic Encryption (FHE) – allows any computation but is resource-intensive</a:t>
            </a:r>
          </a:p>
          <a:p>
            <a:endParaRPr lang="en-US" altLang="en-US" dirty="0"/>
          </a:p>
          <a:p>
            <a:r>
              <a:rPr lang="en-US" altLang="en-US" dirty="0"/>
              <a:t>Partially Homomorphic Encryption (PHE) – supports limited operations but is more efficient</a:t>
            </a:r>
          </a:p>
          <a:p>
            <a:pPr lvl="1"/>
            <a:r>
              <a:rPr lang="en-US" altLang="en-US" b="1"/>
              <a:t>Paillier</a:t>
            </a:r>
            <a:endParaRPr lang="en-US" altLang="en-US" dirty="0"/>
          </a:p>
        </p:txBody>
      </p:sp>
      <p:sp>
        <p:nvSpPr>
          <p:cNvPr id="5" name="Text Box 4"/>
          <p:cNvSpPr txBox="1"/>
          <p:nvPr/>
        </p:nvSpPr>
        <p:spPr>
          <a:xfrm>
            <a:off x="1680210" y="4930775"/>
            <a:ext cx="6096000" cy="645160"/>
          </a:xfrm>
          <a:prstGeom prst="rect">
            <a:avLst/>
          </a:prstGeom>
          <a:noFill/>
        </p:spPr>
        <p:txBody>
          <a:bodyPr wrap="square" rtlCol="0" anchor="t">
            <a:spAutoFit/>
          </a:bodyPr>
          <a:lstStyle/>
          <a:p>
            <a:pPr lvl="1"/>
            <a:r>
              <a:rPr lang="en-US" altLang="en-US" sz="3600" dirty="0">
                <a:sym typeface="+mn-ea"/>
              </a:rPr>
              <a:t>E</a:t>
            </a:r>
            <a:r>
              <a:rPr lang="en-US" altLang="en-US" sz="3600" baseline="-25000" dirty="0">
                <a:sym typeface="+mn-ea"/>
              </a:rPr>
              <a:t>k</a:t>
            </a:r>
            <a:r>
              <a:rPr lang="en-US" altLang="en-US" sz="3600" dirty="0">
                <a:sym typeface="+mn-ea"/>
              </a:rPr>
              <a:t>[m</a:t>
            </a:r>
            <a:r>
              <a:rPr lang="en-US" altLang="en-US" sz="3600" baseline="-25000" dirty="0">
                <a:sym typeface="+mn-ea"/>
              </a:rPr>
              <a:t>1</a:t>
            </a:r>
            <a:r>
              <a:rPr lang="en-US" altLang="en-US" sz="3600" dirty="0">
                <a:sym typeface="+mn-ea"/>
              </a:rPr>
              <a:t>]* E</a:t>
            </a:r>
            <a:r>
              <a:rPr lang="en-US" altLang="en-US" sz="3600" baseline="-25000" dirty="0">
                <a:sym typeface="+mn-ea"/>
              </a:rPr>
              <a:t>k</a:t>
            </a:r>
            <a:r>
              <a:rPr lang="en-US" altLang="en-US" sz="3600" dirty="0">
                <a:sym typeface="+mn-ea"/>
              </a:rPr>
              <a:t>[m</a:t>
            </a:r>
            <a:r>
              <a:rPr lang="en-US" altLang="en-US" sz="3600" baseline="-25000" dirty="0">
                <a:sym typeface="+mn-ea"/>
              </a:rPr>
              <a:t>2</a:t>
            </a:r>
            <a:r>
              <a:rPr lang="en-US" altLang="en-US" sz="3600" dirty="0">
                <a:sym typeface="+mn-ea"/>
              </a:rPr>
              <a:t>]</a:t>
            </a:r>
            <a:r>
              <a:rPr lang="en-US" altLang="en-US" sz="3600" dirty="0">
                <a:sym typeface="Symbol" panose="05050102010706020507" pitchFamily="18" charset="2"/>
              </a:rPr>
              <a:t> = </a:t>
            </a:r>
            <a:r>
              <a:rPr lang="en-US" altLang="en-US" sz="3600" dirty="0">
                <a:sym typeface="+mn-ea"/>
              </a:rPr>
              <a:t>E</a:t>
            </a:r>
            <a:r>
              <a:rPr lang="en-US" altLang="en-US" sz="3600" baseline="-25000" dirty="0">
                <a:sym typeface="+mn-ea"/>
              </a:rPr>
              <a:t>k</a:t>
            </a:r>
            <a:r>
              <a:rPr lang="en-US" altLang="en-US" sz="3600" dirty="0">
                <a:sym typeface="+mn-ea"/>
              </a:rPr>
              <a:t>[m</a:t>
            </a:r>
            <a:r>
              <a:rPr lang="en-US" altLang="en-US" sz="3600" baseline="-25000" dirty="0">
                <a:sym typeface="+mn-ea"/>
              </a:rPr>
              <a:t>1</a:t>
            </a:r>
            <a:r>
              <a:rPr lang="en-US" altLang="en-US" sz="3600" dirty="0">
                <a:sym typeface="Symbol" panose="05050102010706020507" pitchFamily="18" charset="2"/>
              </a:rPr>
              <a:t>+</a:t>
            </a:r>
            <a:r>
              <a:rPr lang="en-US" altLang="en-US" sz="3600" dirty="0">
                <a:sym typeface="+mn-ea"/>
              </a:rPr>
              <a:t>m</a:t>
            </a:r>
            <a:r>
              <a:rPr lang="en-US" altLang="en-US" sz="3600" baseline="-25000" dirty="0">
                <a:sym typeface="+mn-ea"/>
              </a:rPr>
              <a:t>2</a:t>
            </a:r>
            <a:r>
              <a:rPr lang="en-US" altLang="en-US" sz="3600" dirty="0">
                <a:sym typeface="+mn-ea"/>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Introduce PHE to IoT Data Sharing</a:t>
            </a:r>
          </a:p>
        </p:txBody>
      </p:sp>
      <p:sp>
        <p:nvSpPr>
          <p:cNvPr id="3" name="Content Placeholder 2"/>
          <p:cNvSpPr>
            <a:spLocks noGrp="1"/>
          </p:cNvSpPr>
          <p:nvPr>
            <p:ph idx="1"/>
          </p:nvPr>
        </p:nvSpPr>
        <p:spPr/>
        <p:txBody>
          <a:bodyPr/>
          <a:lstStyle/>
          <a:p>
            <a:pPr>
              <a:lnSpc>
                <a:spcPct val="90000"/>
              </a:lnSpc>
            </a:pPr>
            <a:r>
              <a:rPr lang="en-US" altLang="zh-CN" sz="2800">
                <a:solidFill>
                  <a:schemeClr val="tx1"/>
                </a:solidFill>
                <a:sym typeface="+mn-ea"/>
              </a:rPr>
              <a:t>Input</a:t>
            </a:r>
            <a:endParaRPr lang="en-US" altLang="zh-CN" sz="2800">
              <a:solidFill>
                <a:schemeClr val="tx1"/>
              </a:solidFill>
            </a:endParaRPr>
          </a:p>
          <a:p>
            <a:pPr lvl="1">
              <a:lnSpc>
                <a:spcPct val="90000"/>
              </a:lnSpc>
            </a:pPr>
            <a:r>
              <a:rPr lang="en-US" altLang="zh-CN" sz="2800">
                <a:solidFill>
                  <a:schemeClr val="tx1"/>
                </a:solidFill>
                <a:sym typeface="+mn-ea"/>
              </a:rPr>
              <a:t>Data is distributed at different IoT devices </a:t>
            </a:r>
            <a:endParaRPr lang="en-US" altLang="zh-CN" sz="2800">
              <a:solidFill>
                <a:schemeClr val="tx1"/>
              </a:solidFill>
            </a:endParaRPr>
          </a:p>
          <a:p>
            <a:pPr lvl="1">
              <a:lnSpc>
                <a:spcPct val="90000"/>
              </a:lnSpc>
            </a:pPr>
            <a:r>
              <a:rPr lang="en-US" altLang="zh-CN" sz="2800">
                <a:solidFill>
                  <a:schemeClr val="tx1"/>
                </a:solidFill>
                <a:sym typeface="+mn-ea"/>
              </a:rPr>
              <a:t>There might be third parties (e.g., Cloud servers, Financial bodies) or individuals</a:t>
            </a:r>
            <a:endParaRPr lang="en-US" altLang="zh-CN" sz="2800">
              <a:solidFill>
                <a:schemeClr val="tx1"/>
              </a:solidFill>
            </a:endParaRPr>
          </a:p>
          <a:p>
            <a:pPr>
              <a:lnSpc>
                <a:spcPct val="90000"/>
              </a:lnSpc>
            </a:pPr>
            <a:r>
              <a:rPr lang="en-US" altLang="zh-CN" sz="2800">
                <a:solidFill>
                  <a:schemeClr val="tx1"/>
                </a:solidFill>
                <a:sym typeface="+mn-ea"/>
              </a:rPr>
              <a:t>Aim</a:t>
            </a:r>
            <a:endParaRPr lang="en-US" altLang="zh-CN" sz="2800">
              <a:solidFill>
                <a:schemeClr val="tx1"/>
              </a:solidFill>
            </a:endParaRPr>
          </a:p>
          <a:p>
            <a:pPr lvl="1">
              <a:lnSpc>
                <a:spcPct val="90000"/>
              </a:lnSpc>
            </a:pPr>
            <a:r>
              <a:rPr lang="en-US" altLang="zh-CN" sz="2800">
                <a:solidFill>
                  <a:schemeClr val="tx1"/>
                </a:solidFill>
                <a:sym typeface="+mn-ea"/>
              </a:rPr>
              <a:t>Pooling the data between devices or between devices and the server </a:t>
            </a:r>
            <a:endParaRPr lang="en-GB" altLang="x-none" sz="2800">
              <a:solidFill>
                <a:schemeClr val="tx1"/>
              </a:solidFill>
            </a:endParaRPr>
          </a:p>
          <a:p>
            <a:pPr lvl="1">
              <a:lnSpc>
                <a:spcPct val="90000"/>
              </a:lnSpc>
            </a:pPr>
            <a:r>
              <a:rPr lang="en-US" altLang="zh-CN" sz="2800">
                <a:solidFill>
                  <a:schemeClr val="tx1"/>
                </a:solidFill>
                <a:sym typeface="+mn-ea"/>
              </a:rPr>
              <a:t>Carry out a secure computation on encrypted device data</a:t>
            </a:r>
            <a:endParaRPr lang="en-GB" altLang="x-none" sz="2800" b="1">
              <a:solidFill>
                <a:schemeClr val="tx1"/>
              </a:solidFill>
            </a:endParaRPr>
          </a:p>
          <a:p>
            <a:endParaRPr lang="en-GB" altLang="x-none" sz="2800" b="1">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a:t>PHE-Based Joint Encryption</a:t>
            </a:r>
          </a:p>
        </p:txBody>
      </p:sp>
      <p:sp>
        <p:nvSpPr>
          <p:cNvPr id="3" name="Content Placeholder 2"/>
          <p:cNvSpPr>
            <a:spLocks noGrp="1"/>
          </p:cNvSpPr>
          <p:nvPr>
            <p:ph idx="1"/>
          </p:nvPr>
        </p:nvSpPr>
        <p:spPr>
          <a:xfrm>
            <a:off x="838200" y="1825625"/>
            <a:ext cx="2978150" cy="4351655"/>
          </a:xfrm>
        </p:spPr>
        <p:txBody>
          <a:bodyPr>
            <a:normAutofit fontScale="92500"/>
          </a:bodyPr>
          <a:lstStyle/>
          <a:p>
            <a:r>
              <a:rPr lang="en-US" altLang="en-US"/>
              <a:t>Encrypt new data alongside randomly selected historical data</a:t>
            </a:r>
          </a:p>
          <a:p>
            <a:r>
              <a:rPr lang="en-US" altLang="en-US"/>
              <a:t>Receiver receives encrypted sum, enhancing security</a:t>
            </a:r>
          </a:p>
          <a:p>
            <a:r>
              <a:rPr lang="en-US" altLang="en-US"/>
              <a:t>Ensures uniqueness in encrypted messages</a:t>
            </a:r>
          </a:p>
        </p:txBody>
      </p:sp>
      <p:pic>
        <p:nvPicPr>
          <p:cNvPr id="4" name="Picture 3"/>
          <p:cNvPicPr>
            <a:picLocks noChangeAspect="1"/>
          </p:cNvPicPr>
          <p:nvPr/>
        </p:nvPicPr>
        <p:blipFill>
          <a:blip r:embed="rId3"/>
          <a:stretch>
            <a:fillRect/>
          </a:stretch>
        </p:blipFill>
        <p:spPr>
          <a:xfrm>
            <a:off x="4770120" y="1196340"/>
            <a:ext cx="6394450" cy="56616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Benefits of using PHE-based Joint Encryption</a:t>
            </a:r>
          </a:p>
        </p:txBody>
      </p:sp>
      <p:sp>
        <p:nvSpPr>
          <p:cNvPr id="3" name="Content Placeholder 2"/>
          <p:cNvSpPr>
            <a:spLocks noGrp="1"/>
          </p:cNvSpPr>
          <p:nvPr>
            <p:ph idx="1"/>
          </p:nvPr>
        </p:nvSpPr>
        <p:spPr/>
        <p:txBody>
          <a:bodyPr/>
          <a:lstStyle/>
          <a:p>
            <a:r>
              <a:rPr lang="en-US" altLang="en-US"/>
              <a:t>Prevents data exposure to other users</a:t>
            </a:r>
          </a:p>
          <a:p>
            <a:endParaRPr lang="en-US" altLang="en-US"/>
          </a:p>
          <a:p>
            <a:r>
              <a:rPr lang="en-US" altLang="en-US"/>
              <a:t>Enhances encryption strength with history-based joint encryption</a:t>
            </a:r>
          </a:p>
          <a:p>
            <a:pPr lvl="1"/>
            <a:r>
              <a:rPr lang="en-US" altLang="en-US"/>
              <a:t>challenging to recover the data even with the key</a:t>
            </a:r>
          </a:p>
          <a:p>
            <a:pPr marL="457200" lvl="1" indent="0">
              <a:buNone/>
            </a:pPr>
            <a:endParaRPr lang="en-US" altLang="en-US"/>
          </a:p>
          <a:p>
            <a:r>
              <a:rPr lang="en-US" altLang="en-US"/>
              <a:t>Protects against replay attacks</a:t>
            </a:r>
          </a:p>
          <a:p>
            <a:pPr lvl="1"/>
            <a:r>
              <a:rPr lang="en-US" altLang="en-US"/>
              <a:t>randomly selected history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a:t>More Challenges in </a:t>
            </a:r>
            <a:r>
              <a:rPr lang="en-US" altLang="en-US">
                <a:sym typeface="+mn-ea"/>
              </a:rPr>
              <a:t>IoT </a:t>
            </a:r>
            <a:r>
              <a:rPr lang="en-US" altLang="en-US"/>
              <a:t>Group Data Sharing </a:t>
            </a:r>
          </a:p>
        </p:txBody>
      </p:sp>
      <p:sp>
        <p:nvSpPr>
          <p:cNvPr id="3" name="Content Placeholder 2"/>
          <p:cNvSpPr>
            <a:spLocks noGrp="1"/>
          </p:cNvSpPr>
          <p:nvPr>
            <p:ph idx="1"/>
          </p:nvPr>
        </p:nvSpPr>
        <p:spPr/>
        <p:txBody>
          <a:bodyPr/>
          <a:lstStyle/>
          <a:p>
            <a:r>
              <a:rPr lang="en-US" altLang="en-US"/>
              <a:t>Sharing in a group, beyond two devices:</a:t>
            </a:r>
          </a:p>
          <a:p>
            <a:pPr marL="0" indent="0">
              <a:buNone/>
            </a:pPr>
            <a:endParaRPr lang="en-US" altLang="en-US"/>
          </a:p>
          <a:p>
            <a:pPr lvl="1"/>
            <a:r>
              <a:rPr lang="en-US" altLang="en-US"/>
              <a:t>Frequent membership changes (devices join/leave)</a:t>
            </a:r>
          </a:p>
          <a:p>
            <a:pPr lvl="1"/>
            <a:endParaRPr lang="en-US" altLang="en-US"/>
          </a:p>
          <a:p>
            <a:pPr lvl="1"/>
            <a:r>
              <a:rPr lang="en-US" altLang="en-US"/>
              <a:t>Traditional group key management is inefficient: Diffie-Hellman</a:t>
            </a:r>
          </a:p>
          <a:p>
            <a:pPr lvl="2"/>
            <a:r>
              <a:rPr lang="en-US" altLang="en-US"/>
              <a:t>All members participate in the generation of the shared key</a:t>
            </a:r>
          </a:p>
          <a:p>
            <a:pPr lvl="2"/>
            <a:r>
              <a:rPr lang="en-US" altLang="en-US"/>
              <a:t>New-member joining or existing-member quitting will lead to a complete re-execution of the key generation algorithm.</a:t>
            </a:r>
          </a:p>
          <a:p>
            <a:pPr marL="914400" lvl="2" indent="0">
              <a:buNone/>
            </a:pPr>
            <a:endParaRPr lang="en-US" altLang="en-US"/>
          </a:p>
          <a:p>
            <a:pPr lvl="1"/>
            <a:r>
              <a:rPr lang="en-US" altLang="en-US"/>
              <a:t>Need for scalable, low-cost solutions</a:t>
            </a:r>
          </a:p>
          <a:p>
            <a:pPr lvl="1"/>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a:t>Dynamic Group Membership</a:t>
            </a:r>
          </a:p>
        </p:txBody>
      </p:sp>
      <p:sp>
        <p:nvSpPr>
          <p:cNvPr id="3" name="Content Placeholder 2"/>
          <p:cNvSpPr>
            <a:spLocks noGrp="1"/>
          </p:cNvSpPr>
          <p:nvPr>
            <p:ph idx="1"/>
          </p:nvPr>
        </p:nvSpPr>
        <p:spPr/>
        <p:txBody>
          <a:bodyPr>
            <a:normAutofit/>
          </a:bodyPr>
          <a:lstStyle/>
          <a:p>
            <a:r>
              <a:rPr lang="en-US" altLang="en-US"/>
              <a:t>NOT every member stay long in a group</a:t>
            </a:r>
          </a:p>
          <a:p>
            <a:pPr lvl="1"/>
            <a:r>
              <a:rPr lang="en-US" altLang="en-US"/>
              <a:t>duration an IoT device remains in a group varies from a few minutes to several hours or days</a:t>
            </a:r>
          </a:p>
          <a:p>
            <a:pPr lvl="1"/>
            <a:endParaRPr lang="en-US" altLang="en-US"/>
          </a:p>
          <a:p>
            <a:pPr algn="l">
              <a:buClrTx/>
              <a:buSzTx/>
            </a:pPr>
            <a:r>
              <a:rPr lang="en-US" altLang="en-US"/>
              <a:t>Long-term member joins or leaves: re-run the key generation algorithm to establish a new shared key</a:t>
            </a:r>
          </a:p>
          <a:p>
            <a:pPr algn="l">
              <a:buClrTx/>
              <a:buSzTx/>
            </a:pPr>
            <a:endParaRPr lang="en-US" altLang="en-US"/>
          </a:p>
          <a:p>
            <a:pPr algn="l">
              <a:buClrTx/>
              <a:buSzTx/>
            </a:pPr>
            <a:r>
              <a:rPr lang="en-US" altLang="en-US"/>
              <a:t>Short-term member</a:t>
            </a:r>
            <a:r>
              <a:rPr lang="en-US" altLang="en-US">
                <a:sym typeface="+mn-ea"/>
              </a:rPr>
              <a:t> joins or leaves: use re-encryption instead of creating a new</a:t>
            </a:r>
            <a:r>
              <a:rPr lang="en-US" altLang="en-US"/>
              <a:t> group key</a:t>
            </a:r>
          </a:p>
          <a:p>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18335" y="1350010"/>
            <a:ext cx="7816850" cy="3798570"/>
          </a:xfrm>
          <a:prstGeom prst="rect">
            <a:avLst/>
          </a:prstGeom>
        </p:spPr>
      </p:pic>
      <p:sp>
        <p:nvSpPr>
          <p:cNvPr id="2" name="Title 1"/>
          <p:cNvSpPr>
            <a:spLocks noGrp="1"/>
          </p:cNvSpPr>
          <p:nvPr>
            <p:ph type="title"/>
          </p:nvPr>
        </p:nvSpPr>
        <p:spPr/>
        <p:txBody>
          <a:bodyPr/>
          <a:lstStyle/>
          <a:p>
            <a:r>
              <a:rPr lang="en-US"/>
              <a:t>Traditional Way to Generate a Group Key</a:t>
            </a:r>
          </a:p>
        </p:txBody>
      </p:sp>
      <p:sp>
        <p:nvSpPr>
          <p:cNvPr id="3" name="Content Placeholder 2"/>
          <p:cNvSpPr>
            <a:spLocks noGrp="1"/>
          </p:cNvSpPr>
          <p:nvPr>
            <p:ph idx="1"/>
          </p:nvPr>
        </p:nvSpPr>
        <p:spPr>
          <a:xfrm>
            <a:off x="1188085" y="5148580"/>
            <a:ext cx="10081895" cy="1028700"/>
          </a:xfrm>
        </p:spPr>
        <p:txBody>
          <a:bodyPr/>
          <a:lstStyle/>
          <a:p>
            <a:pPr marL="0" indent="0">
              <a:buNone/>
            </a:pPr>
            <a:r>
              <a:rPr lang="en-US" altLang="en-US"/>
              <a:t>All members need to be  involved to </a:t>
            </a:r>
            <a:r>
              <a:rPr lang="en-US" altLang="en-US">
                <a:sym typeface="+mn-ea"/>
              </a:rPr>
              <a:t>agree on a final shared key 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79400" y="1564640"/>
            <a:ext cx="8149590" cy="4455795"/>
          </a:xfrm>
          <a:prstGeom prst="rect">
            <a:avLst/>
          </a:prstGeom>
        </p:spPr>
      </p:pic>
      <p:sp>
        <p:nvSpPr>
          <p:cNvPr id="2" name="Title 1"/>
          <p:cNvSpPr>
            <a:spLocks noGrp="1"/>
          </p:cNvSpPr>
          <p:nvPr>
            <p:ph type="title"/>
          </p:nvPr>
        </p:nvSpPr>
        <p:spPr/>
        <p:txBody>
          <a:bodyPr/>
          <a:lstStyle/>
          <a:p>
            <a:r>
              <a:rPr lang="en-US" altLang="en-US"/>
              <a:t>How Re-Encryption Works</a:t>
            </a:r>
          </a:p>
        </p:txBody>
      </p:sp>
      <p:sp>
        <p:nvSpPr>
          <p:cNvPr id="3" name="Content Placeholder 2"/>
          <p:cNvSpPr>
            <a:spLocks noGrp="1"/>
          </p:cNvSpPr>
          <p:nvPr>
            <p:ph idx="1"/>
          </p:nvPr>
        </p:nvSpPr>
        <p:spPr>
          <a:xfrm>
            <a:off x="8041005" y="1564640"/>
            <a:ext cx="3953510" cy="4768850"/>
          </a:xfrm>
        </p:spPr>
        <p:txBody>
          <a:bodyPr>
            <a:normAutofit fontScale="97500" lnSpcReduction="10000"/>
          </a:bodyPr>
          <a:lstStyle/>
          <a:p>
            <a:pPr marL="514350" indent="-514350">
              <a:buFont typeface="+mj-lt"/>
              <a:buAutoNum type="arabicPeriod"/>
            </a:pPr>
            <a:r>
              <a:rPr lang="en-US" altLang="en-US">
                <a:sym typeface="+mn-ea"/>
              </a:rPr>
              <a:t>Re-encryption key is generated for new short-term members</a:t>
            </a:r>
            <a:endParaRPr lang="en-US" altLang="en-US"/>
          </a:p>
          <a:p>
            <a:pPr marL="514350" indent="-514350">
              <a:buFont typeface="+mj-lt"/>
              <a:buAutoNum type="arabicPeriod"/>
            </a:pPr>
            <a:r>
              <a:rPr lang="en-US" altLang="en-US"/>
              <a:t>Sender in the group encrypts data with a long-term group key</a:t>
            </a:r>
          </a:p>
          <a:p>
            <a:pPr marL="514350" indent="-514350">
              <a:buFont typeface="+mj-lt"/>
              <a:buAutoNum type="arabicPeriod"/>
            </a:pPr>
            <a:r>
              <a:rPr lang="en-US" altLang="en-US"/>
              <a:t>Proxy server re-encrypts data for short-term members</a:t>
            </a:r>
          </a:p>
          <a:p>
            <a:pPr marL="514350" indent="-514350">
              <a:buFont typeface="+mj-lt"/>
              <a:buAutoNum type="arabicPeriod"/>
            </a:pPr>
            <a:r>
              <a:rPr lang="en-US" altLang="en-US"/>
              <a:t>Short-term members can decrypt data with their own private keys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0" y="901065"/>
            <a:ext cx="12062460" cy="43408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Security Analysis of the Proposed Scheme</a:t>
            </a:r>
          </a:p>
        </p:txBody>
      </p:sp>
      <p:sp>
        <p:nvSpPr>
          <p:cNvPr id="3" name="Content Placeholder 2"/>
          <p:cNvSpPr>
            <a:spLocks noGrp="1"/>
          </p:cNvSpPr>
          <p:nvPr>
            <p:ph idx="1"/>
          </p:nvPr>
        </p:nvSpPr>
        <p:spPr/>
        <p:txBody>
          <a:bodyPr>
            <a:normAutofit/>
          </a:bodyPr>
          <a:lstStyle/>
          <a:p>
            <a:r>
              <a:rPr lang="en-US" altLang="en-US"/>
              <a:t>Protects data from unauthorized access</a:t>
            </a:r>
          </a:p>
          <a:p>
            <a:r>
              <a:rPr lang="en-US" altLang="en-US"/>
              <a:t>Limits damage if a device is compromised</a:t>
            </a:r>
          </a:p>
          <a:p>
            <a:r>
              <a:rPr lang="en-US" altLang="en-US"/>
              <a:t>Prevents the cloud provider from learning plaintext data</a:t>
            </a:r>
          </a:p>
          <a:p>
            <a:r>
              <a:rPr lang="en-US" altLang="en-US"/>
              <a:t>Lower computational cost compared to traditional methods</a:t>
            </a:r>
          </a:p>
          <a:p>
            <a:r>
              <a:rPr lang="en-US" altLang="en-US"/>
              <a:t>Reduces key update overhead significantly</a:t>
            </a:r>
          </a:p>
          <a:p>
            <a:r>
              <a:rPr lang="en-US" altLang="en-US"/>
              <a:t>Efficient encryption and re-encryption for dynamic IoT environments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Limitations and Future Improvements</a:t>
            </a:r>
          </a:p>
        </p:txBody>
      </p:sp>
      <p:sp>
        <p:nvSpPr>
          <p:cNvPr id="3" name="Content Placeholder 2"/>
          <p:cNvSpPr>
            <a:spLocks noGrp="1"/>
          </p:cNvSpPr>
          <p:nvPr>
            <p:ph idx="1"/>
          </p:nvPr>
        </p:nvSpPr>
        <p:spPr/>
        <p:txBody>
          <a:bodyPr/>
          <a:lstStyle/>
          <a:p>
            <a:r>
              <a:rPr lang="en-US" altLang="en-US"/>
              <a:t>Increased memory usage due to storing historical data</a:t>
            </a:r>
          </a:p>
          <a:p>
            <a:endParaRPr lang="en-US" altLang="en-US"/>
          </a:p>
          <a:p>
            <a:r>
              <a:rPr lang="en-US" altLang="en-US"/>
              <a:t>Additional power consumption for key management</a:t>
            </a:r>
          </a:p>
          <a:p>
            <a:endParaRPr lang="en-US" altLang="en-US"/>
          </a:p>
          <a:p>
            <a:r>
              <a:rPr lang="en-US" altLang="en-US"/>
              <a:t>Future work: Optimize storage and power efficiency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 Q&amp;A</a:t>
            </a:r>
          </a:p>
        </p:txBody>
      </p:sp>
      <p:sp>
        <p:nvSpPr>
          <p:cNvPr id="3" name="Content Placeholder 2"/>
          <p:cNvSpPr>
            <a:spLocks noGrp="1"/>
          </p:cNvSpPr>
          <p:nvPr>
            <p:ph idx="1"/>
          </p:nvPr>
        </p:nvSpPr>
        <p:spPr/>
        <p:txBody>
          <a:bodyPr/>
          <a:lstStyle/>
          <a:p>
            <a:pPr marL="0" indent="0">
              <a:buNone/>
            </a:pPr>
            <a:r>
              <a:rPr lang="en-US" altLang="en-US"/>
              <a:t>Thank you! </a:t>
            </a:r>
          </a:p>
          <a:p>
            <a:pPr marL="0" indent="0">
              <a:buNone/>
            </a:pPr>
            <a:r>
              <a:rPr lang="en-US" altLang="en-US"/>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3701</Words>
  <Application>Microsoft Office PowerPoint</Application>
  <PresentationFormat>Widescreen</PresentationFormat>
  <Paragraphs>378</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Symbol</vt:lpstr>
      <vt:lpstr>Office Theme</vt:lpstr>
      <vt:lpstr>Partially Homomorphic Encryption for the Internet of Things</vt:lpstr>
      <vt:lpstr>Motivation</vt:lpstr>
      <vt:lpstr>Data Gathering and Sharing in IoT</vt:lpstr>
      <vt:lpstr>Challenges Remain to Protect IoT Data Sharing</vt:lpstr>
      <vt:lpstr>Our Solution</vt:lpstr>
      <vt:lpstr>What is Homomorphic Encryption?</vt:lpstr>
      <vt:lpstr>Why Homomorphic Encryption?</vt:lpstr>
      <vt:lpstr>Types of Homomorphic Encryption</vt:lpstr>
      <vt:lpstr>Introduce PHE to IoT Data Sharing</vt:lpstr>
      <vt:lpstr>PHE-Based Joint Encryption</vt:lpstr>
      <vt:lpstr>Benefits of using PHE-based Joint Encryption</vt:lpstr>
      <vt:lpstr>More Challenges in IoT Group Data Sharing </vt:lpstr>
      <vt:lpstr>Dynamic Group Membership</vt:lpstr>
      <vt:lpstr>Traditional Way to Generate a Group Key</vt:lpstr>
      <vt:lpstr>How Re-Encryption Works</vt:lpstr>
      <vt:lpstr>PowerPoint Presentation</vt:lpstr>
      <vt:lpstr>Security Analysis of the Proposed Scheme</vt:lpstr>
      <vt:lpstr>Limitations and Future Improvements</vt:lpstr>
      <vt:lpstr>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Homomorphic Encryption for IoT Data Distribution</dc:title>
  <dc:creator/>
  <cp:lastModifiedBy>Bowu Zhang</cp:lastModifiedBy>
  <cp:revision>72</cp:revision>
  <dcterms:created xsi:type="dcterms:W3CDTF">2025-03-17T17:44:00Z</dcterms:created>
  <dcterms:modified xsi:type="dcterms:W3CDTF">2025-11-06T05:09:12Z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21B5231198194B5392D88B7A94213B30_11</vt:lpwstr>
  </property>
  <property fmtid="{D5CDD505-2E9C-101B-9397-08002B2CF9AE}" pid="3" name="KSOProductBuildVer">
    <vt:lpwstr>1033-12.2.0.20782</vt:lpwstr>
  </property>
</Properties>
</file>