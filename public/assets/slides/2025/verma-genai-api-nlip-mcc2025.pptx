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4" r:id="rId1"/>
  </p:sldMasterIdLst>
  <p:notesMasterIdLst>
    <p:notesMasterId r:id="rId14"/>
  </p:notesMasterIdLst>
  <p:handoutMasterIdLst>
    <p:handoutMasterId r:id="rId15"/>
  </p:handoutMasterIdLst>
  <p:sldIdLst>
    <p:sldId id="396" r:id="rId2"/>
    <p:sldId id="414" r:id="rId3"/>
    <p:sldId id="434" r:id="rId4"/>
    <p:sldId id="435" r:id="rId5"/>
    <p:sldId id="428" r:id="rId6"/>
    <p:sldId id="430" r:id="rId7"/>
    <p:sldId id="431" r:id="rId8"/>
    <p:sldId id="429" r:id="rId9"/>
    <p:sldId id="410" r:id="rId10"/>
    <p:sldId id="415" r:id="rId11"/>
    <p:sldId id="436" r:id="rId12"/>
    <p:sldId id="390" r:id="rId13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61"/>
    <a:srgbClr val="AAF8A9"/>
    <a:srgbClr val="66A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62"/>
    <p:restoredTop sz="92400"/>
  </p:normalViewPr>
  <p:slideViewPr>
    <p:cSldViewPr snapToGrid="0" snapToObjects="1">
      <p:cViewPr varScale="1">
        <p:scale>
          <a:sx n="68" d="100"/>
          <a:sy n="68" d="100"/>
        </p:scale>
        <p:origin x="216" y="6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862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" panose="020B0503050203000203" pitchFamily="34" charset="0"/>
                <a:ea typeface="IBM Plex Sans" charset="0"/>
                <a:cs typeface="IBM Plex Sans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" panose="020B0503050203000203" pitchFamily="34" charset="0"/>
              <a:ea typeface="IBM Plex Sans" charset="0"/>
              <a:cs typeface="IBM Plex Sans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" panose="020B0503050203000203" pitchFamily="34" charset="0"/>
                <a:ea typeface="IBM Plex Sans" charset="0"/>
                <a:cs typeface="IBM Plex Sans" charset="0"/>
              </a:rPr>
              <a:t>Group Name / DOC ID / Month XX, 2019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.AppleSystemUIFon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IBM Plex Sans" panose="020B0503050203000203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System Font Regular"/>
      <a:buChar char="–"/>
      <a:tabLst/>
      <a:defRPr sz="1000" b="0" i="0" kern="1200">
        <a:solidFill>
          <a:schemeClr val="bg1"/>
        </a:solidFill>
        <a:latin typeface="IBM Plex Sans" panose="020B0503050203000203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Arial" panose="020B0604020202020204" pitchFamily="34" charset="0"/>
      <a:buChar char="•"/>
      <a:tabLst/>
      <a:defRPr sz="1000" b="0" i="0" kern="1200">
        <a:solidFill>
          <a:schemeClr val="bg1"/>
        </a:solidFill>
        <a:latin typeface="IBM Plex Sans" panose="020B0503050203000203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System Font Regular"/>
      <a:buChar char="–"/>
      <a:tabLst/>
      <a:defRPr sz="1000" b="0" i="0" kern="1200">
        <a:solidFill>
          <a:schemeClr val="bg1"/>
        </a:solidFill>
        <a:latin typeface="IBM Plex Sans" panose="020B0503050203000203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.AppleSystemUIFont" charset="-120"/>
      <a:buChar char="»"/>
      <a:tabLst/>
      <a:defRPr sz="1000" b="0" i="0" kern="1200">
        <a:solidFill>
          <a:schemeClr val="bg1"/>
        </a:solidFill>
        <a:latin typeface="IBM Plex Sans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22450" y="228600"/>
            <a:ext cx="3213100" cy="1808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2019 / © 2019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657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7"/>
            <a:ext cx="4142232" cy="4491385"/>
          </a:xfrm>
          <a:solidFill>
            <a:srgbClr val="66A1FF">
              <a:alpha val="52157"/>
            </a:srgb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3812" y="4692553"/>
            <a:ext cx="521589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7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65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426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5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86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461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56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one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5" y="1243584"/>
            <a:ext cx="8695877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2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5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357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60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651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888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ue 60 rectangle">
            <a:extLst>
              <a:ext uri="{FF2B5EF4-FFF2-40B4-BE49-F238E27FC236}">
                <a16:creationId xmlns:a16="http://schemas.microsoft.com/office/drawing/2014/main" id="{91D1D188-D7EA-5A44-A392-6E9BFB996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270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883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488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425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5008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178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754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bg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36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bg1"/>
          </a:solidFill>
        </p:spPr>
        <p:txBody>
          <a:bodyPr lIns="219456" tIns="201168" rIns="2286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459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solidFill>
            <a:srgbClr val="0530AD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487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661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6266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4272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718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5263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369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/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4F04016-134E-5847-8C7D-495FF4D6E4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826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8E015-0B67-D266-BA96-AEC8E2E6A50D}"/>
              </a:ext>
            </a:extLst>
          </p:cNvPr>
          <p:cNvSpPr txBox="1"/>
          <p:nvPr userDrawn="1"/>
        </p:nvSpPr>
        <p:spPr>
          <a:xfrm>
            <a:off x="2919945" y="2187030"/>
            <a:ext cx="33041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Stencil" pitchFamily="82" charset="77"/>
                <a:ea typeface="IBM Plex Sans" charset="0"/>
                <a:cs typeface="IBM Plex Sans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6321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36657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19757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2" r:id="rId7"/>
    <p:sldLayoutId id="2147483931" r:id="rId8"/>
    <p:sldLayoutId id="2147483963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  <p:sldLayoutId id="2147483940" r:id="rId17"/>
    <p:sldLayoutId id="2147483941" r:id="rId18"/>
    <p:sldLayoutId id="2147483942" r:id="rId19"/>
    <p:sldLayoutId id="2147483957" r:id="rId20"/>
    <p:sldLayoutId id="2147483944" r:id="rId21"/>
    <p:sldLayoutId id="2147483945" r:id="rId22"/>
    <p:sldLayoutId id="2147483946" r:id="rId23"/>
    <p:sldLayoutId id="2147483947" r:id="rId24"/>
    <p:sldLayoutId id="2147483948" r:id="rId25"/>
    <p:sldLayoutId id="2147483949" r:id="rId26"/>
    <p:sldLayoutId id="2147483950" r:id="rId27"/>
    <p:sldLayoutId id="2147483951" r:id="rId28"/>
    <p:sldLayoutId id="2147483952" r:id="rId29"/>
    <p:sldLayoutId id="2147483953" r:id="rId30"/>
    <p:sldLayoutId id="2147483955" r:id="rId31"/>
    <p:sldLayoutId id="2147483956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None/>
        <a:defRPr sz="14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4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4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40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chemeClr val="tx1"/>
        </a:buClr>
        <a:buFont typeface=".AppleSystemUIFont" charset="-120"/>
        <a:buChar char="»"/>
        <a:tabLst/>
        <a:defRPr sz="14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Arial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Arial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Arial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88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cma-international.org/technical-committees/tc56/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nlip-project.org/" TargetMode="Externa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16DE-C625-FF4F-3040-AA7422E2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for API management using Natural Language Interaction Protocol 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Presenter:</a:t>
            </a:r>
            <a:br>
              <a:rPr lang="en-US" sz="1800" dirty="0"/>
            </a:br>
            <a:r>
              <a:rPr lang="en-US" sz="1800" dirty="0"/>
              <a:t>Dinesh C. Verma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7ED82-AC81-AD9C-69D2-CDA65CFD43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8021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54F87-1407-175B-3018-28A20882EA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088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60842-4432-A55E-3EC2-F2773A8A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1" y="201168"/>
            <a:ext cx="8705021" cy="804672"/>
          </a:xfrm>
        </p:spPr>
        <p:txBody>
          <a:bodyPr/>
          <a:lstStyle/>
          <a:p>
            <a:r>
              <a:rPr lang="en-US" dirty="0"/>
              <a:t>API Management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478F6-AEC9-B020-47A4-75A10D158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581146" cy="3252216"/>
          </a:xfrm>
        </p:spPr>
        <p:txBody>
          <a:bodyPr/>
          <a:lstStyle/>
          <a:p>
            <a:r>
              <a:rPr lang="en-US" dirty="0"/>
              <a:t>All services that we interact on the Internet expose an Application Programming Interface (API)</a:t>
            </a:r>
          </a:p>
          <a:p>
            <a:pPr lvl="1"/>
            <a:r>
              <a:rPr lang="en-US" dirty="0"/>
              <a:t>The most prevalent approach is to expose an API over HTTP or HTTPS using a REST paradigm </a:t>
            </a:r>
          </a:p>
          <a:p>
            <a:pPr lvl="2"/>
            <a:r>
              <a:rPr lang="en-US" dirty="0"/>
              <a:t>Expose a structure that client should sent</a:t>
            </a:r>
          </a:p>
          <a:p>
            <a:pPr lvl="2"/>
            <a:r>
              <a:rPr lang="en-US" dirty="0"/>
              <a:t>Structure sent using http post/get commands </a:t>
            </a:r>
          </a:p>
          <a:p>
            <a:pPr lvl="2"/>
            <a:r>
              <a:rPr lang="en-US" dirty="0"/>
              <a:t>Response comes as a structure (JSON) </a:t>
            </a:r>
          </a:p>
          <a:p>
            <a:pPr lvl="1"/>
            <a:r>
              <a:rPr lang="en-US" dirty="0"/>
              <a:t>Other variations use </a:t>
            </a:r>
            <a:r>
              <a:rPr lang="en-US" dirty="0" err="1"/>
              <a:t>websockets</a:t>
            </a:r>
            <a:r>
              <a:rPr lang="en-US" dirty="0"/>
              <a:t>, </a:t>
            </a:r>
            <a:r>
              <a:rPr lang="en-US" dirty="0" err="1"/>
              <a:t>rpc</a:t>
            </a:r>
            <a:r>
              <a:rPr lang="en-US" dirty="0"/>
              <a:t> etc. </a:t>
            </a:r>
          </a:p>
          <a:p>
            <a:r>
              <a:rPr lang="en-US" dirty="0"/>
              <a:t>API management problem </a:t>
            </a:r>
          </a:p>
          <a:p>
            <a:pPr lvl="1"/>
            <a:r>
              <a:rPr lang="en-US" dirty="0"/>
              <a:t>If software version changes, or structure changes, we need to change both client and servers </a:t>
            </a:r>
          </a:p>
          <a:p>
            <a:pPr lvl="1"/>
            <a:r>
              <a:rPr lang="en-US" dirty="0"/>
              <a:t>Managing APIs and integrating APIs is a challenge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F426C-D39C-660F-397F-2675F2E5D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45A2D9-3F44-DE94-5545-7064BA6EF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829751" y="1243584"/>
            <a:ext cx="1085582" cy="1060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AD9AAB-3E4E-8240-E7E2-02867D3E7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2" y="1342917"/>
            <a:ext cx="704302" cy="106069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1CA88D-DFAC-8353-EE4C-6530DE43ADDB}"/>
              </a:ext>
            </a:extLst>
          </p:cNvPr>
          <p:cNvCxnSpPr/>
          <p:nvPr/>
        </p:nvCxnSpPr>
        <p:spPr bwMode="auto">
          <a:xfrm>
            <a:off x="5504904" y="1873265"/>
            <a:ext cx="2508731" cy="0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A35FC-21CA-7112-34F3-0AB099822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562821" y="170936"/>
            <a:ext cx="1085582" cy="10606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044BD2-1F74-A01E-354B-8B69FA75B73E}"/>
              </a:ext>
            </a:extLst>
          </p:cNvPr>
          <p:cNvSpPr txBox="1"/>
          <p:nvPr/>
        </p:nvSpPr>
        <p:spPr>
          <a:xfrm>
            <a:off x="6453051" y="1342917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API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2E43C6-E629-DFD5-3863-B3D1D960BF9D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 bwMode="auto">
          <a:xfrm>
            <a:off x="5648403" y="701284"/>
            <a:ext cx="2181348" cy="1072648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EBB019F-8E05-35A8-9D9C-87A81359D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85308" y="3965452"/>
            <a:ext cx="1085582" cy="10606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0516E6-86E0-0445-6571-B379F54520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7820291" y="2609839"/>
            <a:ext cx="1085582" cy="10606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36ACD1-7A1A-E306-4CB7-BEA02FFFD1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7829750" y="3665213"/>
            <a:ext cx="1085582" cy="10606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A014C6-8C62-DBF5-19F8-08E808AA53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6216478" y="2696237"/>
            <a:ext cx="1085582" cy="106069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B94AD8-6B9B-81FA-D8F0-73E4230C1CEE}"/>
              </a:ext>
            </a:extLst>
          </p:cNvPr>
          <p:cNvCxnSpPr>
            <a:cxnSpLocks/>
            <a:endCxn id="18" idx="3"/>
          </p:cNvCxnSpPr>
          <p:nvPr/>
        </p:nvCxnSpPr>
        <p:spPr bwMode="auto">
          <a:xfrm flipV="1">
            <a:off x="6397142" y="4195561"/>
            <a:ext cx="1432608" cy="211354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1EC46F-2694-BC9C-B764-203580D9D292}"/>
              </a:ext>
            </a:extLst>
          </p:cNvPr>
          <p:cNvCxnSpPr>
            <a:cxnSpLocks/>
          </p:cNvCxnSpPr>
          <p:nvPr/>
        </p:nvCxnSpPr>
        <p:spPr bwMode="auto">
          <a:xfrm flipV="1">
            <a:off x="6484016" y="3545833"/>
            <a:ext cx="491935" cy="810779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4F89A6-1BAE-8EBF-5D95-3396233FFD1F}"/>
              </a:ext>
            </a:extLst>
          </p:cNvPr>
          <p:cNvCxnSpPr>
            <a:cxnSpLocks/>
          </p:cNvCxnSpPr>
          <p:nvPr/>
        </p:nvCxnSpPr>
        <p:spPr bwMode="auto">
          <a:xfrm flipV="1">
            <a:off x="6657764" y="3290582"/>
            <a:ext cx="1355871" cy="985505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23C441E-5C1E-17CD-FD4A-EB90D83CE15D}"/>
              </a:ext>
            </a:extLst>
          </p:cNvPr>
          <p:cNvSpPr txBox="1"/>
          <p:nvPr/>
        </p:nvSpPr>
        <p:spPr>
          <a:xfrm>
            <a:off x="5976801" y="3571767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API </a:t>
            </a:r>
          </a:p>
        </p:txBody>
      </p:sp>
    </p:spTree>
    <p:extLst>
      <p:ext uri="{BB962C8B-B14F-4D97-AF65-F5344CB8AC3E}">
        <p14:creationId xmlns:p14="http://schemas.microsoft.com/office/powerpoint/2010/main" val="1401391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D0959-01BD-EBF3-F380-D8A6CF7A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5236-780E-F00A-3612-B4D8A77C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1" y="201168"/>
            <a:ext cx="8705021" cy="804672"/>
          </a:xfrm>
        </p:spPr>
        <p:txBody>
          <a:bodyPr/>
          <a:lstStyle/>
          <a:p>
            <a:r>
              <a:rPr lang="en-US" dirty="0"/>
              <a:t>Gen AI can enable a new common protocol for communication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6F451-7CA0-7C80-E549-868E9A9BB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When we need to conduct our affairs with various types of businesses </a:t>
            </a:r>
          </a:p>
          <a:p>
            <a:pPr lvl="1"/>
            <a:r>
              <a:rPr lang="en-US" dirty="0"/>
              <a:t>Banks </a:t>
            </a:r>
          </a:p>
          <a:p>
            <a:pPr lvl="1"/>
            <a:r>
              <a:rPr lang="en-US" dirty="0"/>
              <a:t>Retail Shops</a:t>
            </a:r>
          </a:p>
          <a:p>
            <a:pPr lvl="1"/>
            <a:r>
              <a:rPr lang="en-US" dirty="0"/>
              <a:t>Telecommunication Vendors </a:t>
            </a:r>
          </a:p>
          <a:p>
            <a:pPr lvl="1"/>
            <a:r>
              <a:rPr lang="en-US" dirty="0"/>
              <a:t>Restaurants etc. </a:t>
            </a:r>
          </a:p>
          <a:p>
            <a:r>
              <a:rPr lang="en-US" dirty="0"/>
              <a:t>We just use one common language to interact with the business person on the other side </a:t>
            </a:r>
          </a:p>
          <a:p>
            <a:pPr lvl="1"/>
            <a:r>
              <a:rPr lang="en-US" dirty="0"/>
              <a:t>And the common language is good enough to get all the work done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8C041-7A8D-245B-900D-58122FC76A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When computers in our control (our phones/personal devices) need to conduct our affair with various types of businesses</a:t>
            </a:r>
          </a:p>
          <a:p>
            <a:pPr lvl="1"/>
            <a:r>
              <a:rPr lang="en-US" dirty="0"/>
              <a:t>Banks </a:t>
            </a:r>
          </a:p>
          <a:p>
            <a:pPr lvl="1"/>
            <a:r>
              <a:rPr lang="en-US" dirty="0"/>
              <a:t>Retail Shops</a:t>
            </a:r>
          </a:p>
          <a:p>
            <a:pPr lvl="1"/>
            <a:r>
              <a:rPr lang="en-US" dirty="0"/>
              <a:t>Telecommunication Vendors </a:t>
            </a:r>
          </a:p>
          <a:p>
            <a:pPr lvl="1"/>
            <a:r>
              <a:rPr lang="en-US" dirty="0"/>
              <a:t>Restaurants etc. </a:t>
            </a:r>
          </a:p>
          <a:p>
            <a:r>
              <a:rPr lang="en-US" dirty="0"/>
              <a:t>Each business server uses its own proprietary application-level protocol to communicate with the clients</a:t>
            </a:r>
          </a:p>
          <a:p>
            <a:pPr lvl="1"/>
            <a:r>
              <a:rPr lang="en-US" dirty="0"/>
              <a:t>Resulting in an explosion of mobile apps and application level protocols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E31E9-D6E4-E95C-512F-88D250F243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521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FE56-9A4C-4F16-3010-8F654EB73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1" y="201168"/>
            <a:ext cx="8705021" cy="804672"/>
          </a:xfrm>
        </p:spPr>
        <p:txBody>
          <a:bodyPr/>
          <a:lstStyle/>
          <a:p>
            <a:r>
              <a:rPr lang="en-US" dirty="0"/>
              <a:t>NLIP A New Protocol using Gen AI (</a:t>
            </a:r>
            <a:r>
              <a:rPr lang="en-US" dirty="0" err="1"/>
              <a:t>nlip-project.org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FC677-BE24-A406-1684-E6B7A8CFB1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Designed collaboratively among multiple Universities and Companies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IBM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Cisco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Red Hat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Hitachi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ServiceNow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Microsoft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Fordham University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U. Michigan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Purdue University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U. Delaware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U. Buffalo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Pennsylvania State University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Indiana University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SRI International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81BAE-E927-4B3D-9F4D-03F70AC02A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Being Standardized under ECMA </a:t>
            </a:r>
          </a:p>
          <a:p>
            <a:pPr lvl="1"/>
            <a:r>
              <a:rPr lang="en-US" dirty="0"/>
              <a:t>European Computer Manufacturer's Association </a:t>
            </a:r>
          </a:p>
          <a:p>
            <a:pPr lvl="1"/>
            <a:r>
              <a:rPr lang="en-US" dirty="0"/>
              <a:t>TC 56: </a:t>
            </a:r>
            <a:r>
              <a:rPr lang="en-US" dirty="0">
                <a:hlinkClick r:id="rId2"/>
              </a:rPr>
              <a:t>https://ecma-international.org/technical-committees/tc56/</a:t>
            </a:r>
            <a:endParaRPr lang="en-US" dirty="0"/>
          </a:p>
          <a:p>
            <a:pPr lvl="1"/>
            <a:r>
              <a:rPr lang="en-US" dirty="0"/>
              <a:t>On track to become an official standard in Dec 2025</a:t>
            </a:r>
          </a:p>
          <a:p>
            <a:r>
              <a:rPr lang="en-US" dirty="0"/>
              <a:t>Supported by Open Source Consortia </a:t>
            </a:r>
          </a:p>
          <a:p>
            <a:pPr lvl="1"/>
            <a:r>
              <a:rPr lang="en-US" dirty="0"/>
              <a:t>A project under the umbrella of AI Alliance </a:t>
            </a:r>
          </a:p>
          <a:p>
            <a:pPr lvl="1"/>
            <a:r>
              <a:rPr lang="en-US" dirty="0"/>
              <a:t>A project sponsored by Enterprise </a:t>
            </a:r>
            <a:r>
              <a:rPr lang="en-US" dirty="0" err="1"/>
              <a:t>Neurosystem</a:t>
            </a:r>
            <a:r>
              <a:rPr lang="en-US" dirty="0"/>
              <a:t> Group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F3610-C9CB-0C28-A985-9CF765499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7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9996-CA11-1773-A657-8F70A3AD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1" y="201168"/>
            <a:ext cx="8705021" cy="804672"/>
          </a:xfrm>
        </p:spPr>
        <p:txBody>
          <a:bodyPr/>
          <a:lstStyle/>
          <a:p>
            <a:r>
              <a:rPr lang="en-US" dirty="0"/>
              <a:t>NLIP Design: Using Generative AI to redefine computer communications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2A178-DA18-5CA6-EED5-EF749D3F80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NLIP follows a different paradigm than most application-level protocols </a:t>
            </a:r>
          </a:p>
          <a:p>
            <a:pPr lvl="1"/>
            <a:r>
              <a:rPr lang="en-US" dirty="0"/>
              <a:t>Most application-level protocols define the structure that needs to be exchanged on the wire</a:t>
            </a:r>
          </a:p>
          <a:p>
            <a:pPr lvl="2"/>
            <a:r>
              <a:rPr lang="en-US" dirty="0"/>
              <a:t>Forces a rigid API</a:t>
            </a:r>
          </a:p>
          <a:p>
            <a:pPr lvl="2"/>
            <a:r>
              <a:rPr lang="en-US" dirty="0"/>
              <a:t>Causes version upgrade issues </a:t>
            </a:r>
          </a:p>
          <a:p>
            <a:pPr lvl="2"/>
            <a:r>
              <a:rPr lang="en-US" dirty="0"/>
              <a:t>Limits extensibility </a:t>
            </a:r>
          </a:p>
          <a:p>
            <a:pPr lvl="1"/>
            <a:r>
              <a:rPr lang="en-US" dirty="0"/>
              <a:t>NLIP assumes that the information exchanged on the wire will be translated to a structure which is local to each communicating party </a:t>
            </a:r>
          </a:p>
          <a:p>
            <a:pPr lvl="2"/>
            <a:r>
              <a:rPr lang="en-US" dirty="0"/>
              <a:t>GenAI is good at parsing unstructured text to structured text </a:t>
            </a:r>
          </a:p>
          <a:p>
            <a:pPr lvl="2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FCA108-182F-0CD8-E950-F510631FC5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25A4220-1567-5A27-187A-F43772E71FA7}"/>
              </a:ext>
            </a:extLst>
          </p:cNvPr>
          <p:cNvGrpSpPr/>
          <p:nvPr/>
        </p:nvGrpSpPr>
        <p:grpSpPr>
          <a:xfrm>
            <a:off x="4762257" y="713236"/>
            <a:ext cx="4381743" cy="1753934"/>
            <a:chOff x="4762257" y="713236"/>
            <a:chExt cx="4381743" cy="17539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E8B8C0-3E1F-5DB5-55B3-D71E1E573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762257" y="713236"/>
              <a:ext cx="1085582" cy="106069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DB3861A-8F6F-4011-52E6-EE26F243E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8058418" y="713236"/>
              <a:ext cx="1085582" cy="1060696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4FA45B1-CAAA-12F8-CC2A-87BF2967DA0C}"/>
                </a:ext>
              </a:extLst>
            </p:cNvPr>
            <p:cNvCxnSpPr/>
            <p:nvPr/>
          </p:nvCxnSpPr>
          <p:spPr bwMode="auto">
            <a:xfrm>
              <a:off x="5702055" y="1243584"/>
              <a:ext cx="2508731" cy="0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069281-D15F-4C4A-5CC5-49CA659D2C9A}"/>
                </a:ext>
              </a:extLst>
            </p:cNvPr>
            <p:cNvSpPr txBox="1"/>
            <p:nvPr/>
          </p:nvSpPr>
          <p:spPr>
            <a:xfrm>
              <a:off x="6266696" y="824522"/>
              <a:ext cx="15327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IBM Plex Sans" charset="0"/>
                  <a:ea typeface="IBM Plex Sans" charset="0"/>
                  <a:cs typeface="IBM Plex Sans" charset="0"/>
                </a:rPr>
                <a:t>Typical Protocol: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A38EB2A-F233-F9F8-733E-54F1A59960AF}"/>
                </a:ext>
              </a:extLst>
            </p:cNvPr>
            <p:cNvSpPr txBox="1"/>
            <p:nvPr/>
          </p:nvSpPr>
          <p:spPr>
            <a:xfrm>
              <a:off x="6123224" y="1513063"/>
              <a:ext cx="188384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rPr>
                <a:t>{</a:t>
              </a:r>
            </a:p>
            <a:p>
              <a:pPr algn="l"/>
              <a:r>
                <a:rPr lang="en-US" sz="1400" dirty="0">
                  <a:latin typeface="IBM Plex Sans" charset="0"/>
                  <a:ea typeface="IBM Plex Sans" charset="0"/>
                  <a:cs typeface="IBM Plex Sans" charset="0"/>
                </a:rPr>
                <a:t>   “host”: “localhost”,</a:t>
              </a:r>
            </a:p>
            <a:p>
              <a:pPr algn="l"/>
              <a:r>
                <a:rPr lang="en-US" sz="1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rPr>
                <a:t>   “port” : 8000</a:t>
              </a:r>
            </a:p>
            <a:p>
              <a:pPr algn="l"/>
              <a:r>
                <a:rPr lang="en-US" sz="1400" dirty="0">
                  <a:latin typeface="IBM Plex Sans" charset="0"/>
                  <a:ea typeface="IBM Plex Sans" charset="0"/>
                  <a:cs typeface="IBM Plex Sans" charset="0"/>
                </a:rPr>
                <a:t>}</a:t>
              </a:r>
              <a:endPara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endParaRPr>
            </a:p>
          </p:txBody>
        </p:sp>
        <p:sp>
          <p:nvSpPr>
            <p:cNvPr id="12" name="Vertical Scroll 11">
              <a:extLst>
                <a:ext uri="{FF2B5EF4-FFF2-40B4-BE49-F238E27FC236}">
                  <a16:creationId xmlns:a16="http://schemas.microsoft.com/office/drawing/2014/main" id="{220B68B4-A765-3999-F5DD-DEE4353D82AA}"/>
                </a:ext>
              </a:extLst>
            </p:cNvPr>
            <p:cNvSpPr/>
            <p:nvPr/>
          </p:nvSpPr>
          <p:spPr bwMode="auto">
            <a:xfrm>
              <a:off x="4979312" y="1773932"/>
              <a:ext cx="508000" cy="345621"/>
            </a:xfrm>
            <a:prstGeom prst="verticalScroll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13" name="Vertical Scroll 12">
              <a:extLst>
                <a:ext uri="{FF2B5EF4-FFF2-40B4-BE49-F238E27FC236}">
                  <a16:creationId xmlns:a16="http://schemas.microsoft.com/office/drawing/2014/main" id="{39462AA6-65AA-7F36-02DC-BEE75F4A0C79}"/>
                </a:ext>
              </a:extLst>
            </p:cNvPr>
            <p:cNvSpPr/>
            <p:nvPr/>
          </p:nvSpPr>
          <p:spPr bwMode="auto">
            <a:xfrm>
              <a:off x="8282458" y="1817305"/>
              <a:ext cx="508000" cy="345621"/>
            </a:xfrm>
            <a:prstGeom prst="verticalScroll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14" name="Vertical Scroll 13">
              <a:extLst>
                <a:ext uri="{FF2B5EF4-FFF2-40B4-BE49-F238E27FC236}">
                  <a16:creationId xmlns:a16="http://schemas.microsoft.com/office/drawing/2014/main" id="{9C1AE8D3-5E42-82EC-0FB6-35C0E9619D06}"/>
                </a:ext>
              </a:extLst>
            </p:cNvPr>
            <p:cNvSpPr/>
            <p:nvPr/>
          </p:nvSpPr>
          <p:spPr bwMode="auto">
            <a:xfrm>
              <a:off x="6702420" y="1304169"/>
              <a:ext cx="508000" cy="345621"/>
            </a:xfrm>
            <a:prstGeom prst="verticalScroll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BM Plex Sans" panose="020B0503050203000203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44AF500-C08D-8BB9-C921-83534B7C74D1}"/>
              </a:ext>
            </a:extLst>
          </p:cNvPr>
          <p:cNvSpPr txBox="1"/>
          <p:nvPr/>
        </p:nvSpPr>
        <p:spPr>
          <a:xfrm>
            <a:off x="5597130" y="615962"/>
            <a:ext cx="3036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All three structures must be same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5CBB38-0078-1F10-A391-967E1A0961F2}"/>
              </a:ext>
            </a:extLst>
          </p:cNvPr>
          <p:cNvGrpSpPr/>
          <p:nvPr/>
        </p:nvGrpSpPr>
        <p:grpSpPr>
          <a:xfrm>
            <a:off x="4511548" y="2553598"/>
            <a:ext cx="4381743" cy="2195071"/>
            <a:chOff x="4762257" y="713236"/>
            <a:chExt cx="4381743" cy="219507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CCA0928-5B49-4166-D80C-D009B36DC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762257" y="713236"/>
              <a:ext cx="1085582" cy="106069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3C62DA4-11BF-CDDD-ED49-ECECF824D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8058418" y="713236"/>
              <a:ext cx="1085582" cy="1060696"/>
            </a:xfrm>
            <a:prstGeom prst="rect">
              <a:avLst/>
            </a:prstGeom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E260056-4072-79E7-947D-A929E5EC68E5}"/>
                </a:ext>
              </a:extLst>
            </p:cNvPr>
            <p:cNvCxnSpPr/>
            <p:nvPr/>
          </p:nvCxnSpPr>
          <p:spPr bwMode="auto">
            <a:xfrm>
              <a:off x="5702055" y="1243584"/>
              <a:ext cx="2508731" cy="0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08E7BB-15ED-22D1-AE37-EF5FF52C45C5}"/>
                </a:ext>
              </a:extLst>
            </p:cNvPr>
            <p:cNvSpPr txBox="1"/>
            <p:nvPr/>
          </p:nvSpPr>
          <p:spPr>
            <a:xfrm>
              <a:off x="6266696" y="824522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IBM Plex Sans" charset="0"/>
                  <a:ea typeface="IBM Plex Sans" charset="0"/>
                  <a:cs typeface="IBM Plex Sans" charset="0"/>
                </a:rPr>
                <a:t>NLIP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28839D-D09A-5712-B264-CF0D75D8F58A}"/>
                </a:ext>
              </a:extLst>
            </p:cNvPr>
            <p:cNvSpPr txBox="1"/>
            <p:nvPr/>
          </p:nvSpPr>
          <p:spPr>
            <a:xfrm>
              <a:off x="4796096" y="1954200"/>
              <a:ext cx="188384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rPr>
                <a:t>{</a:t>
              </a:r>
            </a:p>
            <a:p>
              <a:pPr algn="l"/>
              <a:r>
                <a:rPr lang="en-US" sz="1400" dirty="0">
                  <a:latin typeface="IBM Plex Sans" charset="0"/>
                  <a:ea typeface="IBM Plex Sans" charset="0"/>
                  <a:cs typeface="IBM Plex Sans" charset="0"/>
                </a:rPr>
                <a:t>   “host”: “localhost”,</a:t>
              </a:r>
            </a:p>
            <a:p>
              <a:pPr algn="l"/>
              <a:r>
                <a:rPr lang="en-US" sz="1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rPr>
                <a:t>   “port” : 8000</a:t>
              </a:r>
            </a:p>
            <a:p>
              <a:pPr algn="l"/>
              <a:r>
                <a:rPr lang="en-US" sz="1400" dirty="0">
                  <a:latin typeface="IBM Plex Sans" charset="0"/>
                  <a:ea typeface="IBM Plex Sans" charset="0"/>
                  <a:cs typeface="IBM Plex Sans" charset="0"/>
                </a:rPr>
                <a:t>}</a:t>
              </a:r>
              <a:endPara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endParaRPr>
            </a:p>
          </p:txBody>
        </p:sp>
        <p:sp>
          <p:nvSpPr>
            <p:cNvPr id="23" name="Vertical Scroll 22">
              <a:extLst>
                <a:ext uri="{FF2B5EF4-FFF2-40B4-BE49-F238E27FC236}">
                  <a16:creationId xmlns:a16="http://schemas.microsoft.com/office/drawing/2014/main" id="{638EEA23-9717-4171-1A79-50379160E428}"/>
                </a:ext>
              </a:extLst>
            </p:cNvPr>
            <p:cNvSpPr/>
            <p:nvPr/>
          </p:nvSpPr>
          <p:spPr bwMode="auto">
            <a:xfrm>
              <a:off x="4979312" y="1773932"/>
              <a:ext cx="508000" cy="345621"/>
            </a:xfrm>
            <a:prstGeom prst="verticalScroll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24" name="Vertical Scroll 23">
              <a:extLst>
                <a:ext uri="{FF2B5EF4-FFF2-40B4-BE49-F238E27FC236}">
                  <a16:creationId xmlns:a16="http://schemas.microsoft.com/office/drawing/2014/main" id="{1514508F-757D-0986-43EB-F5415B04115E}"/>
                </a:ext>
              </a:extLst>
            </p:cNvPr>
            <p:cNvSpPr/>
            <p:nvPr/>
          </p:nvSpPr>
          <p:spPr bwMode="auto">
            <a:xfrm>
              <a:off x="8282458" y="1817305"/>
              <a:ext cx="508000" cy="345621"/>
            </a:xfrm>
            <a:prstGeom prst="verticalScroll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25" name="Vertical Scroll 24">
              <a:extLst>
                <a:ext uri="{FF2B5EF4-FFF2-40B4-BE49-F238E27FC236}">
                  <a16:creationId xmlns:a16="http://schemas.microsoft.com/office/drawing/2014/main" id="{608F55AC-A339-9A46-E123-31C6A0EAF866}"/>
                </a:ext>
              </a:extLst>
            </p:cNvPr>
            <p:cNvSpPr/>
            <p:nvPr/>
          </p:nvSpPr>
          <p:spPr bwMode="auto">
            <a:xfrm>
              <a:off x="6702420" y="1304169"/>
              <a:ext cx="508000" cy="345621"/>
            </a:xfrm>
            <a:prstGeom prst="verticalScroll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BM Plex Sans" panose="020B0503050203000203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DE02DBF-57B9-B91B-21CB-51F814A0C913}"/>
              </a:ext>
            </a:extLst>
          </p:cNvPr>
          <p:cNvSpPr txBox="1"/>
          <p:nvPr/>
        </p:nvSpPr>
        <p:spPr>
          <a:xfrm>
            <a:off x="6845829" y="3857182"/>
            <a:ext cx="22284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{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“</a:t>
            </a:r>
            <a:r>
              <a:rPr lang="en-US" sz="1400" dirty="0" err="1">
                <a:latin typeface="IBM Plex Sans" charset="0"/>
                <a:ea typeface="IBM Plex Sans" charset="0"/>
                <a:cs typeface="IBM Plex Sans" charset="0"/>
              </a:rPr>
              <a:t>url</a:t>
            </a:r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”: “localhost:</a:t>
            </a:r>
            <a:r>
              <a:rPr lang="en-US" sz="1400">
                <a:latin typeface="IBM Plex Sans" charset="0"/>
                <a:ea typeface="IBM Plex Sans" charset="0"/>
                <a:cs typeface="IBM Plex Sans" charset="0"/>
              </a:rPr>
              <a:t>8000”</a:t>
            </a:r>
            <a:endParaRPr lang="en-US" sz="1400" dirty="0">
              <a:latin typeface="IBM Plex Sans" charset="0"/>
              <a:ea typeface="IBM Plex Sans" charset="0"/>
              <a:cs typeface="IBM Plex Sans" charset="0"/>
            </a:endParaRP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}</a:t>
            </a:r>
            <a:endParaRPr lang="en-US" sz="140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6697E8-6C28-19D0-3CD9-C3584E9A14F8}"/>
              </a:ext>
            </a:extLst>
          </p:cNvPr>
          <p:cNvSpPr txBox="1"/>
          <p:nvPr/>
        </p:nvSpPr>
        <p:spPr>
          <a:xfrm>
            <a:off x="5368514" y="2495464"/>
            <a:ext cx="2252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IBM Plex Sans" charset="0"/>
                <a:ea typeface="IBM Plex Sans" charset="0"/>
                <a:cs typeface="IBM Plex Sans" charset="0"/>
              </a:rPr>
              <a:t>Structure Independence</a:t>
            </a:r>
            <a:endParaRPr lang="en-US" sz="1400" b="1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A475B0-F500-BACF-E5EF-5F03FE6BF97D}"/>
              </a:ext>
            </a:extLst>
          </p:cNvPr>
          <p:cNvSpPr txBox="1"/>
          <p:nvPr/>
        </p:nvSpPr>
        <p:spPr>
          <a:xfrm>
            <a:off x="5315375" y="3471256"/>
            <a:ext cx="2863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I am running on port 8000 locally</a:t>
            </a:r>
            <a:endParaRPr lang="en-US" sz="140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679F6A-1CE3-DDC5-05BA-98DBB01EB3C5}"/>
              </a:ext>
            </a:extLst>
          </p:cNvPr>
          <p:cNvSpPr txBox="1"/>
          <p:nvPr/>
        </p:nvSpPr>
        <p:spPr>
          <a:xfrm>
            <a:off x="1451429" y="4779003"/>
            <a:ext cx="5941957" cy="30777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One can view it as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ea typeface="IBM Plex Sans" charset="0"/>
                <a:cs typeface="Courier New" panose="02070309020205020404" pitchFamily="49" charset="0"/>
              </a:rPr>
              <a:t>htons</a:t>
            </a:r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 and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ea typeface="IBM Plex Sans" charset="0"/>
                <a:cs typeface="Courier New" panose="02070309020205020404" pitchFamily="49" charset="0"/>
              </a:rPr>
              <a:t>noths</a:t>
            </a:r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 on steroids using generative AI.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7AB4FED-8F7D-7104-91E7-F6340AA73780}"/>
              </a:ext>
            </a:extLst>
          </p:cNvPr>
          <p:cNvCxnSpPr/>
          <p:nvPr/>
        </p:nvCxnSpPr>
        <p:spPr bwMode="auto">
          <a:xfrm>
            <a:off x="4393191" y="2495464"/>
            <a:ext cx="45498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lgDash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339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8F316-C896-D420-5FD7-F0FCE05E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NLIP Example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0204A-03CA-7C71-B5E0-266AD82621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NLIP can be used to interoperate among services that have different versions of internal representation?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Service R is a registration service: </a:t>
            </a:r>
          </a:p>
          <a:p>
            <a:pPr lvl="2"/>
            <a:r>
              <a:rPr lang="en-US" dirty="0"/>
              <a:t>Each registered agent has fields id, URI and Idempotency</a:t>
            </a:r>
          </a:p>
          <a:p>
            <a:pPr lvl="1"/>
            <a:r>
              <a:rPr lang="en-US" dirty="0"/>
              <a:t>Agent A does not support idempotency field </a:t>
            </a:r>
          </a:p>
          <a:p>
            <a:pPr lvl="2"/>
            <a:r>
              <a:rPr lang="en-US" dirty="0"/>
              <a:t>Initial registration does not contain information about it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3D94C-7DC8-AC54-D1DA-CFBCC2010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5C444-BAB1-37AF-EB94-945C8873D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004956" y="495524"/>
            <a:ext cx="1085582" cy="1060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584EB-2D52-519B-E1F7-63F6A432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01117" y="495524"/>
            <a:ext cx="1085582" cy="1060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7E02D-9B7B-8ECC-8D2B-FD52E24F2BD1}"/>
              </a:ext>
            </a:extLst>
          </p:cNvPr>
          <p:cNvSpPr txBox="1"/>
          <p:nvPr/>
        </p:nvSpPr>
        <p:spPr>
          <a:xfrm>
            <a:off x="4295242" y="261259"/>
            <a:ext cx="814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Agent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C17BEE-5B60-02B4-4ED7-DA1786AB08E0}"/>
              </a:ext>
            </a:extLst>
          </p:cNvPr>
          <p:cNvSpPr txBox="1"/>
          <p:nvPr/>
        </p:nvSpPr>
        <p:spPr>
          <a:xfrm>
            <a:off x="7433923" y="276869"/>
            <a:ext cx="915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Registrar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26E9D7-8F70-9E25-0208-4DBCF1EB9A59}"/>
              </a:ext>
            </a:extLst>
          </p:cNvPr>
          <p:cNvCxnSpPr>
            <a:cxnSpLocks/>
          </p:cNvCxnSpPr>
          <p:nvPr/>
        </p:nvCxnSpPr>
        <p:spPr bwMode="auto">
          <a:xfrm>
            <a:off x="4702565" y="1857831"/>
            <a:ext cx="232235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630A86-FB9F-659E-CBC4-4F05DF852BA5}"/>
              </a:ext>
            </a:extLst>
          </p:cNvPr>
          <p:cNvSpPr txBox="1"/>
          <p:nvPr/>
        </p:nvSpPr>
        <p:spPr>
          <a:xfrm>
            <a:off x="4910243" y="1550054"/>
            <a:ext cx="2114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I am A running on URI 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C6EA95-1F34-23D0-6135-688EC953D364}"/>
              </a:ext>
            </a:extLst>
          </p:cNvPr>
          <p:cNvSpPr txBox="1"/>
          <p:nvPr/>
        </p:nvSpPr>
        <p:spPr>
          <a:xfrm>
            <a:off x="7534542" y="1471389"/>
            <a:ext cx="125867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{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“ID”:”A”,</a:t>
            </a:r>
            <a:br>
              <a:rPr lang="en-US" sz="1400" dirty="0"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“URI”: “U”,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“idem”: “X”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}</a:t>
            </a:r>
            <a:endParaRPr lang="en-US" sz="140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29C425-AF40-8DBE-530B-A5B606F9D285}"/>
              </a:ext>
            </a:extLst>
          </p:cNvPr>
          <p:cNvCxnSpPr>
            <a:cxnSpLocks/>
          </p:cNvCxnSpPr>
          <p:nvPr/>
        </p:nvCxnSpPr>
        <p:spPr bwMode="auto">
          <a:xfrm flipH="1">
            <a:off x="4806403" y="2767696"/>
            <a:ext cx="232235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11C56F-0697-29C0-6E54-2B60B46536F7}"/>
              </a:ext>
            </a:extLst>
          </p:cNvPr>
          <p:cNvSpPr txBox="1"/>
          <p:nvPr/>
        </p:nvSpPr>
        <p:spPr>
          <a:xfrm>
            <a:off x="4582169" y="2432722"/>
            <a:ext cx="2858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Are your operations Idempotent?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F087ED-36D0-6F44-B845-B2786E0E01E7}"/>
              </a:ext>
            </a:extLst>
          </p:cNvPr>
          <p:cNvCxnSpPr>
            <a:cxnSpLocks/>
          </p:cNvCxnSpPr>
          <p:nvPr/>
        </p:nvCxnSpPr>
        <p:spPr bwMode="auto">
          <a:xfrm>
            <a:off x="4702564" y="3531492"/>
            <a:ext cx="232235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5779A1-6457-5720-A839-43CC5C86BE5F}"/>
              </a:ext>
            </a:extLst>
          </p:cNvPr>
          <p:cNvSpPr txBox="1"/>
          <p:nvPr/>
        </p:nvSpPr>
        <p:spPr>
          <a:xfrm>
            <a:off x="4487476" y="3178368"/>
            <a:ext cx="2802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I can not interpret your message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561429-771C-D942-8E75-F8151C134C67}"/>
              </a:ext>
            </a:extLst>
          </p:cNvPr>
          <p:cNvSpPr txBox="1"/>
          <p:nvPr/>
        </p:nvSpPr>
        <p:spPr>
          <a:xfrm>
            <a:off x="7534542" y="2812809"/>
            <a:ext cx="170431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{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  “ID”:”A”,</a:t>
            </a:r>
            <a:br>
              <a:rPr lang="en-US" sz="1400" dirty="0"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  “URI”: “U”,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   “idem”: “False”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}</a:t>
            </a:r>
            <a:endParaRPr lang="en-US" sz="140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5AA1308-8E00-7594-71AE-10C82A0C6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703" y="1708552"/>
            <a:ext cx="386578" cy="235529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26EB1C1-F0C0-D13E-8D6A-44D4AE45A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355" y="3213302"/>
            <a:ext cx="386578" cy="235529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4BCDCB-6399-3E77-1466-728E87828667}"/>
              </a:ext>
            </a:extLst>
          </p:cNvPr>
          <p:cNvCxnSpPr>
            <a:cxnSpLocks/>
          </p:cNvCxnSpPr>
          <p:nvPr/>
        </p:nvCxnSpPr>
        <p:spPr bwMode="auto">
          <a:xfrm flipH="1">
            <a:off x="4764242" y="4172859"/>
            <a:ext cx="232235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DBA5F51-0A52-BB15-AC60-F19764311F5F}"/>
              </a:ext>
            </a:extLst>
          </p:cNvPr>
          <p:cNvSpPr txBox="1"/>
          <p:nvPr/>
        </p:nvSpPr>
        <p:spPr>
          <a:xfrm>
            <a:off x="4295242" y="4235956"/>
            <a:ext cx="4567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You are A with URI U and do not support idempotency.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AEF147-E083-9A80-3724-2B46F98216E2}"/>
              </a:ext>
            </a:extLst>
          </p:cNvPr>
          <p:cNvCxnSpPr>
            <a:cxnSpLocks/>
          </p:cNvCxnSpPr>
          <p:nvPr/>
        </p:nvCxnSpPr>
        <p:spPr bwMode="auto">
          <a:xfrm>
            <a:off x="4817057" y="4631046"/>
            <a:ext cx="232235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EE7252B-97EF-85D3-8B16-D41B1265D549}"/>
              </a:ext>
            </a:extLst>
          </p:cNvPr>
          <p:cNvSpPr txBox="1"/>
          <p:nvPr/>
        </p:nvSpPr>
        <p:spPr>
          <a:xfrm>
            <a:off x="4846086" y="4682768"/>
            <a:ext cx="1385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That is correct.</a:t>
            </a:r>
          </a:p>
        </p:txBody>
      </p:sp>
    </p:spTree>
    <p:extLst>
      <p:ext uri="{BB962C8B-B14F-4D97-AF65-F5344CB8AC3E}">
        <p14:creationId xmlns:p14="http://schemas.microsoft.com/office/powerpoint/2010/main" val="164193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19" grpId="0"/>
      <p:bldP spid="20" grpId="0"/>
      <p:bldP spid="24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87539-74D1-AB96-D940-1D4164C5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294F-37FF-E166-C668-2C8FE1237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NLIP Example (contd.)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A493F-7C53-CB97-5F4C-B4E7A46F01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NLIP can be used to interoperate among services that have different versions of internal representation?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Service R is a registration service: </a:t>
            </a:r>
          </a:p>
          <a:p>
            <a:pPr lvl="2"/>
            <a:r>
              <a:rPr lang="en-US" dirty="0"/>
              <a:t>Each registered agent has fields URI and Idempotency</a:t>
            </a:r>
          </a:p>
          <a:p>
            <a:pPr lvl="1"/>
            <a:r>
              <a:rPr lang="en-US" dirty="0"/>
              <a:t>Agent B supports idempotency field </a:t>
            </a:r>
          </a:p>
          <a:p>
            <a:pPr lvl="2"/>
            <a:r>
              <a:rPr lang="en-US" dirty="0"/>
              <a:t>But LLM of R fails to interpret it correctly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180E0-CE90-6B41-40CE-FEE500F0A9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34E8E7-81EF-8F3B-FEC2-3B6C0525B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018019" y="990453"/>
            <a:ext cx="1085582" cy="1060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E7F422-70CA-6FEA-5BCB-00E7B257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14180" y="990453"/>
            <a:ext cx="1085582" cy="1060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B58724-70EA-8A3A-D5BE-6EAC9C3F5ED6}"/>
              </a:ext>
            </a:extLst>
          </p:cNvPr>
          <p:cNvSpPr txBox="1"/>
          <p:nvPr/>
        </p:nvSpPr>
        <p:spPr>
          <a:xfrm>
            <a:off x="4308305" y="756188"/>
            <a:ext cx="814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Agent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70A065-0FEC-16AD-6339-8591843A10EA}"/>
              </a:ext>
            </a:extLst>
          </p:cNvPr>
          <p:cNvSpPr txBox="1"/>
          <p:nvPr/>
        </p:nvSpPr>
        <p:spPr>
          <a:xfrm>
            <a:off x="7446986" y="771798"/>
            <a:ext cx="915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Registrar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905B7A-F603-4130-2936-6E96B0784881}"/>
              </a:ext>
            </a:extLst>
          </p:cNvPr>
          <p:cNvCxnSpPr>
            <a:cxnSpLocks/>
          </p:cNvCxnSpPr>
          <p:nvPr/>
        </p:nvCxnSpPr>
        <p:spPr bwMode="auto">
          <a:xfrm>
            <a:off x="4715628" y="2352760"/>
            <a:ext cx="232235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C2F640-C054-7BED-AC29-F7D7A8B3D8BC}"/>
              </a:ext>
            </a:extLst>
          </p:cNvPr>
          <p:cNvSpPr txBox="1"/>
          <p:nvPr/>
        </p:nvSpPr>
        <p:spPr>
          <a:xfrm>
            <a:off x="4715627" y="2002142"/>
            <a:ext cx="1728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I am idempotent B </a:t>
            </a:r>
            <a:b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running on URI 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6B8A82-AC64-A593-9A39-18FA3E5A405C}"/>
              </a:ext>
            </a:extLst>
          </p:cNvPr>
          <p:cNvSpPr txBox="1"/>
          <p:nvPr/>
        </p:nvSpPr>
        <p:spPr>
          <a:xfrm>
            <a:off x="7602268" y="1966318"/>
            <a:ext cx="157927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{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“ID”: “B”,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“URI”: “”V”,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“idem”: “False”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}</a:t>
            </a:r>
            <a:endParaRPr lang="en-US" sz="140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25D501-8805-BBBB-2CF3-62951FFE0677}"/>
              </a:ext>
            </a:extLst>
          </p:cNvPr>
          <p:cNvCxnSpPr>
            <a:cxnSpLocks/>
          </p:cNvCxnSpPr>
          <p:nvPr/>
        </p:nvCxnSpPr>
        <p:spPr bwMode="auto">
          <a:xfrm flipH="1">
            <a:off x="4819466" y="3589200"/>
            <a:ext cx="232235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58F7A8C-4E3A-1260-2592-D0E28DB7EB76}"/>
              </a:ext>
            </a:extLst>
          </p:cNvPr>
          <p:cNvSpPr txBox="1"/>
          <p:nvPr/>
        </p:nvSpPr>
        <p:spPr>
          <a:xfrm>
            <a:off x="4500539" y="3254226"/>
            <a:ext cx="47131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You are B running on V and do not support idempotency?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648093-7EC0-EC5F-160A-D8ABD4168E74}"/>
              </a:ext>
            </a:extLst>
          </p:cNvPr>
          <p:cNvCxnSpPr>
            <a:cxnSpLocks/>
          </p:cNvCxnSpPr>
          <p:nvPr/>
        </p:nvCxnSpPr>
        <p:spPr bwMode="auto">
          <a:xfrm>
            <a:off x="4715627" y="4352996"/>
            <a:ext cx="232235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478EC23-1DAF-246D-41DC-D5C984F3E9DC}"/>
              </a:ext>
            </a:extLst>
          </p:cNvPr>
          <p:cNvSpPr txBox="1"/>
          <p:nvPr/>
        </p:nvSpPr>
        <p:spPr>
          <a:xfrm>
            <a:off x="4500539" y="3999872"/>
            <a:ext cx="2020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I support idempotency</a:t>
            </a:r>
            <a:endParaRPr lang="en-US" sz="140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142FB2-F989-8A3A-7312-A979CDD35E5D}"/>
              </a:ext>
            </a:extLst>
          </p:cNvPr>
          <p:cNvSpPr txBox="1"/>
          <p:nvPr/>
        </p:nvSpPr>
        <p:spPr>
          <a:xfrm>
            <a:off x="7628389" y="3589200"/>
            <a:ext cx="151676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{</a:t>
            </a:r>
          </a:p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“ID”: “B”,</a:t>
            </a:r>
            <a:br>
              <a:rPr lang="en-US" sz="1400" dirty="0"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“URI”: “V,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   “idem”: “True”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}</a:t>
            </a:r>
            <a:endParaRPr lang="en-US" sz="1400" dirty="0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A34AED-985E-6C7C-B6C7-9DE52513B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766" y="2203481"/>
            <a:ext cx="386578" cy="235529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541CEBF-7244-9B5D-550F-837170CB2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418" y="4034806"/>
            <a:ext cx="386578" cy="235529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4754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893D-BC09-0854-6393-F398EFE63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NLIP and other Protocols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5D2F1-A20B-F552-0F8E-E1DF108580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3954" y="801210"/>
            <a:ext cx="5029199" cy="3667375"/>
          </a:xfrm>
        </p:spPr>
        <p:txBody>
          <a:bodyPr/>
          <a:lstStyle/>
          <a:p>
            <a:r>
              <a:rPr lang="en-US" dirty="0"/>
              <a:t>There are multiple single vendor protocols proposed for communication between AI agents</a:t>
            </a:r>
          </a:p>
          <a:p>
            <a:pPr lvl="1"/>
            <a:r>
              <a:rPr lang="en-US" dirty="0"/>
              <a:t>Google A2A, Cisco </a:t>
            </a:r>
            <a:r>
              <a:rPr lang="en-US" dirty="0" err="1"/>
              <a:t>AgentC</a:t>
            </a:r>
            <a:r>
              <a:rPr lang="en-US" dirty="0"/>
              <a:t>, Anthropic MCP, IBM ACP plus others to emerge </a:t>
            </a:r>
          </a:p>
          <a:p>
            <a:r>
              <a:rPr lang="en-US" dirty="0"/>
              <a:t>NLIP can interoperate with them in two ways </a:t>
            </a:r>
          </a:p>
          <a:p>
            <a:pPr lvl="1"/>
            <a:r>
              <a:rPr lang="en-US" dirty="0"/>
              <a:t>A: NLIP provides Northbound API, Vendor Protocol provides Southbound API </a:t>
            </a:r>
          </a:p>
          <a:p>
            <a:pPr lvl="2"/>
            <a:r>
              <a:rPr lang="en-US" dirty="0"/>
              <a:t>Using a LLM to support translation will be relatively easy</a:t>
            </a:r>
          </a:p>
          <a:p>
            <a:pPr lvl="1"/>
            <a:r>
              <a:rPr lang="en-US" dirty="0"/>
              <a:t>B: NLIP provides interoperability across different domains of single vendor protocols </a:t>
            </a:r>
          </a:p>
          <a:p>
            <a:pPr lvl="2"/>
            <a:r>
              <a:rPr lang="en-US" dirty="0"/>
              <a:t>Each domain may have multiple agents </a:t>
            </a:r>
          </a:p>
          <a:p>
            <a:r>
              <a:rPr lang="en-US" dirty="0"/>
              <a:t>Eventually, the industry should converge to an open standard protocol such as NLIP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94ED0-01D1-EE80-CB87-1FB295CCD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97A5C1-7958-4B68-FE62-F024A6B28993}"/>
              </a:ext>
            </a:extLst>
          </p:cNvPr>
          <p:cNvSpPr/>
          <p:nvPr/>
        </p:nvSpPr>
        <p:spPr bwMode="auto">
          <a:xfrm>
            <a:off x="6375401" y="1533870"/>
            <a:ext cx="1422400" cy="5950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Translation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Agent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8F99D4-CF08-4DA4-0CC8-8AE99D235EFD}"/>
              </a:ext>
            </a:extLst>
          </p:cNvPr>
          <p:cNvCxnSpPr>
            <a:endCxn id="6" idx="0"/>
          </p:cNvCxnSpPr>
          <p:nvPr/>
        </p:nvCxnSpPr>
        <p:spPr bwMode="auto">
          <a:xfrm>
            <a:off x="7086601" y="827314"/>
            <a:ext cx="0" cy="7065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94FF2B-71B2-FEF8-143A-71F77D13BEA3}"/>
              </a:ext>
            </a:extLst>
          </p:cNvPr>
          <p:cNvSpPr txBox="1"/>
          <p:nvPr/>
        </p:nvSpPr>
        <p:spPr>
          <a:xfrm>
            <a:off x="7119225" y="102670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NLIP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B21830-CE82-D07A-2C78-2D2A215549A3}"/>
              </a:ext>
            </a:extLst>
          </p:cNvPr>
          <p:cNvCxnSpPr/>
          <p:nvPr/>
        </p:nvCxnSpPr>
        <p:spPr bwMode="auto">
          <a:xfrm>
            <a:off x="7086601" y="2128956"/>
            <a:ext cx="0" cy="7065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CA8E0E1-63DA-8570-CA41-89732E0754B0}"/>
              </a:ext>
            </a:extLst>
          </p:cNvPr>
          <p:cNvSpPr txBox="1"/>
          <p:nvPr/>
        </p:nvSpPr>
        <p:spPr>
          <a:xfrm>
            <a:off x="7184540" y="2311217"/>
            <a:ext cx="2018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Single Vendor Protocol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8245A-74F4-8333-6CE4-FF48FDA41B48}"/>
              </a:ext>
            </a:extLst>
          </p:cNvPr>
          <p:cNvSpPr txBox="1"/>
          <p:nvPr/>
        </p:nvSpPr>
        <p:spPr>
          <a:xfrm>
            <a:off x="5423895" y="827314"/>
            <a:ext cx="808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Mode A</a:t>
            </a:r>
          </a:p>
        </p:txBody>
      </p:sp>
      <p:pic>
        <p:nvPicPr>
          <p:cNvPr id="14" name="Graphic 13" descr="Cloud outline">
            <a:extLst>
              <a:ext uri="{FF2B5EF4-FFF2-40B4-BE49-F238E27FC236}">
                <a16:creationId xmlns:a16="http://schemas.microsoft.com/office/drawing/2014/main" id="{FFE1B200-1753-8920-EB1A-DE906450A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5401" y="3135770"/>
            <a:ext cx="1422399" cy="1422399"/>
          </a:xfrm>
          <a:prstGeom prst="rect">
            <a:avLst/>
          </a:prstGeom>
        </p:spPr>
      </p:pic>
      <p:pic>
        <p:nvPicPr>
          <p:cNvPr id="15" name="Graphic 14" descr="Cloud outline">
            <a:extLst>
              <a:ext uri="{FF2B5EF4-FFF2-40B4-BE49-F238E27FC236}">
                <a16:creationId xmlns:a16="http://schemas.microsoft.com/office/drawing/2014/main" id="{D39FAA7E-CD55-EFF5-07A2-2F0987676B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5402" y="3757386"/>
            <a:ext cx="1422399" cy="1422399"/>
          </a:xfrm>
          <a:prstGeom prst="rect">
            <a:avLst/>
          </a:prstGeom>
        </p:spPr>
      </p:pic>
      <p:pic>
        <p:nvPicPr>
          <p:cNvPr id="16" name="Graphic 15" descr="Cloud outline">
            <a:extLst>
              <a:ext uri="{FF2B5EF4-FFF2-40B4-BE49-F238E27FC236}">
                <a16:creationId xmlns:a16="http://schemas.microsoft.com/office/drawing/2014/main" id="{C60E6554-7E94-9062-6B52-04FA4FEB90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4545" y="3900714"/>
            <a:ext cx="1422399" cy="1422399"/>
          </a:xfrm>
          <a:prstGeom prst="rect">
            <a:avLst/>
          </a:prstGeom>
        </p:spPr>
      </p:pic>
      <p:pic>
        <p:nvPicPr>
          <p:cNvPr id="17" name="Graphic 16" descr="Cloud outline">
            <a:extLst>
              <a:ext uri="{FF2B5EF4-FFF2-40B4-BE49-F238E27FC236}">
                <a16:creationId xmlns:a16="http://schemas.microsoft.com/office/drawing/2014/main" id="{3005E1F1-1031-AD12-0F11-45D030C52B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5400" y="3818890"/>
            <a:ext cx="1422399" cy="14223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11B47F-F181-2D4F-DCA5-E280F8C76417}"/>
              </a:ext>
            </a:extLst>
          </p:cNvPr>
          <p:cNvSpPr txBox="1"/>
          <p:nvPr/>
        </p:nvSpPr>
        <p:spPr>
          <a:xfrm>
            <a:off x="4881433" y="4786053"/>
            <a:ext cx="1585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Vendor A Domain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428334-4432-ECA5-439B-ADB483DA8794}"/>
              </a:ext>
            </a:extLst>
          </p:cNvPr>
          <p:cNvSpPr txBox="1"/>
          <p:nvPr/>
        </p:nvSpPr>
        <p:spPr>
          <a:xfrm>
            <a:off x="7572097" y="4910959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Vendor B Domain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F69F23-E8CB-F0EA-2AE3-447FDA1DD47D}"/>
              </a:ext>
            </a:extLst>
          </p:cNvPr>
          <p:cNvSpPr txBox="1"/>
          <p:nvPr/>
        </p:nvSpPr>
        <p:spPr>
          <a:xfrm>
            <a:off x="6325578" y="3207096"/>
            <a:ext cx="1582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Vendor C Domain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0475FB-8D40-E3A5-9BDB-877927E06740}"/>
              </a:ext>
            </a:extLst>
          </p:cNvPr>
          <p:cNvSpPr txBox="1"/>
          <p:nvPr/>
        </p:nvSpPr>
        <p:spPr>
          <a:xfrm>
            <a:off x="6756317" y="4421264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NLIP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73723C-7E1A-B07A-9A57-1C765721450D}"/>
              </a:ext>
            </a:extLst>
          </p:cNvPr>
          <p:cNvCxnSpPr/>
          <p:nvPr/>
        </p:nvCxnSpPr>
        <p:spPr bwMode="auto">
          <a:xfrm>
            <a:off x="5373506" y="3000321"/>
            <a:ext cx="3491438" cy="0"/>
          </a:xfrm>
          <a:prstGeom prst="line">
            <a:avLst/>
          </a:prstGeom>
          <a:ln w="38100">
            <a:solidFill>
              <a:schemeClr val="bg2">
                <a:lumMod val="40000"/>
                <a:lumOff val="6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35EC47E-CF79-AAEC-960D-A3D6A24EFEF2}"/>
              </a:ext>
            </a:extLst>
          </p:cNvPr>
          <p:cNvSpPr txBox="1"/>
          <p:nvPr/>
        </p:nvSpPr>
        <p:spPr>
          <a:xfrm>
            <a:off x="5286461" y="3048562"/>
            <a:ext cx="808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Mode B</a:t>
            </a:r>
          </a:p>
        </p:txBody>
      </p:sp>
    </p:spTree>
    <p:extLst>
      <p:ext uri="{BB962C8B-B14F-4D97-AF65-F5344CB8AC3E}">
        <p14:creationId xmlns:p14="http://schemas.microsoft.com/office/powerpoint/2010/main" val="866694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66D4-3035-C9B4-5287-9431C1C2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NLIP Messages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07498-96FC-86D7-E531-B977085B57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9456" y="603504"/>
            <a:ext cx="4315214" cy="4539996"/>
          </a:xfrm>
        </p:spPr>
        <p:txBody>
          <a:bodyPr/>
          <a:lstStyle/>
          <a:p>
            <a:r>
              <a:rPr lang="en-US" dirty="0"/>
              <a:t>The basic structure of an NLP Exchange is a Sub-Message</a:t>
            </a:r>
          </a:p>
          <a:p>
            <a:pPr lvl="1"/>
            <a:r>
              <a:rPr lang="en-US" dirty="0"/>
              <a:t>Format: whether content is text, structured content, image etc. </a:t>
            </a:r>
          </a:p>
          <a:p>
            <a:pPr lvl="1"/>
            <a:r>
              <a:rPr lang="en-US" dirty="0" err="1"/>
              <a:t>Subformat</a:t>
            </a:r>
            <a:r>
              <a:rPr lang="en-US" dirty="0"/>
              <a:t>: Specialization of format, e.g. language for text, encoding for images etc.</a:t>
            </a:r>
          </a:p>
          <a:p>
            <a:pPr lvl="1"/>
            <a:r>
              <a:rPr lang="en-US" dirty="0"/>
              <a:t>Content: The actual content </a:t>
            </a:r>
          </a:p>
          <a:p>
            <a:pPr lvl="1"/>
            <a:r>
              <a:rPr lang="en-US" dirty="0"/>
              <a:t>A label field which is a string</a:t>
            </a:r>
          </a:p>
          <a:p>
            <a:r>
              <a:rPr lang="en-US" dirty="0"/>
              <a:t>NLIP Request and Response Messages consist of a sequence of sub-messages. </a:t>
            </a:r>
          </a:p>
          <a:p>
            <a:pPr lvl="1"/>
            <a:r>
              <a:rPr lang="en-US" dirty="0"/>
              <a:t>And indicates type of messages (control/data/general)</a:t>
            </a:r>
          </a:p>
          <a:p>
            <a:pPr lvl="2"/>
            <a:r>
              <a:rPr lang="en-US" dirty="0"/>
              <a:t>A control message could inquire about policies of the service, configuration exchange etc.  </a:t>
            </a: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AC518-D9DD-429A-D1EC-48C5731F86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1457" y="693267"/>
            <a:ext cx="4133087" cy="907355"/>
          </a:xfrm>
        </p:spPr>
        <p:txBody>
          <a:bodyPr/>
          <a:lstStyle/>
          <a:p>
            <a:r>
              <a:rPr lang="en-US" dirty="0"/>
              <a:t>Since most messages will have only one sub-message, the NLIP message contains the first format, </a:t>
            </a:r>
            <a:r>
              <a:rPr lang="en-US" dirty="0" err="1"/>
              <a:t>subformat</a:t>
            </a:r>
            <a:r>
              <a:rPr lang="en-US" dirty="0"/>
              <a:t>, content and optional message at very top.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560EA-9982-B559-0BD0-E51194C77E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62F757C-3606-F03D-0C7A-8C8535205170}"/>
              </a:ext>
            </a:extLst>
          </p:cNvPr>
          <p:cNvGrpSpPr/>
          <p:nvPr/>
        </p:nvGrpSpPr>
        <p:grpSpPr>
          <a:xfrm>
            <a:off x="4911439" y="2050757"/>
            <a:ext cx="3636785" cy="3211698"/>
            <a:chOff x="4800602" y="1601129"/>
            <a:chExt cx="3636785" cy="321169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3D5CEDF-9085-236B-D3D0-FF64AF21D317}"/>
                </a:ext>
              </a:extLst>
            </p:cNvPr>
            <p:cNvGrpSpPr/>
            <p:nvPr/>
          </p:nvGrpSpPr>
          <p:grpSpPr>
            <a:xfrm>
              <a:off x="6913387" y="3137916"/>
              <a:ext cx="1524000" cy="914400"/>
              <a:chOff x="5126182" y="2521527"/>
              <a:chExt cx="1524000" cy="9144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49BCF4-50D7-2CEB-8881-65281775101C}"/>
                  </a:ext>
                </a:extLst>
              </p:cNvPr>
              <p:cNvSpPr txBox="1"/>
              <p:nvPr/>
            </p:nvSpPr>
            <p:spPr>
              <a:xfrm>
                <a:off x="5126182" y="2521527"/>
                <a:ext cx="1524000" cy="30777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Format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A621FF-DC78-A4D0-33FF-BB7BE5BB9D0F}"/>
                  </a:ext>
                </a:extLst>
              </p:cNvPr>
              <p:cNvSpPr txBox="1"/>
              <p:nvPr/>
            </p:nvSpPr>
            <p:spPr>
              <a:xfrm>
                <a:off x="5126182" y="2826327"/>
                <a:ext cx="1524000" cy="30777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Subformat</a:t>
                </a:r>
                <a:endParaRPr lang="en-US" sz="1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C237CE-650C-513E-163B-366517248C2F}"/>
                  </a:ext>
                </a:extLst>
              </p:cNvPr>
              <p:cNvSpPr txBox="1"/>
              <p:nvPr/>
            </p:nvSpPr>
            <p:spPr>
              <a:xfrm>
                <a:off x="5126182" y="3128150"/>
                <a:ext cx="1524000" cy="30777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Content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331DBF7-375B-656E-12ED-EC64470D3DF8}"/>
                </a:ext>
              </a:extLst>
            </p:cNvPr>
            <p:cNvGrpSpPr/>
            <p:nvPr/>
          </p:nvGrpSpPr>
          <p:grpSpPr>
            <a:xfrm>
              <a:off x="4800602" y="1655454"/>
              <a:ext cx="1524000" cy="1792838"/>
              <a:chOff x="5126182" y="1960254"/>
              <a:chExt cx="1524000" cy="1792838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A9ECA2-4CFB-DD00-A67B-2E2A6DB794BE}"/>
                  </a:ext>
                </a:extLst>
              </p:cNvPr>
              <p:cNvSpPr txBox="1"/>
              <p:nvPr/>
            </p:nvSpPr>
            <p:spPr>
              <a:xfrm>
                <a:off x="5126182" y="1960254"/>
                <a:ext cx="1524000" cy="3077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MessageType</a:t>
                </a:r>
                <a:endParaRPr lang="en-US" sz="1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8601A2-F15E-3B7E-A903-ABA240EECFB7}"/>
                  </a:ext>
                </a:extLst>
              </p:cNvPr>
              <p:cNvSpPr txBox="1"/>
              <p:nvPr/>
            </p:nvSpPr>
            <p:spPr>
              <a:xfrm>
                <a:off x="5126182" y="2265054"/>
                <a:ext cx="1524000" cy="3077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Format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CF338E-6312-209A-216F-D85C26901BCC}"/>
                  </a:ext>
                </a:extLst>
              </p:cNvPr>
              <p:cNvSpPr txBox="1"/>
              <p:nvPr/>
            </p:nvSpPr>
            <p:spPr>
              <a:xfrm>
                <a:off x="5126182" y="2569854"/>
                <a:ext cx="1524000" cy="3077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Subformat</a:t>
                </a:r>
                <a:endParaRPr lang="en-US" sz="1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6D2B5B-1760-AFA1-0CFA-A43A86C05AF0}"/>
                  </a:ext>
                </a:extLst>
              </p:cNvPr>
              <p:cNvSpPr txBox="1"/>
              <p:nvPr/>
            </p:nvSpPr>
            <p:spPr>
              <a:xfrm>
                <a:off x="5126182" y="2871677"/>
                <a:ext cx="1524000" cy="3077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Content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476FD6-FEEA-B168-0B21-DB3ACB869F1B}"/>
                  </a:ext>
                </a:extLst>
              </p:cNvPr>
              <p:cNvSpPr txBox="1"/>
              <p:nvPr/>
            </p:nvSpPr>
            <p:spPr>
              <a:xfrm>
                <a:off x="5126182" y="3445315"/>
                <a:ext cx="1524000" cy="3077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Submessages</a:t>
                </a:r>
                <a:endParaRPr lang="en-US" sz="1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FCBDEE0-3DBC-49AA-98DE-225D4E1C1F1D}"/>
                </a:ext>
              </a:extLst>
            </p:cNvPr>
            <p:cNvGrpSpPr/>
            <p:nvPr/>
          </p:nvGrpSpPr>
          <p:grpSpPr>
            <a:xfrm>
              <a:off x="6913387" y="1601129"/>
              <a:ext cx="1524000" cy="914400"/>
              <a:chOff x="5126182" y="1997422"/>
              <a:chExt cx="1524000" cy="914400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D3DDE6-C5ED-57D6-CFF9-53C9A6B4BE6F}"/>
                  </a:ext>
                </a:extLst>
              </p:cNvPr>
              <p:cNvSpPr txBox="1"/>
              <p:nvPr/>
            </p:nvSpPr>
            <p:spPr>
              <a:xfrm>
                <a:off x="5126182" y="1997422"/>
                <a:ext cx="1524000" cy="30777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Format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41BC8D-AF3C-1AA4-0023-ADCB072339E4}"/>
                  </a:ext>
                </a:extLst>
              </p:cNvPr>
              <p:cNvSpPr txBox="1"/>
              <p:nvPr/>
            </p:nvSpPr>
            <p:spPr>
              <a:xfrm>
                <a:off x="5126182" y="2302222"/>
                <a:ext cx="1524000" cy="30777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Subformat</a:t>
                </a:r>
                <a:endParaRPr lang="en-US" sz="1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16DB85-48B8-C7BC-D609-1B85FE5A2523}"/>
                  </a:ext>
                </a:extLst>
              </p:cNvPr>
              <p:cNvSpPr txBox="1"/>
              <p:nvPr/>
            </p:nvSpPr>
            <p:spPr>
              <a:xfrm>
                <a:off x="5126182" y="2604045"/>
                <a:ext cx="1524000" cy="30777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IBM Plex Sans" charset="0"/>
                    <a:ea typeface="IBM Plex Sans" charset="0"/>
                    <a:cs typeface="IBM Plex Sans" charset="0"/>
                  </a:rPr>
                  <a:t>Content</a:t>
                </a:r>
              </a:p>
            </p:txBody>
          </p:sp>
        </p:grp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4FEBB6A3-2EA9-E9D4-B6F2-71EB2AA75AD3}"/>
                </a:ext>
              </a:extLst>
            </p:cNvPr>
            <p:cNvCxnSpPr>
              <a:stCxn id="16" idx="3"/>
              <a:endCxn id="20" idx="1"/>
            </p:cNvCxnSpPr>
            <p:nvPr/>
          </p:nvCxnSpPr>
          <p:spPr bwMode="auto">
            <a:xfrm flipV="1">
              <a:off x="6324602" y="1755018"/>
              <a:ext cx="588785" cy="1539386"/>
            </a:xfrm>
            <a:prstGeom prst="bentConnector3">
              <a:avLst/>
            </a:prstGeom>
            <a:ln w="19050">
              <a:solidFill>
                <a:schemeClr val="tx1"/>
              </a:solidFill>
              <a:headEnd type="none" w="med" len="med"/>
              <a:tailEnd type="triangle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4BFA140-D591-C338-FE19-FD77CC4BC128}"/>
                </a:ext>
              </a:extLst>
            </p:cNvPr>
            <p:cNvSpPr txBox="1"/>
            <p:nvPr/>
          </p:nvSpPr>
          <p:spPr>
            <a:xfrm>
              <a:off x="7372373" y="3889497"/>
              <a:ext cx="8156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5400" dirty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rPr>
                <a:t>…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D3035EA-F8F1-022F-751D-B9DDC36EB08F}"/>
              </a:ext>
            </a:extLst>
          </p:cNvPr>
          <p:cNvSpPr txBox="1"/>
          <p:nvPr/>
        </p:nvSpPr>
        <p:spPr>
          <a:xfrm>
            <a:off x="4911439" y="3313600"/>
            <a:ext cx="1524000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Label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9EBF49-B48C-F88B-59E3-4B2403F99349}"/>
              </a:ext>
            </a:extLst>
          </p:cNvPr>
          <p:cNvSpPr txBox="1"/>
          <p:nvPr/>
        </p:nvSpPr>
        <p:spPr>
          <a:xfrm>
            <a:off x="7024224" y="2968134"/>
            <a:ext cx="152400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Label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DE10B3-5B5A-BF87-C319-F22A81E7C422}"/>
              </a:ext>
            </a:extLst>
          </p:cNvPr>
          <p:cNvSpPr txBox="1"/>
          <p:nvPr/>
        </p:nvSpPr>
        <p:spPr>
          <a:xfrm>
            <a:off x="7031660" y="4491532"/>
            <a:ext cx="1524000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98039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A396-7083-CCCC-B89D-FA4458BB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Set of NLIP Messages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96668-00FF-1059-D245-D8A67EB56B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E3FF0C-9D0F-DB12-D078-E68AB0909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693238"/>
              </p:ext>
            </p:extLst>
          </p:nvPr>
        </p:nvGraphicFramePr>
        <p:xfrm>
          <a:off x="381000" y="1005840"/>
          <a:ext cx="8534334" cy="349859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816100">
                  <a:extLst>
                    <a:ext uri="{9D8B030D-6E8A-4147-A177-3AD203B41FA5}">
                      <a16:colId xmlns:a16="http://schemas.microsoft.com/office/drawing/2014/main" val="1375400623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2854265567"/>
                    </a:ext>
                  </a:extLst>
                </a:gridCol>
                <a:gridCol w="3555934">
                  <a:extLst>
                    <a:ext uri="{9D8B030D-6E8A-4147-A177-3AD203B41FA5}">
                      <a16:colId xmlns:a16="http://schemas.microsoft.com/office/drawing/2014/main" val="2356212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Subformat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58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Language of text 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(e.g. English, French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Provides a hint to the other side, can be used for model selection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57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 opaque string – determined by token creator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Content is an opaque string – used by end-point to share information such as correlators or authentication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106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JSON, URI, XML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Content is structured format. 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Allows backward compatibility for display of graphical GUI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38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Encoding – image, video, sensor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Subformat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is content-type/encoding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376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Text or GPS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Coordinate if GPS, description if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111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Provided for future extensions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90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948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7310-DE55-0B77-B43D-C57CC2FE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NLIP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62B64-812D-629E-8E15-6DDEC55EB4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Standard Track Protocol </a:t>
            </a:r>
          </a:p>
          <a:p>
            <a:r>
              <a:rPr lang="en-US" dirty="0"/>
              <a:t>Secure by Design </a:t>
            </a:r>
          </a:p>
          <a:p>
            <a:r>
              <a:rPr lang="en-US" dirty="0"/>
              <a:t>Makes API Management Simple </a:t>
            </a:r>
          </a:p>
          <a:p>
            <a:r>
              <a:rPr lang="en-US" dirty="0"/>
              <a:t>Proven with various implementations and open source </a:t>
            </a:r>
          </a:p>
          <a:p>
            <a:r>
              <a:rPr lang="en-US" dirty="0"/>
              <a:t>LLM independent – Vendor Agnostic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4F5B8-AB7F-992F-F092-F7340C993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Call for Action</a:t>
            </a:r>
          </a:p>
          <a:p>
            <a:pPr lvl="1"/>
            <a:r>
              <a:rPr lang="en-US" dirty="0"/>
              <a:t>Check out the protocol </a:t>
            </a:r>
          </a:p>
          <a:p>
            <a:pPr lvl="2"/>
            <a:r>
              <a:rPr lang="en-US" dirty="0">
                <a:hlinkClick r:id="rId2"/>
              </a:rPr>
              <a:t>https://nlip-project.org</a:t>
            </a:r>
            <a:r>
              <a:rPr lang="en-US" dirty="0"/>
              <a:t> </a:t>
            </a:r>
          </a:p>
          <a:p>
            <a:r>
              <a:rPr lang="en-US" dirty="0"/>
              <a:t>Join the Initiative and Contribute </a:t>
            </a:r>
          </a:p>
          <a:p>
            <a:pPr lvl="1"/>
            <a:r>
              <a:rPr lang="en-US" dirty="0"/>
              <a:t>Develop NLIP based agents – building on the current efforts </a:t>
            </a:r>
          </a:p>
          <a:p>
            <a:pPr lvl="1"/>
            <a:r>
              <a:rPr lang="en-US" dirty="0"/>
              <a:t>Contribute to improving the NLIP standards </a:t>
            </a:r>
          </a:p>
          <a:p>
            <a:pPr lvl="2"/>
            <a:r>
              <a:rPr lang="en-US" dirty="0"/>
              <a:t>Join the group working on the protocols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E23B0-C5BA-2D2D-378D-2F86134D19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144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97F13-4EED-954D-FDC2-6DE8F0A9BD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25120"/>
      </p:ext>
    </p:extLst>
  </p:cSld>
  <p:clrMapOvr>
    <a:masterClrMapping/>
  </p:clrMapOvr>
</p:sld>
</file>

<file path=ppt/theme/theme1.xml><?xml version="1.0" encoding="utf-8"?>
<a:theme xmlns:a="http://schemas.openxmlformats.org/drawingml/2006/main" name="IBM 2019 Master template (white background)">
  <a:themeElements>
    <a:clrScheme name="Custom 1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0062FF"/>
      </a:hlink>
      <a:folHlink>
        <a:srgbClr val="6EA6F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9050">
          <a:solidFill>
            <a:schemeClr val="accent2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IBM Plex Sans" panose="020B0503050203000203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9" id="{28DF721E-C9F0-0847-B86E-13D5C840B5A5}" vid="{E444DE78-550C-CD4A-A50E-CB4B5ECAF34C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5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757575"/>
      </a:accent1>
      <a:accent2>
        <a:srgbClr val="0F6DFF"/>
      </a:accent2>
      <a:accent3>
        <a:srgbClr val="D6316C"/>
      </a:accent3>
      <a:accent4>
        <a:srgbClr val="914BFA"/>
      </a:accent4>
      <a:accent5>
        <a:srgbClr val="008280"/>
      </a:accent5>
      <a:accent6>
        <a:srgbClr val="6E757D"/>
      </a:accent6>
      <a:hlink>
        <a:srgbClr val="0E6FFF"/>
      </a:hlink>
      <a:folHlink>
        <a:srgbClr val="6BA5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HelvNeue Light for IBM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5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757575"/>
      </a:accent1>
      <a:accent2>
        <a:srgbClr val="0F6DFF"/>
      </a:accent2>
      <a:accent3>
        <a:srgbClr val="D6316C"/>
      </a:accent3>
      <a:accent4>
        <a:srgbClr val="914BFA"/>
      </a:accent4>
      <a:accent5>
        <a:srgbClr val="008280"/>
      </a:accent5>
      <a:accent6>
        <a:srgbClr val="6E757D"/>
      </a:accent6>
      <a:hlink>
        <a:srgbClr val="0E6FFF"/>
      </a:hlink>
      <a:folHlink>
        <a:srgbClr val="6BA5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HelvNeue Light for IBM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2019 Master template (white background)</Template>
  <TotalTime>7920</TotalTime>
  <Words>1196</Words>
  <Application>Microsoft Macintosh PowerPoint</Application>
  <PresentationFormat>On-screen Show (16:9)</PresentationFormat>
  <Paragraphs>214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.AppleSystemUIFont</vt:lpstr>
      <vt:lpstr>Arial</vt:lpstr>
      <vt:lpstr>Courier New</vt:lpstr>
      <vt:lpstr>HelvNeue Light for IBM</vt:lpstr>
      <vt:lpstr>IBM Plex Sans</vt:lpstr>
      <vt:lpstr>Stencil</vt:lpstr>
      <vt:lpstr>System Font Regular</vt:lpstr>
      <vt:lpstr>Wingdings</vt:lpstr>
      <vt:lpstr>IBM 2019 Master template (white background)</vt:lpstr>
      <vt:lpstr>Generative AI for API management using Natural Language Interaction Protocol   Presenter: Dinesh C. Verma  </vt:lpstr>
      <vt:lpstr>API Management </vt:lpstr>
      <vt:lpstr>Gen AI can enable a new common protocol for communication</vt:lpstr>
      <vt:lpstr>NLIP A New Protocol using Gen AI (nlip-project.org) </vt:lpstr>
      <vt:lpstr>NLIP Design: Using Generative AI to redefine computer communications</vt:lpstr>
      <vt:lpstr>Using NLIP Example </vt:lpstr>
      <vt:lpstr>Using NLIP Example (contd.) </vt:lpstr>
      <vt:lpstr>NLIP and other Protocols</vt:lpstr>
      <vt:lpstr>NLIP Messages</vt:lpstr>
      <vt:lpstr>Current Set of NLIP Messages</vt:lpstr>
      <vt:lpstr>Why NLIP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FOIL Overview   Foundation Models based Obstruction of Information Leakage </dc:title>
  <dc:creator>Dinesh Verma</dc:creator>
  <cp:lastModifiedBy>Dinesh Verma</cp:lastModifiedBy>
  <cp:revision>139</cp:revision>
  <cp:lastPrinted>2019-04-25T15:14:05Z</cp:lastPrinted>
  <dcterms:created xsi:type="dcterms:W3CDTF">2023-10-18T00:04:22Z</dcterms:created>
  <dcterms:modified xsi:type="dcterms:W3CDTF">2025-11-06T15:26:47Z</dcterms:modified>
</cp:coreProperties>
</file>