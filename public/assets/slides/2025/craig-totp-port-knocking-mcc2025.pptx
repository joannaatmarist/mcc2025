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6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6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D8D251D-9A11-4BF3-BA00-3588FD8F23B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add Notes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147660-4E98-4724-9CD3-B34B1AA36C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9C2024E-3313-47F5-A9EC-7006F99CEB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ftr" idx="7"/>
          </p:nvPr>
        </p:nvSpPr>
        <p:spPr>
          <a:xfrm>
            <a:off x="3445920" y="5164560"/>
            <a:ext cx="319212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8"/>
          </p:nvPr>
        </p:nvSpPr>
        <p:spPr>
          <a:xfrm>
            <a:off x="72248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5C77F9-6738-483A-974A-BCF9E8BD194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9"/>
          </p:nvPr>
        </p:nvSpPr>
        <p:spPr>
          <a:xfrm>
            <a:off x="5036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0"/>
          </p:nvPr>
        </p:nvSpPr>
        <p:spPr>
          <a:xfrm>
            <a:off x="3445920" y="5164560"/>
            <a:ext cx="319212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1"/>
          </p:nvPr>
        </p:nvSpPr>
        <p:spPr>
          <a:xfrm>
            <a:off x="72248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AC8F7A-C806-4225-8423-D84987B98C0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dt" idx="12"/>
          </p:nvPr>
        </p:nvSpPr>
        <p:spPr>
          <a:xfrm>
            <a:off x="5036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3"/>
          </p:nvPr>
        </p:nvSpPr>
        <p:spPr>
          <a:xfrm>
            <a:off x="3445920" y="5164560"/>
            <a:ext cx="319212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4"/>
          </p:nvPr>
        </p:nvSpPr>
        <p:spPr>
          <a:xfrm>
            <a:off x="72248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1A9BA4-543B-4269-B164-CC43EA79486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15"/>
          </p:nvPr>
        </p:nvSpPr>
        <p:spPr>
          <a:xfrm>
            <a:off x="5036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6"/>
          </p:nvPr>
        </p:nvSpPr>
        <p:spPr>
          <a:xfrm>
            <a:off x="3445920" y="5164560"/>
            <a:ext cx="319212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7"/>
          </p:nvPr>
        </p:nvSpPr>
        <p:spPr>
          <a:xfrm>
            <a:off x="72248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020968-CB9C-4892-95DE-3F55F92C4AD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dt" idx="18"/>
          </p:nvPr>
        </p:nvSpPr>
        <p:spPr>
          <a:xfrm>
            <a:off x="5036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9BF140A-0526-462D-9510-9813464EEE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640" y="560520"/>
            <a:ext cx="90669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5920" y="5164560"/>
            <a:ext cx="319212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48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DE06F7-3ECA-4894-A01A-0480F12F467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36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3640" y="560520"/>
            <a:ext cx="90669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4"/>
          </p:nvPr>
        </p:nvSpPr>
        <p:spPr>
          <a:xfrm>
            <a:off x="3445920" y="5164560"/>
            <a:ext cx="319212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5"/>
          </p:nvPr>
        </p:nvSpPr>
        <p:spPr>
          <a:xfrm>
            <a:off x="72248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CFE9E5-1B1F-4E78-9CFA-48F7E2394DE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6"/>
          </p:nvPr>
        </p:nvSpPr>
        <p:spPr>
          <a:xfrm>
            <a:off x="5036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3640" y="560520"/>
            <a:ext cx="90669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3445920" y="5164560"/>
            <a:ext cx="319212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72248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FFC1E2-33CD-4FAA-A31F-B6B96C0FFE0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503640" y="5164560"/>
            <a:ext cx="234576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912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nvd.nist.gov/vuln/detail/CVE-2024-3094" TargetMode="External"/><Relationship Id="rId2" Type="http://schemas.openxmlformats.org/officeDocument/2006/relationships/hyperlink" Target="https://nvd.nist.gov/vuln/detail/CVE-2007-6755" TargetMode="External"/><Relationship Id="rId3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Defense in Depth with</a:t>
            </a:r>
            <a:br>
              <a:rPr sz="4400"/>
            </a:b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TOTP Port Knocking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John Craig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About Me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Graduated Marist in 2021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Worked at IBM on ICSF for 5 year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Traditional Port Knocking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Speak-easy style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“Knock” on closed ports with TCP packets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Protected port opens after the right knocking pattern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677 → 881 → 232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22 opens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Advantages of Port Knocking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Defense in Depth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XZ Utils Backdoor</a:t>
            </a:r>
            <a:r>
              <a:rPr b="0" lang="en-US" sz="2800" strike="noStrike" u="none" baseline="33000">
                <a:solidFill>
                  <a:srgbClr val="ee2e86"/>
                </a:solidFill>
                <a:effectLst/>
                <a:uFillTx/>
                <a:latin typeface="Arial"/>
              </a:rPr>
              <a:t>1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Dual EC DRBG Backdoor</a:t>
            </a:r>
            <a:r>
              <a:rPr b="0" lang="en-US" sz="2800" strike="noStrike" u="none" baseline="33000">
                <a:solidFill>
                  <a:srgbClr val="ee2e86"/>
                </a:solidFill>
                <a:effectLst/>
                <a:uFillTx/>
                <a:latin typeface="Arial"/>
              </a:rPr>
              <a:t>2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28600" y="4800600"/>
            <a:ext cx="95997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1. XZ Utils Backdoor: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b="0" lang="en-US" sz="1800" strike="noStrike" u="none">
                <a:solidFill>
                  <a:srgbClr val="0000ee"/>
                </a:solidFill>
                <a:effectLst/>
                <a:uFillTx/>
                <a:latin typeface="Arial"/>
                <a:ea typeface="DejaVu Sans"/>
                <a:hlinkClick r:id="rId1"/>
              </a:rPr>
              <a:t>https://nvd.nist.gov/vuln/detail/CVE-2024-3094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2. Dual EC DRBG Backdoor: </a:t>
            </a:r>
            <a:r>
              <a:rPr b="0" lang="en-US" sz="1800" strike="noStrike" u="none">
                <a:solidFill>
                  <a:srgbClr val="0000ee"/>
                </a:solidFill>
                <a:effectLst/>
                <a:uFillTx/>
                <a:latin typeface="Arial"/>
                <a:ea typeface="DejaVu Sans"/>
                <a:hlinkClick r:id="rId2"/>
              </a:rPr>
              <a:t>https://nvd.nist.gov/vuln/detail/CVE-2007-6755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Problems with Port Knocking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Security through Obscurity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“The enemy knows the system”</a:t>
            </a:r>
            <a:r>
              <a:rPr b="0" lang="en-US" sz="2800" strike="noStrike" u="none" baseline="33000">
                <a:solidFill>
                  <a:srgbClr val="ee2e86"/>
                </a:solidFill>
                <a:effectLst/>
                <a:uFillTx/>
                <a:latin typeface="Arial"/>
              </a:rPr>
              <a:t>1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Brute Force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Replay Attacks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228600" y="4572000"/>
            <a:ext cx="95997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Shannon, Claude (4 October 1949). "Communication Theory of Secrecy Systems". Bell System Technical Journal. 28 (4)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Time-based One Time Passcodes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Used for Multi-Factor Authentication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Generates codes which are: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Deterministic upon a shared secret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Deterministic upon a time interval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Not reversible to any inputs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Time-based One Time Passcodes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TOTP(</a:t>
            </a:r>
            <a:r>
              <a:rPr b="0" lang="en-US" sz="3200" strike="noStrike" u="none">
                <a:solidFill>
                  <a:srgbClr val="fc5c00"/>
                </a:solidFill>
                <a:effectLst/>
                <a:uFillTx/>
                <a:latin typeface="Arial"/>
              </a:rPr>
              <a:t>“mysecret1”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, </a:t>
            </a:r>
            <a:r>
              <a:rPr b="0" lang="en-US" sz="3200" strike="noStrike" u="none">
                <a:solidFill>
                  <a:srgbClr val="c99c00"/>
                </a:solidFill>
                <a:effectLst/>
                <a:uFillTx/>
                <a:latin typeface="Arial"/>
              </a:rPr>
              <a:t>12:45PM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) ==&gt; </a:t>
            </a:r>
            <a:r>
              <a:rPr b="0" lang="en-US" sz="3200" strike="noStrike" u="none">
                <a:solidFill>
                  <a:srgbClr val="18a303"/>
                </a:solidFill>
                <a:effectLst/>
                <a:uFillTx/>
                <a:latin typeface="Arial"/>
              </a:rPr>
              <a:t>zzzzzzzz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TOTP(</a:t>
            </a:r>
            <a:r>
              <a:rPr b="0" lang="en-US" sz="3200" strike="noStrike" u="none">
                <a:solidFill>
                  <a:srgbClr val="0087d0"/>
                </a:solidFill>
                <a:effectLst/>
                <a:uFillTx/>
                <a:latin typeface="Arial"/>
                <a:ea typeface="Noto Sans CJK SC"/>
              </a:rPr>
              <a:t>“mysecret2”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, </a:t>
            </a:r>
            <a:r>
              <a:rPr b="0" lang="en-US" sz="3200" strike="noStrike" u="none">
                <a:solidFill>
                  <a:srgbClr val="c99c00"/>
                </a:solidFill>
                <a:effectLst/>
                <a:uFillTx/>
                <a:latin typeface="Arial"/>
                <a:ea typeface="Noto Sans CJK SC"/>
              </a:rPr>
              <a:t>12:45PM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) ==&gt; </a:t>
            </a:r>
            <a:r>
              <a:rPr b="0" lang="en-US" sz="3200" strike="noStrike" u="none">
                <a:solidFill>
                  <a:srgbClr val="913e88"/>
                </a:solidFill>
                <a:effectLst/>
                <a:uFillTx/>
                <a:latin typeface="Arial"/>
                <a:ea typeface="Noto Sans CJK SC"/>
              </a:rPr>
              <a:t>yyyyyyyy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TOTP(</a:t>
            </a:r>
            <a:r>
              <a:rPr b="0" lang="en-US" sz="3200" strike="noStrike" u="none">
                <a:solidFill>
                  <a:srgbClr val="0087d0"/>
                </a:solidFill>
                <a:effectLst/>
                <a:uFillTx/>
                <a:latin typeface="Arial"/>
                <a:ea typeface="Noto Sans CJK SC"/>
              </a:rPr>
              <a:t>“mysecret2”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, </a:t>
            </a:r>
            <a:r>
              <a:rPr b="0" lang="en-US" sz="3200" strike="noStrike" u="none">
                <a:solidFill>
                  <a:srgbClr val="c99c00"/>
                </a:solidFill>
                <a:effectLst/>
                <a:uFillTx/>
                <a:latin typeface="Arial"/>
                <a:ea typeface="Noto Sans CJK SC"/>
              </a:rPr>
              <a:t>12:46PM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) ==&gt; </a:t>
            </a:r>
            <a:r>
              <a:rPr b="0" lang="en-US" sz="3200" strike="noStrike" u="none">
                <a:solidFill>
                  <a:srgbClr val="5db9c5"/>
                </a:solidFill>
                <a:effectLst/>
                <a:uFillTx/>
                <a:latin typeface="Arial"/>
                <a:ea typeface="Noto Sans CJK SC"/>
              </a:rPr>
              <a:t>xxxxxxxx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Time-based One Time Passcodes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TOTP</a:t>
            </a:r>
            <a:r>
              <a:rPr b="0" lang="en-US" sz="3200" strike="noStrike" u="none" baseline="33000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-1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(</a:t>
            </a:r>
            <a:r>
              <a:rPr b="0" lang="en-US" sz="3200" strike="noStrike" u="none">
                <a:solidFill>
                  <a:srgbClr val="18a303"/>
                </a:solidFill>
                <a:effectLst/>
                <a:uFillTx/>
                <a:latin typeface="Arial"/>
                <a:ea typeface="Noto Sans CJK SC"/>
              </a:rPr>
              <a:t>zzzzzzzz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)                 =/=&gt; </a:t>
            </a:r>
            <a:r>
              <a:rPr b="0" lang="en-US" sz="3200" strike="noStrike" u="none">
                <a:solidFill>
                  <a:srgbClr val="fc5c00"/>
                </a:solidFill>
                <a:effectLst/>
                <a:uFillTx/>
                <a:latin typeface="Arial"/>
                <a:ea typeface="Noto Sans CJK SC"/>
              </a:rPr>
              <a:t>“mysecret1”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TOTP</a:t>
            </a:r>
            <a:r>
              <a:rPr b="0" lang="en-US" sz="3200" strike="noStrike" u="none" baseline="33000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-1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(</a:t>
            </a:r>
            <a:r>
              <a:rPr b="0" lang="en-US" sz="3200" strike="noStrike" u="none">
                <a:solidFill>
                  <a:srgbClr val="18a303"/>
                </a:solidFill>
                <a:effectLst/>
                <a:uFillTx/>
                <a:latin typeface="Arial"/>
                <a:ea typeface="Noto Sans CJK SC"/>
              </a:rPr>
              <a:t>zzzzzzzz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, </a:t>
            </a:r>
            <a:r>
              <a:rPr b="0" lang="en-US" sz="3200" strike="noStrike" u="none">
                <a:solidFill>
                  <a:srgbClr val="c99c00"/>
                </a:solidFill>
                <a:effectLst/>
                <a:uFillTx/>
                <a:latin typeface="Arial"/>
                <a:ea typeface="Noto Sans CJK SC"/>
              </a:rPr>
              <a:t>12:45PM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) =/=&gt; </a:t>
            </a:r>
            <a:r>
              <a:rPr b="0" lang="en-US" sz="3200" strike="noStrike" u="none">
                <a:solidFill>
                  <a:srgbClr val="fc5c00"/>
                </a:solidFill>
                <a:effectLst/>
                <a:uFillTx/>
                <a:latin typeface="Arial"/>
                <a:ea typeface="Noto Sans CJK SC"/>
              </a:rPr>
              <a:t>“mysecret1”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Port Knocking with TOTP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Client and server have a shared secret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Use TOTP to generate the knocking pattern for a given time interval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Firewall rules are rewritten at the end of each interval 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Port Knocking with TOTP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TOTP is really an HMAC operation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HMAC operation can produce up to a 512 bit number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Port range: 0 – 65535 = 16 bit number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32x 16-bit numbers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64x 8-bit numbers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Port Knocking with TOTP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18a303"/>
              </a:buClr>
              <a:buSzPct val="90000"/>
              <a:buFont typeface="Wingdings" charset="2"/>
              <a:buChar char="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Security through Obscurity =&gt; Pattern Changes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18a303"/>
              </a:buClr>
              <a:buSzPct val="90000"/>
              <a:buFont typeface="Wingdings" charset="2"/>
              <a:buChar char="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Brute Force                        =&gt; 512-bits of Security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90000"/>
              <a:buFont typeface="OpenSymbol"/>
              <a:buChar char="❑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 Replay Attacks                  =&gt; ???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Mitigating Replay Attacks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Change the knocking pattern after each connection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</a:rPr>
              <a:t>Iterate the TOTP function to recalculate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1"/>
          <p:cNvSpPr/>
          <p:nvPr/>
        </p:nvSpPr>
        <p:spPr>
          <a:xfrm>
            <a:off x="457200" y="2514600"/>
            <a:ext cx="9066960" cy="29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TOTP(</a:t>
            </a:r>
            <a:r>
              <a:rPr b="0" lang="en-US" sz="3200" strike="noStrike" u="none">
                <a:solidFill>
                  <a:srgbClr val="fc5c00"/>
                </a:solidFill>
                <a:effectLst/>
                <a:uFillTx/>
                <a:latin typeface="Arial"/>
                <a:ea typeface="DejaVu Sans"/>
              </a:rPr>
              <a:t>“mysecret1”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, </a:t>
            </a:r>
            <a:r>
              <a:rPr b="0" lang="en-US" sz="3200" strike="noStrike" u="none">
                <a:solidFill>
                  <a:srgbClr val="c99c00"/>
                </a:solidFill>
                <a:effectLst/>
                <a:uFillTx/>
                <a:latin typeface="Arial"/>
                <a:ea typeface="DejaVu Sans"/>
              </a:rPr>
              <a:t>12:45PM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) ==&gt; </a:t>
            </a:r>
            <a:r>
              <a:rPr b="0" lang="en-US" sz="3200" strike="noStrike" u="none">
                <a:solidFill>
                  <a:srgbClr val="18a303"/>
                </a:solidFill>
                <a:effectLst/>
                <a:uFillTx/>
                <a:latin typeface="Arial"/>
                <a:ea typeface="DejaVu Sans"/>
              </a:rPr>
              <a:t>zzzzzzzz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TOTP(</a:t>
            </a:r>
            <a:r>
              <a:rPr b="0" lang="en-US" sz="3200" strike="noStrike" u="none">
                <a:solidFill>
                  <a:srgbClr val="fc5c00"/>
                </a:solidFill>
                <a:effectLst/>
                <a:uFillTx/>
                <a:latin typeface="Arial"/>
                <a:ea typeface="Noto Sans CJK SC"/>
              </a:rPr>
              <a:t>“mysecret1”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, </a:t>
            </a:r>
            <a:r>
              <a:rPr b="0" lang="en-US" sz="3200" strike="noStrike" u="none">
                <a:solidFill>
                  <a:srgbClr val="18a303"/>
                </a:solidFill>
                <a:effectLst/>
                <a:uFillTx/>
                <a:latin typeface="Arial"/>
                <a:ea typeface="Noto Sans CJK SC"/>
              </a:rPr>
              <a:t>zzzzzzzz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) ==&gt; </a:t>
            </a:r>
            <a:r>
              <a:rPr b="0" lang="en-US" sz="3200" strike="noStrike" u="none">
                <a:solidFill>
                  <a:srgbClr val="cbc7a3"/>
                </a:solidFill>
                <a:effectLst/>
                <a:uFillTx/>
                <a:latin typeface="Arial"/>
                <a:ea typeface="Noto Sans CJK SC"/>
              </a:rPr>
              <a:t>aaaaaaa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TOTP(</a:t>
            </a:r>
            <a:r>
              <a:rPr b="0" lang="en-US" sz="3200" strike="noStrike" u="none">
                <a:solidFill>
                  <a:srgbClr val="fc5c00"/>
                </a:solidFill>
                <a:effectLst/>
                <a:uFillTx/>
                <a:latin typeface="Arial"/>
                <a:ea typeface="Noto Sans CJK SC"/>
              </a:rPr>
              <a:t>“mysecret1”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, </a:t>
            </a:r>
            <a:r>
              <a:rPr b="0" lang="en-US" sz="3200" strike="noStrike" u="none">
                <a:solidFill>
                  <a:srgbClr val="cbc7a3"/>
                </a:solidFill>
                <a:effectLst/>
                <a:uFillTx/>
                <a:latin typeface="Arial"/>
                <a:ea typeface="Noto Sans CJK SC"/>
              </a:rPr>
              <a:t>aaaaaaa</a:t>
            </a: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) ==&gt; </a:t>
            </a:r>
            <a:r>
              <a:rPr b="0" lang="en-US" sz="3200" strike="noStrike" u="none">
                <a:solidFill>
                  <a:srgbClr val="9bd1cb"/>
                </a:solidFill>
                <a:effectLst/>
                <a:uFillTx/>
                <a:latin typeface="Arial"/>
                <a:ea typeface="Noto Sans CJK SC"/>
              </a:rPr>
              <a:t>bbbbbbb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Noto Sans CJK SC"/>
              </a:rPr>
              <a:t>...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Multi-Client Considerations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/>
          <p:nvPr/>
        </p:nvSpPr>
        <p:spPr>
          <a:xfrm>
            <a:off x="457200" y="1828800"/>
            <a:ext cx="2513880" cy="1370880"/>
          </a:xfrm>
          <a:prstGeom prst="rect">
            <a:avLst/>
          </a:prstGeom>
          <a:solidFill>
            <a:srgbClr val="372d39"/>
          </a:solidFill>
          <a:ln w="76320">
            <a:solidFill>
              <a:srgbClr val="008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rm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Client A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24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Counter: 0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/>
          <p:nvPr/>
        </p:nvSpPr>
        <p:spPr>
          <a:xfrm>
            <a:off x="457200" y="3657600"/>
            <a:ext cx="2513880" cy="1370880"/>
          </a:xfrm>
          <a:prstGeom prst="rect">
            <a:avLst/>
          </a:prstGeom>
          <a:solidFill>
            <a:srgbClr val="372d39"/>
          </a:solidFill>
          <a:ln w="76320">
            <a:solidFill>
              <a:srgbClr val="008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rm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Client B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24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Counter: 0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6"/>
          <p:cNvSpPr/>
          <p:nvPr/>
        </p:nvSpPr>
        <p:spPr>
          <a:xfrm>
            <a:off x="6172200" y="1828800"/>
            <a:ext cx="3656880" cy="3199680"/>
          </a:xfrm>
          <a:prstGeom prst="rect">
            <a:avLst/>
          </a:prstGeom>
          <a:solidFill>
            <a:srgbClr val="372d39"/>
          </a:solidFill>
          <a:ln w="76320">
            <a:solidFill>
              <a:srgbClr val="008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rm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Server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24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Counter: 0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Multi-Client Considerations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8"/>
          <p:cNvSpPr/>
          <p:nvPr/>
        </p:nvSpPr>
        <p:spPr>
          <a:xfrm>
            <a:off x="457200" y="1828800"/>
            <a:ext cx="2513880" cy="1370880"/>
          </a:xfrm>
          <a:prstGeom prst="rect">
            <a:avLst/>
          </a:prstGeom>
          <a:solidFill>
            <a:srgbClr val="372d39"/>
          </a:solidFill>
          <a:ln w="76320">
            <a:solidFill>
              <a:srgbClr val="008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rm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Client A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24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Counter: 1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9"/>
          <p:cNvSpPr/>
          <p:nvPr/>
        </p:nvSpPr>
        <p:spPr>
          <a:xfrm>
            <a:off x="457200" y="3657600"/>
            <a:ext cx="2513880" cy="1370880"/>
          </a:xfrm>
          <a:prstGeom prst="rect">
            <a:avLst/>
          </a:prstGeom>
          <a:solidFill>
            <a:srgbClr val="372d39"/>
          </a:solidFill>
          <a:ln w="76320">
            <a:solidFill>
              <a:srgbClr val="008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rm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Client B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24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Counter: 0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0"/>
          <p:cNvSpPr/>
          <p:nvPr/>
        </p:nvSpPr>
        <p:spPr>
          <a:xfrm>
            <a:off x="6172200" y="1828800"/>
            <a:ext cx="3656880" cy="3199680"/>
          </a:xfrm>
          <a:prstGeom prst="rect">
            <a:avLst/>
          </a:prstGeom>
          <a:solidFill>
            <a:srgbClr val="372d39"/>
          </a:solidFill>
          <a:ln w="76320">
            <a:solidFill>
              <a:srgbClr val="008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9080" rIns="19080" tIns="19080" bIns="19080" anchor="ctr">
            <a:normAutofit/>
          </a:bodyPr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32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Server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417"/>
              </a:spcBef>
            </a:pPr>
            <a:r>
              <a:rPr b="0" lang="en-US" sz="24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Counter: 1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2971800" y="2514600"/>
            <a:ext cx="3200400" cy="914400"/>
          </a:xfrm>
          <a:prstGeom prst="line">
            <a:avLst/>
          </a:prstGeom>
          <a:ln w="76320">
            <a:solidFill>
              <a:srgbClr val="0082c7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8160" rIns="128160" tIns="83160" bIns="8316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Multi-Client Considerations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2"/>
          <p:cNvSpPr/>
          <p:nvPr/>
        </p:nvSpPr>
        <p:spPr>
          <a:xfrm>
            <a:off x="503640" y="1326240"/>
            <a:ext cx="9066960" cy="328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Out-of-sync client makes repeated connection attempts until its counter catches up with the server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Server can reject the final connection of a sequence to tell the client it is “on the right track”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ee2e86"/>
                </a:solidFill>
                <a:effectLst/>
                <a:uFillTx/>
                <a:latin typeface="Arial"/>
                <a:ea typeface="DejaVu Sans"/>
              </a:rPr>
              <a:t>Client can continue attempts without confirmation, assuming it is “on the right track”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Questions?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29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6960" cy="94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a2d3"/>
                </a:solidFill>
                <a:effectLst/>
                <a:uFillTx/>
                <a:latin typeface="Arial"/>
              </a:rPr>
              <a:t>Thank You!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_1">
      <a:dk1>
        <a:srgbClr val="0065af"/>
      </a:dk1>
      <a:lt1>
        <a:srgbClr val="871149"/>
      </a:lt1>
      <a:dk2>
        <a:srgbClr val="ffde59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_1">
      <a:dk1>
        <a:srgbClr val="0065af"/>
      </a:dk1>
      <a:lt1>
        <a:srgbClr val="871149"/>
      </a:lt1>
      <a:dk2>
        <a:srgbClr val="ffde59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_1">
      <a:dk1>
        <a:srgbClr val="0065af"/>
      </a:dk1>
      <a:lt1>
        <a:srgbClr val="871149"/>
      </a:lt1>
      <a:dk2>
        <a:srgbClr val="ffde59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_1">
      <a:dk1>
        <a:srgbClr val="0065af"/>
      </a:dk1>
      <a:lt1>
        <a:srgbClr val="871149"/>
      </a:lt1>
      <a:dk2>
        <a:srgbClr val="ffde59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2025-10-24T13:35:31Z</dcterms:created>
  <dc:creator/>
  <dc:description/>
  <dc:language>en-US</dc:language>
  <cp:lastModifiedBy/>
  <dcterms:modified xsi:type="dcterms:W3CDTF">2025-11-04T10:38:07Z</dcterms:modified>
  <cp:revision>19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