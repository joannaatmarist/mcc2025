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147483163" r:id="rId3"/>
    <p:sldId id="2147483164" r:id="rId4"/>
    <p:sldId id="2147483165" r:id="rId5"/>
    <p:sldId id="257" r:id="rId6"/>
    <p:sldId id="260" r:id="rId7"/>
    <p:sldId id="258" r:id="rId8"/>
    <p:sldId id="261" r:id="rId9"/>
    <p:sldId id="2147483166" r:id="rId10"/>
    <p:sldId id="2147483167" r:id="rId11"/>
  </p:sldIdLst>
  <p:sldSz cx="12188825" cy="6858000"/>
  <p:notesSz cx="6858000" cy="9144000"/>
  <p:defaultTextStyle>
    <a:defPPr>
      <a:defRPr lang="en-US"/>
    </a:defPPr>
    <a:lvl1pPr marL="0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24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85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48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09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971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133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295" algn="l" defTabSz="91432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204"/>
    <p:restoredTop sz="96327"/>
  </p:normalViewPr>
  <p:slideViewPr>
    <p:cSldViewPr snapToGrid="0" snapToObjects="1">
      <p:cViewPr varScale="1">
        <p:scale>
          <a:sx n="72" d="100"/>
          <a:sy n="72" d="100"/>
        </p:scale>
        <p:origin x="224" y="376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" y="228600"/>
            <a:ext cx="6419850" cy="3611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773" rtl="0" eaLnBrk="1" latinLnBrk="0" hangingPunct="1">
      <a:lnSpc>
        <a:spcPct val="110000"/>
      </a:lnSpc>
      <a:spcBef>
        <a:spcPts val="0"/>
      </a:spcBef>
      <a:defRPr sz="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232752" indent="-226405" algn="l" defTabSz="1218773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463134" indent="-231567" algn="l" defTabSz="1218773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840953" indent="-231567" algn="l" defTabSz="1218773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232752" marR="0" indent="-226405" algn="l" defTabSz="1218773" rtl="0" eaLnBrk="1" fontAlgn="base" latinLnBrk="0" hangingPunct="1">
      <a:lnSpc>
        <a:spcPct val="100000"/>
      </a:lnSpc>
      <a:spcBef>
        <a:spcPts val="8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3046933" algn="l" defTabSz="1218773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6pPr>
    <a:lvl7pPr marL="3656320" algn="l" defTabSz="1218773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7pPr>
    <a:lvl8pPr marL="4265707" algn="l" defTabSz="1218773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8pPr>
    <a:lvl9pPr marL="4875093" algn="l" defTabSz="1218773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12188825" cy="6097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888" y="6083301"/>
            <a:ext cx="2470262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448" y="6083301"/>
            <a:ext cx="2472740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533" y="6288882"/>
            <a:ext cx="7688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55575"/>
            <a:ext cx="5048563" cy="3654425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1" y="0"/>
            <a:ext cx="12188825" cy="6097588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2" tIns="45702" rIns="45702" bIns="4570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0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533" y="6288882"/>
            <a:ext cx="768862" cy="2862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888" y="6083301"/>
            <a:ext cx="2470262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448" y="6083301"/>
            <a:ext cx="2472740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55575"/>
            <a:ext cx="5048563" cy="3654425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533" y="6288882"/>
            <a:ext cx="768862" cy="286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55575"/>
            <a:ext cx="5048563" cy="5178425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888" y="6239574"/>
            <a:ext cx="5517067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533" y="6288882"/>
            <a:ext cx="7688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55575"/>
            <a:ext cx="5048563" cy="5178425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79257" y="285750"/>
            <a:ext cx="5519409" cy="628933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931" y="6288882"/>
            <a:ext cx="768862" cy="2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55575"/>
            <a:ext cx="5048563" cy="5178425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8" y="288036"/>
            <a:ext cx="5047865" cy="285750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756000"/>
            <a:ext cx="5047865" cy="4573588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931" y="6288882"/>
            <a:ext cx="768862" cy="2862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79257" y="284958"/>
            <a:ext cx="5519409" cy="629012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192025"/>
            <a:ext cx="2470074" cy="210502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844" y="287339"/>
            <a:ext cx="2475533" cy="5808659"/>
          </a:xfrm>
        </p:spPr>
        <p:txBody>
          <a:bodyPr/>
          <a:lstStyle>
            <a:lvl1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27654" y="287337"/>
            <a:ext cx="2469979" cy="5810250"/>
          </a:xfrm>
        </p:spPr>
        <p:txBody>
          <a:bodyPr/>
          <a:lstStyle>
            <a:lvl1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92024"/>
            <a:ext cx="5516090" cy="133191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54800"/>
            <a:ext cx="8567565" cy="4416425"/>
          </a:xfrm>
        </p:spPr>
        <p:txBody>
          <a:bodyPr/>
          <a:lstStyle>
            <a:lvl1pPr>
              <a:defRPr sz="8397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92024"/>
            <a:ext cx="4952652" cy="210483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7506" y="192024"/>
            <a:ext cx="5518880" cy="438924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 marL="292491" indent="-292491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2pPr>
            <a:lvl3pPr marL="548421" indent="-292491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3pPr>
            <a:lvl4pPr marL="877473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1B5FF89-90DC-87B4-9CF8-90982BFDF98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888" y="154800"/>
            <a:ext cx="7321864" cy="5178133"/>
          </a:xfrm>
        </p:spPr>
        <p:txBody>
          <a:bodyPr/>
          <a:lstStyle>
            <a:lvl1pPr>
              <a:lnSpc>
                <a:spcPct val="100000"/>
              </a:lnSpc>
              <a:defRPr sz="4198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DE9CCE7-571E-894B-FE62-FA4B9FC6B2D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888" y="288036"/>
            <a:ext cx="3810099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2pPr>
            <a:lvl3pPr marL="402175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3pPr>
            <a:lvl4pPr marL="557561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887" y="4814112"/>
            <a:ext cx="5523136" cy="167653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4412" y="284956"/>
            <a:ext cx="0" cy="581263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7504" y="288036"/>
            <a:ext cx="3808512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2pPr>
            <a:lvl3pPr marL="402175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3pPr>
            <a:lvl4pPr marL="557561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7504" y="4814112"/>
            <a:ext cx="5522342" cy="1677147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5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736B85D-745F-8380-84E0-B98148E4AA1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25" y="288036"/>
            <a:ext cx="2473946" cy="1642364"/>
          </a:xfrm>
        </p:spPr>
        <p:txBody>
          <a:bodyPr/>
          <a:lstStyle>
            <a:lvl1pPr>
              <a:lnSpc>
                <a:spcPct val="110000"/>
              </a:lnSpc>
              <a:defRPr sz="17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2449" y="192600"/>
            <a:ext cx="2474740" cy="953956"/>
          </a:xfrm>
        </p:spPr>
        <p:txBody>
          <a:bodyPr/>
          <a:lstStyle>
            <a:lvl1pPr>
              <a:lnSpc>
                <a:spcPct val="90000"/>
              </a:lnSpc>
              <a:defRPr sz="6597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2449" y="1166533"/>
            <a:ext cx="2474740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7505" y="192600"/>
            <a:ext cx="2473946" cy="953294"/>
          </a:xfrm>
        </p:spPr>
        <p:txBody>
          <a:bodyPr/>
          <a:lstStyle>
            <a:lvl1pPr>
              <a:lnSpc>
                <a:spcPct val="90000"/>
              </a:lnSpc>
              <a:defRPr sz="6597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7504" y="1167327"/>
            <a:ext cx="2475533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6068" y="192600"/>
            <a:ext cx="2473946" cy="951707"/>
          </a:xfrm>
        </p:spPr>
        <p:txBody>
          <a:bodyPr/>
          <a:lstStyle>
            <a:lvl1pPr>
              <a:lnSpc>
                <a:spcPct val="90000"/>
              </a:lnSpc>
              <a:defRPr sz="6597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067" y="1166533"/>
            <a:ext cx="2475533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4035" y="6029325"/>
            <a:ext cx="2474740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3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5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D01A061-F35C-7E09-8B8C-1962821A59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2448" y="3297238"/>
            <a:ext cx="5520819" cy="267004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1pPr>
            <a:lvl2pPr marL="393035" indent="-393035"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2pPr>
            <a:lvl3pPr marL="749508" indent="-393035"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3pPr>
            <a:lvl4pPr marL="1142543" indent="-393035"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888" y="154801"/>
            <a:ext cx="2473946" cy="2667793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2448" y="154800"/>
            <a:ext cx="5522342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1pPr>
            <a:lvl2pPr marL="393035" indent="-393035"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2pPr>
            <a:lvl3pPr marL="749508" indent="-393035"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3pPr>
            <a:lvl4pPr marL="1142543" indent="-393035">
              <a:lnSpc>
                <a:spcPct val="100000"/>
              </a:lnSpc>
              <a:spcBef>
                <a:spcPts val="0"/>
              </a:spcBef>
              <a:defRPr sz="41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8812" y="3048866"/>
            <a:ext cx="1161278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887" y="3297238"/>
            <a:ext cx="2472486" cy="2670048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8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927436D-61D3-6E26-FA7E-91005FC3A4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25" y="288036"/>
            <a:ext cx="2473946" cy="1642364"/>
          </a:xfrm>
        </p:spPr>
        <p:txBody>
          <a:bodyPr/>
          <a:lstStyle>
            <a:lvl1pPr>
              <a:lnSpc>
                <a:spcPct val="110000"/>
              </a:lnSpc>
              <a:defRPr sz="17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2449" y="192024"/>
            <a:ext cx="2474740" cy="1429544"/>
          </a:xfrm>
        </p:spPr>
        <p:txBody>
          <a:bodyPr/>
          <a:lstStyle>
            <a:lvl1pPr>
              <a:lnSpc>
                <a:spcPct val="90000"/>
              </a:lnSpc>
              <a:defRPr sz="6597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9257" y="286449"/>
            <a:ext cx="3808512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2448" y="2287588"/>
            <a:ext cx="856915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2449" y="2478912"/>
            <a:ext cx="2474740" cy="1428753"/>
          </a:xfrm>
        </p:spPr>
        <p:txBody>
          <a:bodyPr/>
          <a:lstStyle>
            <a:lvl1pPr>
              <a:lnSpc>
                <a:spcPct val="90000"/>
              </a:lnSpc>
              <a:defRPr sz="6597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79257" y="2562985"/>
            <a:ext cx="3808512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2448" y="4570413"/>
            <a:ext cx="856915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2449" y="4763324"/>
            <a:ext cx="2474739" cy="1334265"/>
          </a:xfrm>
        </p:spPr>
        <p:txBody>
          <a:bodyPr/>
          <a:lstStyle>
            <a:lvl1pPr>
              <a:lnSpc>
                <a:spcPct val="90000"/>
              </a:lnSpc>
              <a:defRPr sz="6597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9257" y="4835206"/>
            <a:ext cx="3808512" cy="126238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2449" y="6029325"/>
            <a:ext cx="2474740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5892771-C4C1-5677-C72B-5685FAAFCE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6" y="288036"/>
            <a:ext cx="11613713" cy="76279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9" y="1524001"/>
            <a:ext cx="2477120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035" y="1524001"/>
            <a:ext cx="2474740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7504" y="1524001"/>
            <a:ext cx="2475533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7654" y="1524001"/>
            <a:ext cx="2478707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2FF2E7-38E4-B20D-F74F-89D6E586F5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76279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036" y="288036"/>
            <a:ext cx="2477120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6810" y="1522413"/>
            <a:ext cx="0" cy="45727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2096" y="1522414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0429" y="1522414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91097" y="1524001"/>
            <a:ext cx="2477120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334035" y="1524001"/>
            <a:ext cx="2474740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87504" y="1524001"/>
            <a:ext cx="2475533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27654" y="1524001"/>
            <a:ext cx="2478707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2B44B38-EEB9-4BA0-D3E8-76A733CB219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1234377"/>
          </a:xfrm>
        </p:spPr>
        <p:txBody>
          <a:bodyPr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448" y="288037"/>
            <a:ext cx="2477120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2449" y="1523999"/>
            <a:ext cx="2474740" cy="4578351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7504" y="288037"/>
            <a:ext cx="2475533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7504" y="1524000"/>
            <a:ext cx="2475533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6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2096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0429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9426067" y="288037"/>
            <a:ext cx="2478707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26067" y="1524000"/>
            <a:ext cx="2478707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4313194-750A-BA1B-5461-7508FA23EE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25" y="288036"/>
            <a:ext cx="2473946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7" y="1524001"/>
            <a:ext cx="2470074" cy="2289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2448" y="288036"/>
            <a:ext cx="607839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035" y="1524001"/>
            <a:ext cx="247474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504" y="288036"/>
            <a:ext cx="607839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7504" y="1524000"/>
            <a:ext cx="2470095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6067" y="288036"/>
            <a:ext cx="607839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7655" y="1524001"/>
            <a:ext cx="24699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6810" y="285052"/>
            <a:ext cx="0" cy="58157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0429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F471745-7908-92CA-65C7-0EC47359DD8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192025"/>
            <a:ext cx="2470074" cy="15589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274" y="192024"/>
            <a:ext cx="2474740" cy="110063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399"/>
            </a:lvl2pPr>
            <a:lvl3pPr>
              <a:spcBef>
                <a:spcPts val="0"/>
              </a:spcBef>
              <a:defRPr sz="1399"/>
            </a:lvl3pPr>
            <a:lvl4pPr>
              <a:spcBef>
                <a:spcPts val="0"/>
              </a:spcBef>
              <a:defRPr sz="1399"/>
            </a:lvl4pPr>
            <a:lvl5pPr>
              <a:spcBef>
                <a:spcPts val="0"/>
              </a:spcBef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274" y="1524001"/>
            <a:ext cx="2474740" cy="4576763"/>
          </a:xfrm>
        </p:spPr>
        <p:txBody>
          <a:bodyPr/>
          <a:lstStyle>
            <a:lvl1pPr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084" y="1524001"/>
            <a:ext cx="5046278" cy="4576763"/>
          </a:xfrm>
        </p:spPr>
        <p:txBody>
          <a:bodyPr/>
          <a:lstStyle>
            <a:lvl1pPr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5BE79-1E32-694D-4C06-D4B93AF306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11145893" cy="95329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8" y="1524000"/>
            <a:ext cx="5047865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7504" y="1524001"/>
            <a:ext cx="50462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B4413-E193-8F16-18D3-62B55A6C8D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1 column 1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11145893" cy="95329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8" y="1524000"/>
            <a:ext cx="5047865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B4413-E193-8F16-18D3-62B55A6C8D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51042-6B38-8A8F-353C-EA1E506CEF1F}"/>
              </a:ext>
            </a:extLst>
          </p:cNvPr>
          <p:cNvSpPr txBox="1"/>
          <p:nvPr userDrawn="1"/>
        </p:nvSpPr>
        <p:spPr>
          <a:xfrm>
            <a:off x="6168325" y="254172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82751948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1 wid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11145893" cy="95329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8" y="1524000"/>
            <a:ext cx="11145893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B4413-E193-8F16-18D3-62B55A6C8D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528402300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92025"/>
            <a:ext cx="5516090" cy="2105089"/>
          </a:xfrm>
        </p:spPr>
        <p:txBody>
          <a:bodyPr rIns="45720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846" y="288035"/>
            <a:ext cx="2473946" cy="580955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7654" y="288035"/>
            <a:ext cx="2469979" cy="580955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310B6-7C7D-A227-45FE-F3AED8800D1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288036"/>
            <a:ext cx="2470074" cy="1997964"/>
          </a:xfrm>
        </p:spPr>
        <p:txBody>
          <a:bodyPr/>
          <a:lstStyle>
            <a:lvl1pPr>
              <a:lnSpc>
                <a:spcPct val="110000"/>
              </a:lnSpc>
              <a:defRPr sz="17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7504" y="288000"/>
            <a:ext cx="2475533" cy="581104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7654" y="288000"/>
            <a:ext cx="2469979" cy="581104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801CD-9AC2-2806-CBB6-BF21278F54A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92024"/>
            <a:ext cx="5517582" cy="2105088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7504" y="288037"/>
            <a:ext cx="2475533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7504" y="1524001"/>
            <a:ext cx="247553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6067" y="288037"/>
            <a:ext cx="2478707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654" y="1524000"/>
            <a:ext cx="2475533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D12E531-A49A-74F0-C76A-619E2FF2EE3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1997964"/>
          </a:xfrm>
        </p:spPr>
        <p:txBody>
          <a:bodyPr rIns="0"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7504" y="288037"/>
            <a:ext cx="2475533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7504" y="1524001"/>
            <a:ext cx="247553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7654" y="288037"/>
            <a:ext cx="2470074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654" y="1524001"/>
            <a:ext cx="247553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0360E94-545F-A841-F7B2-79E53ADD500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92025"/>
            <a:ext cx="2473946" cy="21050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273" y="192024"/>
            <a:ext cx="2477120" cy="155529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399"/>
            </a:lvl2pPr>
            <a:lvl3pPr>
              <a:lnSpc>
                <a:spcPct val="90000"/>
              </a:lnSpc>
              <a:spcBef>
                <a:spcPts val="0"/>
              </a:spcBef>
              <a:defRPr sz="1399"/>
            </a:lvl3pPr>
            <a:lvl4pPr>
              <a:lnSpc>
                <a:spcPct val="90000"/>
              </a:lnSpc>
              <a:spcBef>
                <a:spcPts val="0"/>
              </a:spcBef>
              <a:defRPr sz="1399"/>
            </a:lvl4pPr>
            <a:lvl5pPr>
              <a:lnSpc>
                <a:spcPct val="90000"/>
              </a:lnSpc>
              <a:spcBef>
                <a:spcPts val="0"/>
              </a:spcBef>
              <a:defRPr sz="1399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035" y="1508395"/>
            <a:ext cx="2474740" cy="4594294"/>
          </a:xfrm>
        </p:spPr>
        <p:txBody>
          <a:bodyPr/>
          <a:lstStyle>
            <a:lvl1pPr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7504" y="288037"/>
            <a:ext cx="607839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7504" y="1524001"/>
            <a:ext cx="2475533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6067" y="288036"/>
            <a:ext cx="608684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067" y="1524001"/>
            <a:ext cx="2478707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3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7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3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0429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2C4CB-3EE3-596E-FFEE-F69D56076CF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23" y="288036"/>
            <a:ext cx="607839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24" y="1239012"/>
            <a:ext cx="333403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2pPr>
            <a:lvl3pPr marL="402175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3pPr>
            <a:lvl4pPr marL="557561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504" y="288036"/>
            <a:ext cx="607839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7504" y="1238250"/>
            <a:ext cx="333625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2pPr>
            <a:lvl3pPr marL="402175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3pPr>
            <a:lvl4pPr marL="557561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24" y="3048000"/>
            <a:ext cx="11613676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23" y="3236976"/>
            <a:ext cx="607839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24" y="4192524"/>
            <a:ext cx="333403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2pPr>
            <a:lvl3pPr marL="402175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3pPr>
            <a:lvl4pPr marL="557561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7504" y="3238500"/>
            <a:ext cx="607839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7504" y="4191000"/>
            <a:ext cx="333625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1pPr>
            <a:lvl2pPr marL="201088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2pPr>
            <a:lvl3pPr marL="402175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3pPr>
            <a:lvl4pPr marL="557561" indent="-201088">
              <a:lnSpc>
                <a:spcPct val="100000"/>
              </a:lnSpc>
              <a:spcBef>
                <a:spcPts val="0"/>
              </a:spcBef>
              <a:defRPr sz="20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754581B-429E-7AE7-EDEB-C9BD62F9F3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888" y="288037"/>
            <a:ext cx="2479595" cy="231077"/>
          </a:xfrm>
        </p:spPr>
        <p:txBody>
          <a:bodyPr/>
          <a:lstStyle>
            <a:lvl1pPr>
              <a:defRPr sz="1399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762000"/>
            <a:ext cx="2473248" cy="1524000"/>
          </a:xfrm>
        </p:spPr>
        <p:txBody>
          <a:bodyPr/>
          <a:lstStyle>
            <a:lvl1pPr>
              <a:lnSpc>
                <a:spcPct val="110000"/>
              </a:lnSpc>
              <a:defRPr sz="17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7504" y="288036"/>
            <a:ext cx="2475533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7654" y="288036"/>
            <a:ext cx="2478707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7504" y="3335338"/>
            <a:ext cx="2475533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654" y="3335338"/>
            <a:ext cx="2475533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400E0-A160-1E25-444E-6261CE8AE7B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888" y="288037"/>
            <a:ext cx="2479595" cy="231077"/>
          </a:xfrm>
        </p:spPr>
        <p:txBody>
          <a:bodyPr/>
          <a:lstStyle>
            <a:lvl1pPr>
              <a:defRPr sz="1399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7504" y="288036"/>
            <a:ext cx="2475533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7654" y="288036"/>
            <a:ext cx="2478707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7504" y="3335338"/>
            <a:ext cx="2475533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654" y="3335338"/>
            <a:ext cx="2475533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761936"/>
            <a:ext cx="5519963" cy="2286064"/>
          </a:xfrm>
        </p:spPr>
        <p:txBody>
          <a:bodyPr rIns="457200"/>
          <a:lstStyle>
            <a:lvl1pPr>
              <a:lnSpc>
                <a:spcPct val="11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D435FD4-7EAC-0F03-99FF-2183CE43BB3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25" y="3337942"/>
            <a:ext cx="2473946" cy="2759647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0319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387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068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887" y="288036"/>
            <a:ext cx="2470074" cy="1997964"/>
          </a:xfrm>
        </p:spPr>
        <p:txBody>
          <a:bodyPr/>
          <a:lstStyle>
            <a:lvl1pPr>
              <a:defRPr sz="1399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9F3757D-9BF5-6422-1149-CB0C4DD175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192025"/>
            <a:ext cx="5516342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25" y="3337942"/>
            <a:ext cx="2473946" cy="2759647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0319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387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068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7A935EB-C247-AA28-E106-8654DA1B65E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1997964"/>
          </a:xfrm>
        </p:spPr>
        <p:txBody>
          <a:bodyPr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1906" y="288035"/>
            <a:ext cx="2477056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9258" y="288035"/>
            <a:ext cx="2477056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6066" y="288035"/>
            <a:ext cx="2472486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906" y="3336925"/>
            <a:ext cx="2477056" cy="247802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79258" y="3336925"/>
            <a:ext cx="2477056" cy="247802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066" y="3336925"/>
            <a:ext cx="2472486" cy="247802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3DE1F-AEBB-CCD6-3D53-3A7E2A45E49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1997964"/>
          </a:xfrm>
        </p:spPr>
        <p:txBody>
          <a:bodyPr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2448" y="288037"/>
            <a:ext cx="201089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2447" y="762001"/>
            <a:ext cx="2477056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7504" y="288037"/>
            <a:ext cx="201089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7504" y="762001"/>
            <a:ext cx="2475533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6068" y="288037"/>
            <a:ext cx="201089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6067" y="761999"/>
            <a:ext cx="2472486" cy="19995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6810" y="3048000"/>
            <a:ext cx="885796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2448" y="3347315"/>
            <a:ext cx="201089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2447" y="3811797"/>
            <a:ext cx="2477056" cy="19991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7504" y="3347315"/>
            <a:ext cx="201089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7504" y="3811797"/>
            <a:ext cx="2477056" cy="199914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6068" y="3347315"/>
            <a:ext cx="201089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6067" y="3811797"/>
            <a:ext cx="2472486" cy="19991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684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368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052" indent="-109684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6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0429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AA589BCB-0ACD-F0D5-B2FE-372CEC1FDF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92025"/>
            <a:ext cx="5517582" cy="170656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7504" y="288036"/>
            <a:ext cx="2475533" cy="247729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0429" y="286570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427654" y="288036"/>
            <a:ext cx="2475533" cy="247729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24" y="3048000"/>
            <a:ext cx="1160970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6810" y="3048000"/>
            <a:ext cx="0" cy="3049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25" y="3337942"/>
            <a:ext cx="2473946" cy="2759647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319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7505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068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47CAA-0D7B-8D9E-4A36-B66B1D54C89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7"/>
            <a:ext cx="2473946" cy="1706563"/>
          </a:xfrm>
        </p:spPr>
        <p:txBody>
          <a:bodyPr rIns="0"/>
          <a:lstStyle>
            <a:lvl1pPr>
              <a:lnSpc>
                <a:spcPct val="110000"/>
              </a:lnSpc>
              <a:defRPr sz="17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7504" y="288036"/>
            <a:ext cx="2475533" cy="247729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7654" y="288036"/>
            <a:ext cx="2475533" cy="2477294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0429" y="286570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24" y="3048000"/>
            <a:ext cx="1160970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6810" y="3041650"/>
            <a:ext cx="0" cy="30559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25" y="3337942"/>
            <a:ext cx="2473946" cy="2759647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319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7505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6068" y="3336926"/>
            <a:ext cx="2473946" cy="2760662"/>
          </a:xfrm>
        </p:spPr>
        <p:txBody>
          <a:bodyPr/>
          <a:lstStyle>
            <a:lvl1pPr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D682D-B391-A1EB-03C3-8A2C6C25800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762794"/>
          </a:xfrm>
        </p:spPr>
        <p:txBody>
          <a:bodyPr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887" y="1520825"/>
            <a:ext cx="2472486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035" y="1520825"/>
            <a:ext cx="247474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79259" y="288038"/>
            <a:ext cx="5518470" cy="628580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21EDA-10F3-A8AB-C8B0-63D1A8D0DD8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762794"/>
          </a:xfrm>
        </p:spPr>
        <p:txBody>
          <a:bodyPr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889" y="1520825"/>
            <a:ext cx="247712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6811" y="0"/>
            <a:ext cx="9142015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F7B280A-F53B-18CE-28E2-CFDFDA64D8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6"/>
            <a:ext cx="2473946" cy="762794"/>
          </a:xfrm>
        </p:spPr>
        <p:txBody>
          <a:bodyPr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889" y="1520825"/>
            <a:ext cx="247712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2449" y="285750"/>
            <a:ext cx="8565185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83239-1C44-DE6C-3C5A-6278D59F1DA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88825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8812" y="285750"/>
            <a:ext cx="11608821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7888" y="1522412"/>
            <a:ext cx="1230720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87888" y="3048000"/>
            <a:ext cx="1230720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7888" y="4570413"/>
            <a:ext cx="1230720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87504" y="1522412"/>
            <a:ext cx="122938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87504" y="3048000"/>
            <a:ext cx="122938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87504" y="4570413"/>
            <a:ext cx="122938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7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288036"/>
            <a:ext cx="10371185" cy="762794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3830" y="1522412"/>
            <a:ext cx="2853210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3830" y="3048000"/>
            <a:ext cx="2853210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3830" y="4570413"/>
            <a:ext cx="2853210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5863" y="1522412"/>
            <a:ext cx="2853210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5863" y="3048000"/>
            <a:ext cx="2853210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5863" y="4570413"/>
            <a:ext cx="2853210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1pPr>
            <a:lvl2pPr marL="127965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2pPr>
            <a:lvl3pPr marL="255930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3pPr>
            <a:lvl4pPr marL="383894" indent="-127965"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3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F53F9-0EC5-24DA-A282-CF11DF865D3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7"/>
            <a:ext cx="2473946" cy="1997964"/>
          </a:xfrm>
        </p:spPr>
        <p:txBody>
          <a:bodyPr/>
          <a:lstStyle>
            <a:lvl1pPr>
              <a:lnSpc>
                <a:spcPct val="110000"/>
              </a:lnSpc>
              <a:defRPr sz="1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2448" y="288000"/>
            <a:ext cx="8569152" cy="581183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F84E0-D2B4-B207-67B7-E9C628E958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288037"/>
            <a:ext cx="2473946" cy="763525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2448" y="6391245"/>
            <a:ext cx="2761171" cy="212725"/>
          </a:xfrm>
        </p:spPr>
        <p:txBody>
          <a:bodyPr anchor="b" anchorCtr="0"/>
          <a:lstStyle>
            <a:lvl1pPr>
              <a:defRPr sz="800">
                <a:latin typeface="IBM Plex Sans" panose="020B0503050203000203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888" y="1522414"/>
            <a:ext cx="2470772" cy="4575175"/>
          </a:xfrm>
        </p:spPr>
        <p:txBody>
          <a:bodyPr/>
          <a:lstStyle>
            <a:lvl1pPr>
              <a:defRPr sz="1399">
                <a:latin typeface="+mj-lt"/>
              </a:defRPr>
            </a:lvl1pPr>
            <a:lvl2pPr>
              <a:defRPr sz="1399">
                <a:latin typeface="+mj-lt"/>
              </a:defRPr>
            </a:lvl2pPr>
            <a:lvl3pPr>
              <a:defRPr sz="1399">
                <a:latin typeface="+mj-lt"/>
              </a:defRPr>
            </a:lvl3pPr>
            <a:lvl4pPr>
              <a:defRPr sz="1399">
                <a:latin typeface="+mj-lt"/>
              </a:defRPr>
            </a:lvl4pPr>
            <a:lvl5pPr>
              <a:defRPr sz="1399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1399" dirty="0">
                <a:latin typeface="IBM Plex Sans Light" panose="020B0403050203000203" pitchFamily="34" charset="0"/>
              </a:rPr>
              <a:t>Lorem ipsum dolor sit </a:t>
            </a:r>
            <a:r>
              <a:rPr lang="en-US" sz="1399" dirty="0" err="1">
                <a:latin typeface="IBM Plex Sans Light" panose="020B0403050203000203" pitchFamily="34" charset="0"/>
              </a:rPr>
              <a:t>amet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donec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quam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felis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ultricies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nec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pellentesque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eu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pretium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quis</a:t>
            </a:r>
            <a:r>
              <a:rPr lang="en-US" sz="1399" dirty="0">
                <a:latin typeface="IBM Plex Sans Light" panose="020B0403050203000203" pitchFamily="34" charset="0"/>
              </a:rPr>
              <a:t> sem. </a:t>
            </a:r>
            <a:r>
              <a:rPr lang="en-US" sz="1399" dirty="0" err="1">
                <a:latin typeface="IBM Plex Sans Light" panose="020B0403050203000203" pitchFamily="34" charset="0"/>
              </a:rPr>
              <a:t>Nulla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conset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massa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quis</a:t>
            </a:r>
            <a:r>
              <a:rPr lang="en-US" sz="1399" dirty="0">
                <a:latin typeface="IBM Plex Sans Light" panose="020B0403050203000203" pitchFamily="34" charset="0"/>
              </a:rPr>
              <a:t> </a:t>
            </a:r>
            <a:r>
              <a:rPr lang="en-US" sz="1399" dirty="0" err="1">
                <a:latin typeface="IBM Plex Sans Light" panose="020B0403050203000203" pitchFamily="34" charset="0"/>
              </a:rPr>
              <a:t>enim</a:t>
            </a:r>
            <a:r>
              <a:rPr lang="en-US" sz="1399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3A692A-1676-6CF7-0C8A-4F7121F041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889" y="192024"/>
            <a:ext cx="2477120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7654" y="288000"/>
            <a:ext cx="2475533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3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5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3B5C746-605B-82EF-1BDA-ACEE440DBE8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889" y="192024"/>
            <a:ext cx="2477120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7504" y="288000"/>
            <a:ext cx="2475533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3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5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6067" y="288000"/>
            <a:ext cx="2475533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3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5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3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D9C3903-98FD-E7A4-E46C-B8F6F94AB2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288036"/>
            <a:ext cx="11478311" cy="123437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B775CD8-643C-7C0D-FBAA-75AAE08CEC4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888" y="6408000"/>
            <a:ext cx="2477120" cy="190500"/>
          </a:xfrm>
        </p:spPr>
        <p:txBody>
          <a:bodyPr/>
          <a:lstStyle/>
          <a:p>
            <a:r>
              <a:rPr lang="en-US" dirty="0"/>
              <a:t>IBM Research © 2025 IBM Corp</a:t>
            </a:r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7" y="288036"/>
            <a:ext cx="11478311" cy="123437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6199" y="6475770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0642" y="3084231"/>
            <a:ext cx="172754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6199" y="6475858"/>
            <a:ext cx="13540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25" y="288036"/>
            <a:ext cx="11290651" cy="123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226" y="1663699"/>
            <a:ext cx="11290651" cy="443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888" y="6411643"/>
            <a:ext cx="2477120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IBM Research © 2025 IBM Corp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67" r:id="rId22"/>
    <p:sldLayoutId id="2147483966" r:id="rId23"/>
    <p:sldLayoutId id="2147483928" r:id="rId24"/>
    <p:sldLayoutId id="2147483948" r:id="rId25"/>
    <p:sldLayoutId id="2147483927" r:id="rId26"/>
    <p:sldLayoutId id="2147483950" r:id="rId27"/>
    <p:sldLayoutId id="2147483921" r:id="rId28"/>
    <p:sldLayoutId id="2147483916" r:id="rId29"/>
    <p:sldLayoutId id="2147483922" r:id="rId30"/>
    <p:sldLayoutId id="2147483965" r:id="rId31"/>
    <p:sldLayoutId id="2147483956" r:id="rId32"/>
    <p:sldLayoutId id="2147483923" r:id="rId33"/>
    <p:sldLayoutId id="2147483924" r:id="rId34"/>
    <p:sldLayoutId id="2147483926" r:id="rId35"/>
    <p:sldLayoutId id="2147483925" r:id="rId36"/>
    <p:sldLayoutId id="2147483959" r:id="rId37"/>
    <p:sldLayoutId id="2147483937" r:id="rId38"/>
    <p:sldLayoutId id="2147483932" r:id="rId39"/>
    <p:sldLayoutId id="2147483934" r:id="rId40"/>
    <p:sldLayoutId id="2147483935" r:id="rId41"/>
    <p:sldLayoutId id="2147483936" r:id="rId42"/>
    <p:sldLayoutId id="2147483938" r:id="rId43"/>
    <p:sldLayoutId id="2147483939" r:id="rId44"/>
    <p:sldLayoutId id="2147483964" r:id="rId45"/>
    <p:sldLayoutId id="2147483940" r:id="rId46"/>
    <p:sldLayoutId id="2147483960" r:id="rId47"/>
    <p:sldLayoutId id="2147483943" r:id="rId48"/>
    <p:sldLayoutId id="2147483963" r:id="rId49"/>
    <p:sldLayoutId id="2147483941" r:id="rId50"/>
  </p:sldLayoutIdLst>
  <p:transition spd="med"/>
  <p:hf hdr="0" dt="0"/>
  <p:txStyles>
    <p:titleStyle>
      <a:lvl1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11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25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635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848" algn="l" defTabSz="12187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799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164526" marR="0" indent="-164526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799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2pPr>
      <a:lvl3pPr marL="329052" marR="0" indent="-164526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799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3pPr>
      <a:lvl4pPr marL="493578" marR="0" indent="-164526" algn="l" defTabSz="12187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799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4pPr>
      <a:lvl5pPr marL="571271" marR="0" indent="-228509" algn="l" defTabSz="1218712" rtl="0" eaLnBrk="1" latinLnBrk="0" hangingPunct="1">
        <a:lnSpc>
          <a:spcPct val="110000"/>
        </a:lnSpc>
        <a:spcBef>
          <a:spcPts val="1449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17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161" marR="0" indent="-194427" algn="l" defTabSz="1218712" rtl="0" eaLnBrk="1" latinLnBrk="0" hangingPunct="1">
        <a:lnSpc>
          <a:spcPct val="100000"/>
        </a:lnSpc>
        <a:spcBef>
          <a:spcPts val="1449"/>
        </a:spcBef>
        <a:spcAft>
          <a:spcPts val="0"/>
        </a:spcAft>
        <a:buClrTx/>
        <a:buSzPct val="100000"/>
        <a:buFontTx/>
        <a:buChar char="»"/>
        <a:tabLst/>
        <a:defRPr sz="17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375" marR="0" indent="-194427" algn="l" defTabSz="1218712" rtl="0" eaLnBrk="1" latinLnBrk="0" hangingPunct="1">
        <a:lnSpc>
          <a:spcPct val="100000"/>
        </a:lnSpc>
        <a:spcBef>
          <a:spcPts val="1449"/>
        </a:spcBef>
        <a:spcAft>
          <a:spcPts val="0"/>
        </a:spcAft>
        <a:buClrTx/>
        <a:buSzPct val="100000"/>
        <a:buFontTx/>
        <a:buChar char="»"/>
        <a:tabLst/>
        <a:defRPr sz="17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586" marR="0" indent="-194427" algn="l" defTabSz="1218712" rtl="0" eaLnBrk="1" latinLnBrk="0" hangingPunct="1">
        <a:lnSpc>
          <a:spcPct val="100000"/>
        </a:lnSpc>
        <a:spcBef>
          <a:spcPts val="1449"/>
        </a:spcBef>
        <a:spcAft>
          <a:spcPts val="0"/>
        </a:spcAft>
        <a:buClrTx/>
        <a:buSzPct val="100000"/>
        <a:buFontTx/>
        <a:buChar char="»"/>
        <a:tabLst/>
        <a:defRPr sz="17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4799" marR="0" indent="-194427" algn="l" defTabSz="1218712" rtl="0" eaLnBrk="1" latinLnBrk="0" hangingPunct="1">
        <a:lnSpc>
          <a:spcPct val="100000"/>
        </a:lnSpc>
        <a:spcBef>
          <a:spcPts val="1449"/>
        </a:spcBef>
        <a:spcAft>
          <a:spcPts val="0"/>
        </a:spcAft>
        <a:buClrTx/>
        <a:buSzPct val="100000"/>
        <a:buFontTx/>
        <a:buChar char="»"/>
        <a:tabLst/>
        <a:defRPr sz="17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27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854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281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709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135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562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199990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417" algn="r" defTabSz="91427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182" userDrawn="1">
          <p15:clr>
            <a:srgbClr val="EE5396"/>
          </p15:clr>
        </p15:guide>
        <p15:guide id="4" pos="1919" userDrawn="1">
          <p15:clr>
            <a:srgbClr val="0F62FE"/>
          </p15:clr>
        </p15:guide>
        <p15:guide id="5" pos="958" userDrawn="1">
          <p15:clr>
            <a:srgbClr val="EE5396"/>
          </p15:clr>
        </p15:guide>
        <p15:guide id="6" pos="2877" userDrawn="1">
          <p15:clr>
            <a:srgbClr val="EE5396"/>
          </p15:clr>
        </p15:guide>
        <p15:guide id="7" pos="3658" userDrawn="1">
          <p15:clr>
            <a:srgbClr val="EE5396"/>
          </p15:clr>
        </p15:guide>
        <p15:guide id="8" pos="4018" userDrawn="1">
          <p15:clr>
            <a:srgbClr val="EE5396"/>
          </p15:clr>
        </p15:guide>
        <p15:guide id="9" pos="2099" userDrawn="1">
          <p15:clr>
            <a:srgbClr val="EE5396"/>
          </p15:clr>
        </p15:guide>
        <p15:guide id="10" pos="1739" userDrawn="1">
          <p15:clr>
            <a:srgbClr val="EE5396"/>
          </p15:clr>
        </p15:guide>
        <p15:guide id="11" pos="4795" userDrawn="1">
          <p15:clr>
            <a:srgbClr val="EE5396"/>
          </p15:clr>
        </p15:guide>
        <p15:guide id="13" pos="5578" userDrawn="1">
          <p15:clr>
            <a:srgbClr val="EE5396"/>
          </p15:clr>
        </p15:guide>
        <p15:guide id="14" pos="5938" userDrawn="1">
          <p15:clr>
            <a:srgbClr val="EE5396"/>
          </p15:clr>
        </p15:guide>
        <p15:guide id="15" pos="6717" userDrawn="1">
          <p15:clr>
            <a:srgbClr val="EE5396"/>
          </p15:clr>
        </p15:guide>
        <p15:guide id="16" pos="7495" userDrawn="1">
          <p15:clr>
            <a:srgbClr val="EE5396"/>
          </p15:clr>
        </p15:guide>
        <p15:guide id="19" orient="horz" pos="1920" userDrawn="1">
          <p15:clr>
            <a:srgbClr val="EE5396"/>
          </p15:clr>
        </p15:guide>
        <p15:guide id="20" orient="horz" pos="479" userDrawn="1">
          <p15:clr>
            <a:srgbClr val="EE5396"/>
          </p15:clr>
        </p15:guide>
        <p15:guide id="25" orient="horz" pos="3841" userDrawn="1">
          <p15:clr>
            <a:srgbClr val="EE5396"/>
          </p15:clr>
        </p15:guide>
        <p15:guide id="26" pos="3839" userDrawn="1">
          <p15:clr>
            <a:srgbClr val="0F62FE"/>
          </p15:clr>
        </p15:guide>
        <p15:guide id="27" pos="5758" userDrawn="1">
          <p15:clr>
            <a:srgbClr val="0F62FE"/>
          </p15:clr>
        </p15:guide>
        <p15:guide id="30" orient="horz" pos="959" userDrawn="1">
          <p15:clr>
            <a:srgbClr val="EE5396"/>
          </p15:clr>
        </p15:guide>
        <p15:guide id="32" orient="horz" pos="3360" userDrawn="1">
          <p15:clr>
            <a:srgbClr val="EE5396"/>
          </p15:clr>
        </p15:guide>
        <p15:guide id="33" orient="horz" pos="1440" userDrawn="1">
          <p15:clr>
            <a:srgbClr val="EE5396"/>
          </p15:clr>
        </p15:guide>
        <p15:guide id="34" orient="horz" pos="2400" userDrawn="1">
          <p15:clr>
            <a:srgbClr val="EE5396"/>
          </p15:clr>
        </p15:guide>
        <p15:guide id="35" orient="horz" pos="2879" userDrawn="1">
          <p15:clr>
            <a:srgbClr val="EE5396"/>
          </p15:clr>
        </p15:guide>
        <p15:guide id="36" orient="horz" pos="4142" userDrawn="1">
          <p15:clr>
            <a:srgbClr val="9FCC3B"/>
          </p15:clr>
        </p15:guide>
        <p15:guide id="37" orient="horz" pos="18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vectors/%EC%A7%80%EB%8F%84-%EC%83%88-%EB%89%B4%EC%9A%95-%EC%83%81%ED%83%9C-%EC%A7%80%EB%A6%AC-43774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Relationship Id="rId5" Type="http://schemas.openxmlformats.org/officeDocument/2006/relationships/hyperlink" Target="https://www.pngplay.com/image/152605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EB918-2868-33E6-889A-FA5F85B679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9A87D5-395E-AEF6-1F58-0B6EE4C1A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C018B0E-C591-6FCF-E67D-8C586466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8" y="155575"/>
            <a:ext cx="11614552" cy="3654425"/>
          </a:xfrm>
        </p:spPr>
        <p:txBody>
          <a:bodyPr/>
          <a:lstStyle/>
          <a:p>
            <a:r>
              <a:rPr lang="en-US" dirty="0"/>
              <a:t> Generative AI for enhancing societal polls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Dinesh C. Verma</a:t>
            </a:r>
          </a:p>
        </p:txBody>
      </p:sp>
    </p:spTree>
    <p:extLst>
      <p:ext uri="{BB962C8B-B14F-4D97-AF65-F5344CB8AC3E}">
        <p14:creationId xmlns:p14="http://schemas.microsoft.com/office/powerpoint/2010/main" val="409816880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6960-C56E-D5B6-0524-D93ED596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5A50-7C0D-4028-79DD-F92E512B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8CCC-E163-DD2F-44A2-87BD98548C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999" b="1" dirty="0"/>
              <a:t>Population opinion polls are a key part of political, economy and market research conducted by pollsters and enterprises </a:t>
            </a:r>
          </a:p>
          <a:p>
            <a:endParaRPr lang="en-US" sz="1999" b="1" dirty="0"/>
          </a:p>
          <a:p>
            <a:r>
              <a:rPr lang="en-US" sz="1999" b="1" dirty="0"/>
              <a:t>Sentiments of people today are collected by means of polls on a small sample of population </a:t>
            </a:r>
          </a:p>
          <a:p>
            <a:endParaRPr lang="en-US" sz="1999" b="1" dirty="0"/>
          </a:p>
          <a:p>
            <a:r>
              <a:rPr lang="en-US" sz="1999" b="1" dirty="0"/>
              <a:t>Challenges</a:t>
            </a:r>
          </a:p>
          <a:p>
            <a:pPr lvl="1"/>
            <a:r>
              <a:rPr lang="en-US" sz="1999" b="1" dirty="0"/>
              <a:t>Sample may or may not be fully representative </a:t>
            </a:r>
          </a:p>
          <a:p>
            <a:pPr lvl="2"/>
            <a:r>
              <a:rPr lang="en-US" dirty="0"/>
              <a:t>Relevant only to polled mix of population </a:t>
            </a:r>
          </a:p>
          <a:p>
            <a:pPr lvl="2"/>
            <a:r>
              <a:rPr lang="en-US" dirty="0"/>
              <a:t>Results are hard to generalize</a:t>
            </a:r>
          </a:p>
          <a:p>
            <a:pPr lvl="1"/>
            <a:r>
              <a:rPr lang="en-US" sz="1999" b="1" dirty="0"/>
              <a:t>Polling is expensive and slow </a:t>
            </a:r>
          </a:p>
          <a:p>
            <a:pPr lvl="2"/>
            <a:r>
              <a:rPr lang="en-US" dirty="0"/>
              <a:t>Many plans for polling are abandoned </a:t>
            </a:r>
          </a:p>
          <a:p>
            <a:pPr lvl="2"/>
            <a:r>
              <a:rPr lang="en-US" dirty="0"/>
              <a:t>For new questions, new polls need to be conducted (more expense/time) </a:t>
            </a:r>
            <a:endParaRPr lang="en-US" b="1" dirty="0"/>
          </a:p>
          <a:p>
            <a:pPr lvl="1"/>
            <a:r>
              <a:rPr lang="en-US" sz="1999" b="1" dirty="0"/>
              <a:t>Poll results are hard to explain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35E58-6921-1CFF-48D1-98D969238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B5D80-57B2-7AD7-B5CC-409E4ABFA4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19912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0B80-3DAC-0C3B-4D31-AE0538AA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Illustration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662D2-2F63-4820-948A-00E71E10E2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Consider a company operating in New York and New Jersey which wants to get answer to the poll question: </a:t>
            </a:r>
          </a:p>
          <a:p>
            <a:pPr lvl="1"/>
            <a:r>
              <a:rPr lang="en-US" sz="1600" dirty="0"/>
              <a:t>What do you think about proposed changes to Medicare?</a:t>
            </a:r>
          </a:p>
          <a:p>
            <a:pPr lvl="1"/>
            <a:r>
              <a:rPr lang="en-US" sz="1600" dirty="0"/>
              <a:t> For its audience in New Jersey </a:t>
            </a:r>
          </a:p>
          <a:p>
            <a:r>
              <a:rPr lang="en-US" dirty="0"/>
              <a:t>It has already conducted an earlier poll with the same question in New York </a:t>
            </a:r>
          </a:p>
          <a:p>
            <a:r>
              <a:rPr lang="en-US" dirty="0"/>
              <a:t>How can it extrapolate from NY results to NJ without conducting a new poll (or a smaller poll) </a:t>
            </a:r>
          </a:p>
          <a:p>
            <a:r>
              <a:rPr lang="en-US" dirty="0"/>
              <a:t>Variations: </a:t>
            </a:r>
          </a:p>
          <a:p>
            <a:pPr lvl="1"/>
            <a:r>
              <a:rPr lang="en-US" sz="1600" dirty="0"/>
              <a:t>Questions may be different </a:t>
            </a:r>
          </a:p>
          <a:p>
            <a:pPr lvl="2"/>
            <a:r>
              <a:rPr lang="en-US" dirty="0"/>
              <a:t>What do you think about proposed revisions to social security?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83B09-7662-DBD8-9892-9523F0896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3213-2E85-14F9-FFCE-0A91B8CF7A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3F9D918B-B1DB-7524-B032-614DB315EDCF}"/>
              </a:ext>
            </a:extLst>
          </p:cNvPr>
          <p:cNvSpPr/>
          <p:nvPr/>
        </p:nvSpPr>
        <p:spPr bwMode="auto">
          <a:xfrm>
            <a:off x="7623717" y="2599810"/>
            <a:ext cx="688590" cy="819185"/>
          </a:xfrm>
          <a:prstGeom prst="can">
            <a:avLst/>
          </a:prstGeom>
          <a:solidFill>
            <a:schemeClr val="accent2"/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5991" tIns="35991" rIns="35991" bIns="35991" numCol="1" rtlCol="0" anchor="t" anchorCtr="0" compatLnSpc="1">
            <a:prstTxWarp prst="textNoShape">
              <a:avLst/>
            </a:prstTxWarp>
          </a:bodyPr>
          <a:lstStyle/>
          <a:p>
            <a:pPr defTabSz="91412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A5617-FC5D-D5B9-42E1-53963A769316}"/>
              </a:ext>
            </a:extLst>
          </p:cNvPr>
          <p:cNvSpPr txBox="1"/>
          <p:nvPr/>
        </p:nvSpPr>
        <p:spPr>
          <a:xfrm>
            <a:off x="8312306" y="2647891"/>
            <a:ext cx="1306428" cy="738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Real Poll Data</a:t>
            </a:r>
          </a:p>
          <a:p>
            <a:pPr algn="l"/>
            <a:endParaRPr lang="en-US" sz="1400" dirty="0">
              <a:latin typeface="IBM Plex Sans" charset="0"/>
              <a:ea typeface="IBM Plex Sans" charset="0"/>
              <a:cs typeface="IBM Plex Sans" charset="0"/>
            </a:endParaRP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1000 people </a:t>
            </a:r>
          </a:p>
        </p:txBody>
      </p:sp>
      <p:pic>
        <p:nvPicPr>
          <p:cNvPr id="8" name="Picture 7" descr="지도 새 뉴욕 - Pixabay의 무료 벡터 그래픽">
            <a:extLst>
              <a:ext uri="{FF2B5EF4-FFF2-40B4-BE49-F238E27FC236}">
                <a16:creationId xmlns:a16="http://schemas.microsoft.com/office/drawing/2014/main" id="{082B9FE1-2FAD-E16F-B5E3-603EEE70429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23716" y="1777229"/>
            <a:ext cx="865461" cy="628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7D28C7-1BD4-C0AE-6C54-868F6CD888A4}"/>
              </a:ext>
            </a:extLst>
          </p:cNvPr>
          <p:cNvSpPr txBox="1"/>
          <p:nvPr/>
        </p:nvSpPr>
        <p:spPr>
          <a:xfrm>
            <a:off x="8482253" y="1399316"/>
            <a:ext cx="1828255" cy="1384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Median: 40 years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Under 18: 16% 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18-40: 33%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40-65: 34%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Over 65: 17% </a:t>
            </a:r>
          </a:p>
          <a:p>
            <a:pPr algn="l"/>
            <a:endParaRPr lang="en-US" sz="1400" dirty="0"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FBFE5-CBD8-8B44-ABAB-FC51B10FD7BF}"/>
              </a:ext>
            </a:extLst>
          </p:cNvPr>
          <p:cNvSpPr txBox="1"/>
          <p:nvPr/>
        </p:nvSpPr>
        <p:spPr>
          <a:xfrm>
            <a:off x="9276464" y="5596145"/>
            <a:ext cx="1833678" cy="52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Desired Poll Data for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1000 people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A8E32-57E6-8723-668E-0749663EAFBF}"/>
              </a:ext>
            </a:extLst>
          </p:cNvPr>
          <p:cNvSpPr txBox="1"/>
          <p:nvPr/>
        </p:nvSpPr>
        <p:spPr>
          <a:xfrm>
            <a:off x="9446411" y="4347570"/>
            <a:ext cx="1828255" cy="1384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Median: 40 years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Under 18: 22% 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18-40: 25%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40-65: 26%</a:t>
            </a:r>
          </a:p>
          <a:p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Over 65: 27% </a:t>
            </a:r>
          </a:p>
          <a:p>
            <a:pPr algn="l"/>
            <a:endParaRPr lang="en-US" sz="1400" dirty="0"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12" name="Picture 11" descr="New Jersey Map, Outline, State Transparent">
            <a:extLst>
              <a:ext uri="{FF2B5EF4-FFF2-40B4-BE49-F238E27FC236}">
                <a16:creationId xmlns:a16="http://schemas.microsoft.com/office/drawing/2014/main" id="{C4050227-6974-58CD-7071-94FC682B72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640051" y="4493265"/>
            <a:ext cx="1102881" cy="11028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4DB74C-2CE2-8184-2374-1AC50D7E2891}"/>
              </a:ext>
            </a:extLst>
          </p:cNvPr>
          <p:cNvSpPr txBox="1"/>
          <p:nvPr/>
        </p:nvSpPr>
        <p:spPr>
          <a:xfrm>
            <a:off x="10245634" y="2026886"/>
            <a:ext cx="923410" cy="52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Available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Data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364CB72-7E0D-162F-1DBD-83D28FB835E5}"/>
              </a:ext>
            </a:extLst>
          </p:cNvPr>
          <p:cNvSpPr/>
          <p:nvPr/>
        </p:nvSpPr>
        <p:spPr bwMode="auto">
          <a:xfrm>
            <a:off x="7186423" y="1282694"/>
            <a:ext cx="3081151" cy="2322732"/>
          </a:xfrm>
          <a:prstGeom prst="roundRect">
            <a:avLst/>
          </a:prstGeom>
          <a:noFill/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5991" tIns="35991" rIns="35991" bIns="35991" numCol="1" rtlCol="0" anchor="t" anchorCtr="0" compatLnSpc="1">
            <a:prstTxWarp prst="textNoShape">
              <a:avLst/>
            </a:prstTxWarp>
          </a:bodyPr>
          <a:lstStyle/>
          <a:p>
            <a:pPr defTabSz="91412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9D72DB4-4162-5E83-EF5B-29FAB6F3698C}"/>
              </a:ext>
            </a:extLst>
          </p:cNvPr>
          <p:cNvSpPr/>
          <p:nvPr/>
        </p:nvSpPr>
        <p:spPr bwMode="auto">
          <a:xfrm>
            <a:off x="8779280" y="4347570"/>
            <a:ext cx="2380029" cy="1892046"/>
          </a:xfrm>
          <a:prstGeom prst="roundRect">
            <a:avLst/>
          </a:prstGeom>
          <a:noFill/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5991" tIns="35991" rIns="35991" bIns="35991" numCol="1" rtlCol="0" anchor="t" anchorCtr="0" compatLnSpc="1">
            <a:prstTxWarp prst="textNoShape">
              <a:avLst/>
            </a:prstTxWarp>
          </a:bodyPr>
          <a:lstStyle/>
          <a:p>
            <a:pPr defTabSz="91412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6FCF5-A151-8D67-448C-017AB8367C24}"/>
              </a:ext>
            </a:extLst>
          </p:cNvPr>
          <p:cNvSpPr txBox="1"/>
          <p:nvPr/>
        </p:nvSpPr>
        <p:spPr>
          <a:xfrm>
            <a:off x="10303815" y="3856649"/>
            <a:ext cx="803216" cy="52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Desired</a:t>
            </a:r>
          </a:p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Data</a:t>
            </a:r>
          </a:p>
        </p:txBody>
      </p:sp>
      <p:sp>
        <p:nvSpPr>
          <p:cNvPr id="17" name="Bent Arrow 16">
            <a:extLst>
              <a:ext uri="{FF2B5EF4-FFF2-40B4-BE49-F238E27FC236}">
                <a16:creationId xmlns:a16="http://schemas.microsoft.com/office/drawing/2014/main" id="{2E091111-521A-FC41-A6FA-12492614976C}"/>
              </a:ext>
            </a:extLst>
          </p:cNvPr>
          <p:cNvSpPr/>
          <p:nvPr/>
        </p:nvSpPr>
        <p:spPr bwMode="auto">
          <a:xfrm flipV="1">
            <a:off x="7789316" y="3722048"/>
            <a:ext cx="937683" cy="1210286"/>
          </a:xfrm>
          <a:prstGeom prst="bentArrow">
            <a:avLst/>
          </a:prstGeom>
          <a:solidFill>
            <a:schemeClr val="accent2"/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5991" tIns="35991" rIns="35991" bIns="35991" numCol="1" rtlCol="0" anchor="t" anchorCtr="0" compatLnSpc="1">
            <a:prstTxWarp prst="textNoShape">
              <a:avLst/>
            </a:prstTxWarp>
          </a:bodyPr>
          <a:lstStyle/>
          <a:p>
            <a:pPr defTabSz="91412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5E361AF-B6D3-CEA3-1E51-D238B8BC555E}"/>
              </a:ext>
            </a:extLst>
          </p:cNvPr>
          <p:cNvSpPr/>
          <p:nvPr/>
        </p:nvSpPr>
        <p:spPr bwMode="auto">
          <a:xfrm>
            <a:off x="7361846" y="3890480"/>
            <a:ext cx="1071734" cy="712334"/>
          </a:xfrm>
          <a:prstGeom prst="roundRect">
            <a:avLst/>
          </a:prstGeom>
          <a:solidFill>
            <a:srgbClr val="65FFFA">
              <a:alpha val="50196"/>
            </a:srgbClr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5991" tIns="35991" rIns="35991" bIns="35991" numCol="1" rtlCol="0" anchor="t" anchorCtr="0" compatLnSpc="1">
            <a:prstTxWarp prst="textNoShape">
              <a:avLst/>
            </a:prstTxWarp>
          </a:bodyPr>
          <a:lstStyle/>
          <a:p>
            <a:pPr defTabSz="91412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FF793-0CA5-D810-9E4C-058EB0DFD666}"/>
              </a:ext>
            </a:extLst>
          </p:cNvPr>
          <p:cNvSpPr txBox="1"/>
          <p:nvPr/>
        </p:nvSpPr>
        <p:spPr>
          <a:xfrm>
            <a:off x="6973341" y="4582667"/>
            <a:ext cx="1019565" cy="307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IBM Plex Sans" charset="0"/>
                <a:ea typeface="IBM Plex Sans" charset="0"/>
                <a:cs typeface="IBM Plex Sans" charset="0"/>
              </a:rPr>
              <a:t>Apparatus</a:t>
            </a:r>
          </a:p>
        </p:txBody>
      </p:sp>
    </p:spTree>
    <p:extLst>
      <p:ext uri="{BB962C8B-B14F-4D97-AF65-F5344CB8AC3E}">
        <p14:creationId xmlns:p14="http://schemas.microsoft.com/office/powerpoint/2010/main" val="95222865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85C1-60F9-9BCA-00D1-9247C4CA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A88F5-1B3D-BABA-B2B4-72EE73ADA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8B046-73EF-3CE7-C3CD-F49890C03FE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34F5AF-34CE-A9FC-3C50-FF7D76A6944D}"/>
              </a:ext>
            </a:extLst>
          </p:cNvPr>
          <p:cNvSpPr/>
          <p:nvPr/>
        </p:nvSpPr>
        <p:spPr bwMode="auto">
          <a:xfrm>
            <a:off x="280417" y="669479"/>
            <a:ext cx="4897225" cy="6049243"/>
          </a:xfrm>
          <a:prstGeom prst="roundRect">
            <a:avLst/>
          </a:prstGeom>
          <a:solidFill>
            <a:srgbClr val="B2FFFD">
              <a:alpha val="50196"/>
            </a:srgbClr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C26782-0AC8-66BE-F258-9AC26AB029CD}"/>
              </a:ext>
            </a:extLst>
          </p:cNvPr>
          <p:cNvSpPr/>
          <p:nvPr/>
        </p:nvSpPr>
        <p:spPr bwMode="auto">
          <a:xfrm>
            <a:off x="5506644" y="692008"/>
            <a:ext cx="2744425" cy="6049243"/>
          </a:xfrm>
          <a:prstGeom prst="roundRect">
            <a:avLst/>
          </a:prstGeom>
          <a:solidFill>
            <a:srgbClr val="B2FFFD">
              <a:alpha val="50196"/>
            </a:srgbClr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A11092F-D729-56C2-0464-73E747CCC2A2}"/>
              </a:ext>
            </a:extLst>
          </p:cNvPr>
          <p:cNvSpPr/>
          <p:nvPr/>
        </p:nvSpPr>
        <p:spPr bwMode="auto">
          <a:xfrm>
            <a:off x="8573669" y="719771"/>
            <a:ext cx="3191584" cy="2951181"/>
          </a:xfrm>
          <a:prstGeom prst="roundRect">
            <a:avLst/>
          </a:prstGeom>
          <a:solidFill>
            <a:srgbClr val="B2FFFD">
              <a:alpha val="50196"/>
            </a:srgbClr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1DDDA2-EDB0-65CE-F392-3958284C3E4B}"/>
              </a:ext>
            </a:extLst>
          </p:cNvPr>
          <p:cNvSpPr/>
          <p:nvPr/>
        </p:nvSpPr>
        <p:spPr bwMode="auto">
          <a:xfrm>
            <a:off x="8573670" y="4099589"/>
            <a:ext cx="3440391" cy="2609908"/>
          </a:xfrm>
          <a:prstGeom prst="roundRect">
            <a:avLst/>
          </a:prstGeom>
          <a:solidFill>
            <a:srgbClr val="B2FFFD">
              <a:alpha val="50196"/>
            </a:srgbClr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B615F-A1F8-2246-8673-4EDBFC7D66EC}"/>
              </a:ext>
            </a:extLst>
          </p:cNvPr>
          <p:cNvSpPr txBox="1"/>
          <p:nvPr/>
        </p:nvSpPr>
        <p:spPr>
          <a:xfrm>
            <a:off x="1317103" y="3347945"/>
            <a:ext cx="277351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Obtain Real Poll Sample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C9A42-D6F9-47E9-26B3-9EB8B0922776}"/>
              </a:ext>
            </a:extLst>
          </p:cNvPr>
          <p:cNvSpPr txBox="1"/>
          <p:nvPr/>
        </p:nvSpPr>
        <p:spPr>
          <a:xfrm>
            <a:off x="5560972" y="3122243"/>
            <a:ext cx="2565126" cy="1241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Learn Attributes of an </a:t>
            </a:r>
            <a:br>
              <a:rPr lang="en-US" sz="1867" dirty="0"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Artificial Society</a:t>
            </a:r>
          </a:p>
          <a:p>
            <a:pPr algn="l"/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that matches real poll</a:t>
            </a:r>
          </a:p>
          <a:p>
            <a:pPr algn="l"/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sample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4DF9E6-38BD-3DCF-AE25-3E23B3D16D84}"/>
              </a:ext>
            </a:extLst>
          </p:cNvPr>
          <p:cNvSpPr txBox="1"/>
          <p:nvPr/>
        </p:nvSpPr>
        <p:spPr>
          <a:xfrm>
            <a:off x="8511305" y="1626128"/>
            <a:ext cx="3012363" cy="954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Create an Artificial Society</a:t>
            </a:r>
          </a:p>
          <a:p>
            <a:pPr algn="l"/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with question-answering </a:t>
            </a:r>
            <a:br>
              <a:rPr lang="en-US" sz="1867" dirty="0"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agents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931232-279C-45C9-1C37-62AF4A02C4D6}"/>
              </a:ext>
            </a:extLst>
          </p:cNvPr>
          <p:cNvSpPr txBox="1"/>
          <p:nvPr/>
        </p:nvSpPr>
        <p:spPr>
          <a:xfrm>
            <a:off x="8977746" y="4739429"/>
            <a:ext cx="2250937" cy="954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Run polls for</a:t>
            </a:r>
            <a:br>
              <a:rPr lang="en-US" sz="1867" dirty="0"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new environment</a:t>
            </a:r>
            <a:br>
              <a:rPr lang="en-US" sz="1867" dirty="0"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867" dirty="0">
                <a:latin typeface="IBM Plex Sans" charset="0"/>
                <a:ea typeface="IBM Plex Sans" charset="0"/>
                <a:cs typeface="IBM Plex Sans" charset="0"/>
              </a:rPr>
              <a:t>on Artificial Society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27CC9ED-06A7-3B37-A17E-31067F69E84D}"/>
              </a:ext>
            </a:extLst>
          </p:cNvPr>
          <p:cNvSpPr/>
          <p:nvPr/>
        </p:nvSpPr>
        <p:spPr bwMode="auto">
          <a:xfrm>
            <a:off x="5184041" y="3463126"/>
            <a:ext cx="383331" cy="415652"/>
          </a:xfrm>
          <a:prstGeom prst="rightArrow">
            <a:avLst/>
          </a:prstGeom>
          <a:solidFill>
            <a:schemeClr val="accent2"/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642186D3-9A84-6804-AF4A-64B20FCCE274}"/>
              </a:ext>
            </a:extLst>
          </p:cNvPr>
          <p:cNvSpPr/>
          <p:nvPr/>
        </p:nvSpPr>
        <p:spPr bwMode="auto">
          <a:xfrm>
            <a:off x="8251068" y="1779710"/>
            <a:ext cx="383331" cy="415652"/>
          </a:xfrm>
          <a:prstGeom prst="rightArrow">
            <a:avLst/>
          </a:prstGeom>
          <a:solidFill>
            <a:schemeClr val="accent2"/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A90AAB82-3240-6A44-04F2-78ECC4B617B7}"/>
              </a:ext>
            </a:extLst>
          </p:cNvPr>
          <p:cNvSpPr/>
          <p:nvPr/>
        </p:nvSpPr>
        <p:spPr bwMode="auto">
          <a:xfrm rot="5400000">
            <a:off x="9977795" y="3677445"/>
            <a:ext cx="383331" cy="415652"/>
          </a:xfrm>
          <a:prstGeom prst="rightArrow">
            <a:avLst/>
          </a:prstGeom>
          <a:solidFill>
            <a:schemeClr val="accent2"/>
          </a:solidFill>
          <a:ln w="1905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73102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5028-1DE3-6A25-F4AD-9B3DA9A2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Synthetic Communities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691E2-A076-5300-559A-ADEFBDEAB9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synthetic community is a simulated community which feels like a real community </a:t>
            </a:r>
          </a:p>
          <a:p>
            <a:pPr lvl="1"/>
            <a:r>
              <a:rPr lang="en-US" dirty="0"/>
              <a:t>Consists of a collection of one or more agents </a:t>
            </a:r>
          </a:p>
          <a:p>
            <a:pPr lvl="1"/>
            <a:r>
              <a:rPr lang="en-US" dirty="0"/>
              <a:t>Each agent is capable of generating a textual response to a question </a:t>
            </a:r>
          </a:p>
          <a:p>
            <a:pPr lvl="1"/>
            <a:endParaRPr lang="en-US" dirty="0"/>
          </a:p>
          <a:p>
            <a:r>
              <a:rPr lang="en-US" dirty="0"/>
              <a:t>Usage of Synthetic Communities </a:t>
            </a:r>
          </a:p>
          <a:p>
            <a:pPr lvl="1"/>
            <a:r>
              <a:rPr lang="en-US" dirty="0"/>
              <a:t>Can be used to extrapolate poll results from real communities</a:t>
            </a:r>
          </a:p>
          <a:p>
            <a:pPr lvl="2"/>
            <a:r>
              <a:rPr lang="en-US" dirty="0"/>
              <a:t>Generate responses for a related question that differs from one that was asked </a:t>
            </a:r>
          </a:p>
          <a:p>
            <a:pPr lvl="2"/>
            <a:r>
              <a:rPr lang="en-US" dirty="0"/>
              <a:t>Generate polling results for a community that may have different properties than existing community </a:t>
            </a:r>
          </a:p>
          <a:p>
            <a:pPr lvl="2"/>
            <a:r>
              <a:rPr lang="en-US" dirty="0"/>
              <a:t>Explore what-if scenario on polling results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Can be used as simulated focus groups for business problems </a:t>
            </a:r>
          </a:p>
          <a:p>
            <a:pPr lvl="1"/>
            <a:r>
              <a:rPr lang="en-US" dirty="0"/>
              <a:t>Can be used to study social policies and their impact </a:t>
            </a:r>
          </a:p>
          <a:p>
            <a:pPr lvl="2"/>
            <a:r>
              <a:rPr lang="en-US" dirty="0"/>
              <a:t>Examine reactions of synthetic agents to various policies.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A4FC3-C71F-8C99-BD09-173DBEF24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0EA26-A56D-7FE9-E78B-6F5A467FF3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0360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12B7-8AEE-6630-E57C-5A71ADD7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of Synthetic Society/Synthetic Agents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8C452-268E-E2A2-5C83-6A98413D4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6229" y="1524000"/>
            <a:ext cx="6267799" cy="4576762"/>
          </a:xfrm>
        </p:spPr>
        <p:txBody>
          <a:bodyPr/>
          <a:lstStyle/>
          <a:p>
            <a:r>
              <a:rPr lang="en-US" dirty="0"/>
              <a:t>We model a synthetic society as a collection of Synthetic Agents </a:t>
            </a:r>
          </a:p>
          <a:p>
            <a:endParaRPr lang="en-US" dirty="0"/>
          </a:p>
          <a:p>
            <a:r>
              <a:rPr lang="en-US" dirty="0"/>
              <a:t>A Synthetic Agent is a responder/translator </a:t>
            </a:r>
          </a:p>
          <a:p>
            <a:pPr lvl="1"/>
            <a:r>
              <a:rPr lang="en-US" dirty="0"/>
              <a:t>It translates X to Y </a:t>
            </a:r>
          </a:p>
          <a:p>
            <a:pPr lvl="1"/>
            <a:r>
              <a:rPr lang="en-US" dirty="0"/>
              <a:t>Example: When the agent is asked question X, it replies with Y </a:t>
            </a:r>
          </a:p>
          <a:p>
            <a:endParaRPr lang="en-US" dirty="0"/>
          </a:p>
          <a:p>
            <a:r>
              <a:rPr lang="en-US" dirty="0"/>
              <a:t>Each instance of an agent is defined by its attributes and its type </a:t>
            </a:r>
          </a:p>
          <a:p>
            <a:pPr marL="0" lvl="1" indent="0">
              <a:buNone/>
            </a:pPr>
            <a:endParaRPr lang="en-US" dirty="0"/>
          </a:p>
          <a:p>
            <a:r>
              <a:rPr lang="en-US" dirty="0"/>
              <a:t>A society is a collection of different types of Synthetic Agents </a:t>
            </a:r>
          </a:p>
          <a:p>
            <a:pPr lvl="1"/>
            <a:r>
              <a:rPr lang="en-US" dirty="0"/>
              <a:t>Each type of Agent has a different way to map X to Y</a:t>
            </a:r>
          </a:p>
          <a:p>
            <a:pPr lvl="1"/>
            <a:r>
              <a:rPr lang="en-US" dirty="0"/>
              <a:t>In effect, each type of agent is associated with a different AI model configuration.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4BC5E-3945-F128-BCD5-6C5CE935D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8BFF8-0DE4-1450-1F28-65C1262F72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  <p:pic>
        <p:nvPicPr>
          <p:cNvPr id="8" name="Graphic 7" descr="Artificial Intelligence with solid fill">
            <a:extLst>
              <a:ext uri="{FF2B5EF4-FFF2-40B4-BE49-F238E27FC236}">
                <a16:creationId xmlns:a16="http://schemas.microsoft.com/office/drawing/2014/main" id="{F30340E5-5713-505E-2DB8-AC4EDC2B0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338551" y="1524000"/>
            <a:ext cx="1104126" cy="110412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6E09D8-10BE-14A5-B269-3374E9E178AA}"/>
              </a:ext>
            </a:extLst>
          </p:cNvPr>
          <p:cNvCxnSpPr/>
          <p:nvPr/>
        </p:nvCxnSpPr>
        <p:spPr bwMode="auto">
          <a:xfrm>
            <a:off x="8268511" y="1906621"/>
            <a:ext cx="105058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CC4CD26-EE99-93C8-154B-858EEF8EF72E}"/>
              </a:ext>
            </a:extLst>
          </p:cNvPr>
          <p:cNvSpPr txBox="1"/>
          <p:nvPr/>
        </p:nvSpPr>
        <p:spPr>
          <a:xfrm>
            <a:off x="7937768" y="1789890"/>
            <a:ext cx="311285" cy="330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95C5AE-4C3D-EF7F-53E9-B408DC119897}"/>
              </a:ext>
            </a:extLst>
          </p:cNvPr>
          <p:cNvCxnSpPr>
            <a:cxnSpLocks/>
          </p:cNvCxnSpPr>
          <p:nvPr/>
        </p:nvCxnSpPr>
        <p:spPr bwMode="auto">
          <a:xfrm flipH="1">
            <a:off x="8287964" y="2406543"/>
            <a:ext cx="105058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61BC80-A205-D6DD-691A-E999024B2F13}"/>
              </a:ext>
            </a:extLst>
          </p:cNvPr>
          <p:cNvSpPr txBox="1"/>
          <p:nvPr/>
        </p:nvSpPr>
        <p:spPr>
          <a:xfrm flipH="1">
            <a:off x="7976679" y="2241173"/>
            <a:ext cx="311285" cy="330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CD1559-C0B6-9EF4-33CA-9EA9A3AA21B8}"/>
              </a:ext>
            </a:extLst>
          </p:cNvPr>
          <p:cNvSpPr txBox="1"/>
          <p:nvPr/>
        </p:nvSpPr>
        <p:spPr>
          <a:xfrm flipH="1">
            <a:off x="9062140" y="2797307"/>
            <a:ext cx="1656948" cy="330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Synthetic Agent </a:t>
            </a:r>
          </a:p>
        </p:txBody>
      </p:sp>
      <p:pic>
        <p:nvPicPr>
          <p:cNvPr id="15" name="Graphic 14" descr="Artificial Intelligence with solid fill">
            <a:extLst>
              <a:ext uri="{FF2B5EF4-FFF2-40B4-BE49-F238E27FC236}">
                <a16:creationId xmlns:a16="http://schemas.microsoft.com/office/drawing/2014/main" id="{2F159618-3F4B-E780-791A-2A9ECACF0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054965" y="4131073"/>
            <a:ext cx="1104126" cy="1104126"/>
          </a:xfrm>
          <a:prstGeom prst="rect">
            <a:avLst/>
          </a:prstGeom>
        </p:spPr>
      </p:pic>
      <p:pic>
        <p:nvPicPr>
          <p:cNvPr id="16" name="Graphic 15" descr="Artificial Intelligence with solid fill">
            <a:extLst>
              <a:ext uri="{FF2B5EF4-FFF2-40B4-BE49-F238E27FC236}">
                <a16:creationId xmlns:a16="http://schemas.microsoft.com/office/drawing/2014/main" id="{86BBFA80-C5BD-DF58-4996-95F472DF9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664000" y="4131073"/>
            <a:ext cx="1104126" cy="1104126"/>
          </a:xfrm>
          <a:prstGeom prst="rect">
            <a:avLst/>
          </a:prstGeom>
        </p:spPr>
      </p:pic>
      <p:pic>
        <p:nvPicPr>
          <p:cNvPr id="17" name="Graphic 16" descr="Artificial Intelligence with solid fill">
            <a:extLst>
              <a:ext uri="{FF2B5EF4-FFF2-40B4-BE49-F238E27FC236}">
                <a16:creationId xmlns:a16="http://schemas.microsoft.com/office/drawing/2014/main" id="{498574B4-774F-8FCE-9315-CC13C98239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9460989" y="4131073"/>
            <a:ext cx="1104126" cy="1104126"/>
          </a:xfrm>
          <a:prstGeom prst="rect">
            <a:avLst/>
          </a:prstGeom>
        </p:spPr>
      </p:pic>
      <p:pic>
        <p:nvPicPr>
          <p:cNvPr id="18" name="Graphic 17" descr="Artificial Intelligence with solid fill">
            <a:extLst>
              <a:ext uri="{FF2B5EF4-FFF2-40B4-BE49-F238E27FC236}">
                <a16:creationId xmlns:a16="http://schemas.microsoft.com/office/drawing/2014/main" id="{83F8AB08-B8E4-DCF2-E9E5-C97E5F6F61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8257977" y="4131073"/>
            <a:ext cx="1104126" cy="1104126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15716A-B281-30F8-5AA5-0DF2B940AEC5}"/>
              </a:ext>
            </a:extLst>
          </p:cNvPr>
          <p:cNvSpPr/>
          <p:nvPr/>
        </p:nvSpPr>
        <p:spPr bwMode="auto">
          <a:xfrm>
            <a:off x="6634716" y="3848986"/>
            <a:ext cx="5266884" cy="2402955"/>
          </a:xfrm>
          <a:prstGeom prst="roundRect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AA271-6C8D-F203-8C08-AB62CE31B9BB}"/>
              </a:ext>
            </a:extLst>
          </p:cNvPr>
          <p:cNvSpPr txBox="1"/>
          <p:nvPr/>
        </p:nvSpPr>
        <p:spPr>
          <a:xfrm>
            <a:off x="7354111" y="5283551"/>
            <a:ext cx="914400" cy="282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400 </a:t>
            </a:r>
            <a:b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</a:b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instances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885C6-8AA2-4C38-9EAD-908798396899}"/>
              </a:ext>
            </a:extLst>
          </p:cNvPr>
          <p:cNvSpPr txBox="1"/>
          <p:nvPr/>
        </p:nvSpPr>
        <p:spPr>
          <a:xfrm>
            <a:off x="8546589" y="5283699"/>
            <a:ext cx="914400" cy="282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300 </a:t>
            </a:r>
            <a:b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</a:b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instances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369C40-33F8-7201-1B7E-F3257650A74D}"/>
              </a:ext>
            </a:extLst>
          </p:cNvPr>
          <p:cNvSpPr txBox="1"/>
          <p:nvPr/>
        </p:nvSpPr>
        <p:spPr>
          <a:xfrm>
            <a:off x="9677183" y="5351039"/>
            <a:ext cx="914400" cy="282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200 </a:t>
            </a:r>
            <a:b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</a:b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instances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55D3FD-C7DC-FFFB-7572-A568C12E9F90}"/>
              </a:ext>
            </a:extLst>
          </p:cNvPr>
          <p:cNvSpPr txBox="1"/>
          <p:nvPr/>
        </p:nvSpPr>
        <p:spPr>
          <a:xfrm>
            <a:off x="10786512" y="5375849"/>
            <a:ext cx="914400" cy="282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100 </a:t>
            </a:r>
            <a:b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</a:b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instances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4C68C0-3536-7127-E24C-EC78539A031A}"/>
              </a:ext>
            </a:extLst>
          </p:cNvPr>
          <p:cNvSpPr txBox="1"/>
          <p:nvPr/>
        </p:nvSpPr>
        <p:spPr>
          <a:xfrm flipH="1">
            <a:off x="8696646" y="6264278"/>
            <a:ext cx="1656948" cy="330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Synthetic Society </a:t>
            </a:r>
          </a:p>
        </p:txBody>
      </p:sp>
    </p:spTree>
    <p:extLst>
      <p:ext uri="{BB962C8B-B14F-4D97-AF65-F5344CB8AC3E}">
        <p14:creationId xmlns:p14="http://schemas.microsoft.com/office/powerpoint/2010/main" val="332100007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7037-BABF-EBFC-544B-7A0581CA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Community Creation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1DB97-6683-7D40-6A20-6B379723A6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Creating a synthetic community requires generation of synthetic data </a:t>
            </a:r>
          </a:p>
          <a:p>
            <a:endParaRPr lang="en-US" dirty="0"/>
          </a:p>
          <a:p>
            <a:pPr lvl="1"/>
            <a:r>
              <a:rPr lang="en-US" dirty="0"/>
              <a:t>A set of simulated people with their attributes</a:t>
            </a:r>
          </a:p>
          <a:p>
            <a:pPr lvl="2"/>
            <a:r>
              <a:rPr lang="en-US" dirty="0"/>
              <a:t>Attributes need to be synthetic </a:t>
            </a:r>
          </a:p>
          <a:p>
            <a:pPr lvl="1"/>
            <a:r>
              <a:rPr lang="en-US" dirty="0"/>
              <a:t>A mechanism for simulated people to respond</a:t>
            </a:r>
          </a:p>
          <a:p>
            <a:pPr lvl="2"/>
            <a:r>
              <a:rPr lang="en-US" dirty="0"/>
              <a:t>Can use a LLM for this purpose </a:t>
            </a:r>
          </a:p>
          <a:p>
            <a:pPr lvl="1"/>
            <a:endParaRPr lang="en-US" dirty="0"/>
          </a:p>
          <a:p>
            <a:r>
              <a:rPr lang="en-US" dirty="0"/>
              <a:t>How can we generate the synthetic data to create a realistic society </a:t>
            </a:r>
          </a:p>
          <a:p>
            <a:endParaRPr lang="en-US" dirty="0"/>
          </a:p>
          <a:p>
            <a:r>
              <a:rPr lang="en-US" dirty="0"/>
              <a:t>There may be some constraints on the synthetic societies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B2C15-7433-5F6A-DF42-E8416ED24E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Typical Constraints on Synthetic Societies</a:t>
            </a:r>
          </a:p>
          <a:p>
            <a:pPr lvl="1"/>
            <a:r>
              <a:rPr lang="en-US" dirty="0"/>
              <a:t>Mean values of some attribute, </a:t>
            </a:r>
          </a:p>
          <a:p>
            <a:pPr lvl="2"/>
            <a:r>
              <a:rPr lang="en-US" dirty="0"/>
              <a:t>e.g. average age of the community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Relationship among agent attributes</a:t>
            </a:r>
          </a:p>
          <a:p>
            <a:pPr lvl="2"/>
            <a:r>
              <a:rPr lang="en-US" dirty="0"/>
              <a:t>The number of years of education of an individual must be less than the age minus 5.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Relative behavior of agents </a:t>
            </a:r>
          </a:p>
          <a:p>
            <a:pPr lvl="2"/>
            <a:r>
              <a:rPr lang="en-US" dirty="0"/>
              <a:t>People who are in higher income bracket tend to favor less progressive tax policies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8C4A7-812C-D25A-748B-39B887F27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3D680-202D-E611-D7E3-3AB73D7F450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0213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B327-EDC5-3C9F-FFE7-5BC21C6A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synthetic agent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98B68-4F21-929C-7E19-6EECAF3C0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9" y="1524000"/>
            <a:ext cx="11478310" cy="4884000"/>
          </a:xfrm>
        </p:spPr>
        <p:txBody>
          <a:bodyPr/>
          <a:lstStyle/>
          <a:p>
            <a:r>
              <a:rPr lang="en-US" dirty="0"/>
              <a:t>Requires creation of an AI model that can translate from X to Y </a:t>
            </a:r>
          </a:p>
          <a:p>
            <a:endParaRPr lang="en-US" dirty="0"/>
          </a:p>
          <a:p>
            <a:r>
              <a:rPr lang="en-US" dirty="0"/>
              <a:t>Approaches</a:t>
            </a:r>
          </a:p>
          <a:p>
            <a:endParaRPr lang="en-US" dirty="0"/>
          </a:p>
          <a:p>
            <a:pPr lvl="1"/>
            <a:r>
              <a:rPr lang="en-US" dirty="0"/>
              <a:t>When X and Y are numeric </a:t>
            </a:r>
          </a:p>
          <a:p>
            <a:pPr lvl="2"/>
            <a:r>
              <a:rPr lang="en-US" dirty="0"/>
              <a:t>If there is sufficient samples of X and Y, then one can </a:t>
            </a:r>
          </a:p>
          <a:p>
            <a:pPr lvl="2"/>
            <a:r>
              <a:rPr lang="en-US" dirty="0"/>
              <a:t>Train a standard AI model to generate Y from X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When X and Y are free flowing text </a:t>
            </a:r>
          </a:p>
          <a:p>
            <a:pPr lvl="2"/>
            <a:r>
              <a:rPr lang="en-US" dirty="0"/>
              <a:t>Fine-tune a LLM to generate Y from X </a:t>
            </a:r>
          </a:p>
          <a:p>
            <a:pPr lvl="3"/>
            <a:r>
              <a:rPr lang="en-US" dirty="0"/>
              <a:t>Generally needs a larger sample </a:t>
            </a:r>
          </a:p>
          <a:p>
            <a:pPr lvl="2"/>
            <a:r>
              <a:rPr lang="en-US" dirty="0"/>
              <a:t>Select proximity based samples to create a prompt (In Context Learning) </a:t>
            </a:r>
          </a:p>
          <a:p>
            <a:pPr lvl="3"/>
            <a:r>
              <a:rPr lang="en-US" dirty="0"/>
              <a:t>Suitable with smaller samples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C00DA-4208-769F-D41C-769C9D744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443A4-1B45-BC6B-EC3F-FB9664FD805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5771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1C56-6BF8-81B3-944B-A16F13C3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0FF18-5E7D-3623-517C-5ECCE5366F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888" y="1524000"/>
            <a:ext cx="11478311" cy="4576762"/>
          </a:xfrm>
        </p:spPr>
        <p:txBody>
          <a:bodyPr/>
          <a:lstStyle/>
          <a:p>
            <a:r>
              <a:rPr lang="en-US" dirty="0"/>
              <a:t>Working on developing the software for synthetic agents and synthetic society </a:t>
            </a:r>
          </a:p>
          <a:p>
            <a:endParaRPr lang="en-US" dirty="0"/>
          </a:p>
          <a:p>
            <a:r>
              <a:rPr lang="en-US" dirty="0"/>
              <a:t>Cooperating with Marist Polls team as part of IBM Marist Collaboration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325F7-184F-DCEF-5DC6-FFA17832E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51865-C2C9-F759-A01B-D6580A5B3F0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Research © 2025 IBM Corp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6547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4555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Presentation2" id="{414D8A8B-9A2A-CA4D-B9CD-B827CAA27AFA}" vid="{5A537F43-D38C-FC49-A12E-E578717604EF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507</TotalTime>
  <Words>806</Words>
  <Application>Microsoft Macintosh PowerPoint</Application>
  <PresentationFormat>Custom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IBM Plex Sans</vt:lpstr>
      <vt:lpstr>IBM Plex Sans ExtLt</vt:lpstr>
      <vt:lpstr>IBM Plex Sans Light</vt:lpstr>
      <vt:lpstr>IBM presentation template</vt:lpstr>
      <vt:lpstr> Generative AI for enhancing societal polls   Dinesh C. Verma</vt:lpstr>
      <vt:lpstr>Problem Statement </vt:lpstr>
      <vt:lpstr>Problem Illustration </vt:lpstr>
      <vt:lpstr>Our Approach</vt:lpstr>
      <vt:lpstr>What are Synthetic Communities</vt:lpstr>
      <vt:lpstr>Model of Synthetic Society/Synthetic Agents </vt:lpstr>
      <vt:lpstr>Synthetic Community Creation </vt:lpstr>
      <vt:lpstr>Creating a synthetic agent </vt:lpstr>
      <vt:lpstr>Current Status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 Verma</dc:creator>
  <cp:keywords/>
  <dc:description/>
  <cp:lastModifiedBy>Dinesh Verma</cp:lastModifiedBy>
  <cp:revision>8</cp:revision>
  <cp:lastPrinted>2019-04-25T15:14:05Z</cp:lastPrinted>
  <dcterms:created xsi:type="dcterms:W3CDTF">2025-10-08T14:12:39Z</dcterms:created>
  <dcterms:modified xsi:type="dcterms:W3CDTF">2025-11-06T15:37:03Z</dcterms:modified>
  <cp:category/>
</cp:coreProperties>
</file>